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D768E"/>
        </a:solidFill>
        <a:effectLst/>
      </p:bgPr>
    </p:bg>
    <p:spTree>
      <p:nvGrpSpPr>
        <p:cNvPr id="1" name=""/>
        <p:cNvGrpSpPr/>
        <p:nvPr/>
      </p:nvGrpSpPr>
      <p:grpSpPr/>
      <p:sp>
        <p:nvSpPr>
          <p:cNvPr id="2" name="Oval 1"/>
          <p:cNvSpPr/>
          <p:nvPr/>
        </p:nvSpPr>
        <p:spPr>
          <a:xfrm>
            <a:off x="-2194560" y="3108960"/>
            <a:ext cx="6766560" cy="6766560"/>
          </a:xfrm>
          <a:prstGeom prst="ellipse">
            <a:avLst/>
          </a:prstGeom>
          <a:solidFill>
            <a:srgbClr val="538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tar.png"/>
          <p:cNvPicPr>
            <a:picLocks noChangeAspect="1"/>
          </p:cNvPicPr>
          <p:nvPr/>
        </p:nvPicPr>
        <p:blipFill>
          <a:blip r:embed="rId2"/>
          <a:stretch>
            <a:fillRect/>
          </a:stretch>
        </p:blipFill>
        <p:spPr>
          <a:xfrm>
            <a:off x="548640" y="914400"/>
            <a:ext cx="868680" cy="868680"/>
          </a:xfrm>
          <a:prstGeom prst="rect">
            <a:avLst/>
          </a:prstGeom>
        </p:spPr>
      </p:pic>
      <p:pic>
        <p:nvPicPr>
          <p:cNvPr id="4" name="Picture 3" descr="captain-corgi-avatar.png"/>
          <p:cNvPicPr>
            <a:picLocks noChangeAspect="1"/>
          </p:cNvPicPr>
          <p:nvPr/>
        </p:nvPicPr>
        <p:blipFill>
          <a:blip r:embed="rId3"/>
          <a:stretch>
            <a:fillRect/>
          </a:stretch>
        </p:blipFill>
        <p:spPr>
          <a:xfrm>
            <a:off x="9171432" y="777240"/>
            <a:ext cx="2240280" cy="2240280"/>
          </a:xfrm>
          <a:prstGeom prst="rect">
            <a:avLst/>
          </a:prstGeom>
        </p:spPr>
      </p:pic>
      <p:sp>
        <p:nvSpPr>
          <p:cNvPr id="5" name="TextBox 4"/>
          <p:cNvSpPr txBox="1"/>
          <p:nvPr/>
        </p:nvSpPr>
        <p:spPr>
          <a:xfrm>
            <a:off x="548640" y="2148840"/>
            <a:ext cx="8366760" cy="2286000"/>
          </a:xfrm>
          <a:prstGeom prst="rect">
            <a:avLst/>
          </a:prstGeom>
          <a:noFill/>
        </p:spPr>
        <p:txBody>
          <a:bodyPr wrap="square" lIns="0" rIns="0" tIns="0" bIns="0">
            <a:spAutoFit/>
          </a:bodyPr>
          <a:lstStyle/>
          <a:p>
            <a:pPr>
              <a:lnSpc>
                <a:spcPct val="106000"/>
              </a:lnSpc>
              <a:spcBef>
                <a:spcPts val="0"/>
              </a:spcBef>
              <a:spcAft>
                <a:spcPts val="0"/>
              </a:spcAft>
            </a:pPr>
            <a:r>
              <a:rPr sz="4400" b="1" i="0">
                <a:solidFill>
                  <a:srgbClr val="F6F2EA"/>
                </a:solidFill>
                <a:latin typeface="Bricolage Grotesque"/>
              </a:rPr>
              <a:t>Secure, Optimize, &amp; Ship SQL+AI </a:t>
            </a:r>
            <a:r>
              <a:rPr sz="4400" b="1" i="0">
                <a:solidFill>
                  <a:srgbClr val="FBC00A"/>
                </a:solidFill>
                <a:latin typeface="Bricolage Grotesque"/>
              </a:rPr>
              <a:t>Solutions</a:t>
            </a:r>
          </a:p>
        </p:txBody>
      </p:sp>
      <p:sp>
        <p:nvSpPr>
          <p:cNvPr id="6" name="Rounded Rectangle 5"/>
          <p:cNvSpPr/>
          <p:nvPr/>
        </p:nvSpPr>
        <p:spPr>
          <a:xfrm>
            <a:off x="548640" y="4480560"/>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237744"/>
            <a:ext cx="11091672" cy="658368"/>
          </a:xfrm>
          <a:prstGeom prst="rect">
            <a:avLst/>
          </a:prstGeom>
          <a:noFill/>
        </p:spPr>
        <p:txBody>
          <a:bodyPr wrap="square" lIns="0" rIns="0" tIns="0" bIns="0">
            <a:spAutoFit/>
          </a:bodyPr>
          <a:lstStyle/>
          <a:p>
            <a:pPr>
              <a:spcBef>
                <a:spcPts val="0"/>
              </a:spcBef>
              <a:spcAft>
                <a:spcPts val="0"/>
              </a:spcAft>
            </a:pPr>
            <a:r>
              <a:rPr sz="3600" b="1" i="0">
                <a:solidFill>
                  <a:srgbClr val="1F2A33"/>
                </a:solidFill>
                <a:latin typeface="Bricolage Grotesque"/>
              </a:rPr>
              <a:t>Table of Contents</a:t>
            </a:r>
          </a:p>
        </p:txBody>
      </p:sp>
      <p:sp>
        <p:nvSpPr>
          <p:cNvPr id="3" name="Rounded Rectangle 2"/>
          <p:cNvSpPr/>
          <p:nvPr/>
        </p:nvSpPr>
        <p:spPr>
          <a:xfrm>
            <a:off x="548640" y="932688"/>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737360"/>
            <a:ext cx="11091672" cy="960120"/>
          </a:xfrm>
          <a:prstGeom prst="roundRect">
            <a:avLst>
              <a:gd name="adj" fmla="val 9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737360"/>
            <a:ext cx="10799064" cy="64008"/>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8" y="1906524"/>
            <a:ext cx="621792" cy="621792"/>
          </a:xfrm>
          <a:prstGeom prst="ellipse">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06524"/>
            <a:ext cx="621792" cy="621792"/>
          </a:xfrm>
          <a:prstGeom prst="rect">
            <a:avLst/>
          </a:prstGeom>
          <a:noFill/>
        </p:spPr>
        <p:txBody>
          <a:bodyPr wrap="square" lIns="0" rIns="0" tIns="0" bIns="0" anchor="ctr">
            <a:spAutoFit/>
          </a:bodyPr>
          <a:lstStyle/>
          <a:p>
            <a:pPr algn="ctr">
              <a:spcBef>
                <a:spcPts val="0"/>
              </a:spcBef>
              <a:spcAft>
                <a:spcPts val="0"/>
              </a:spcAft>
            </a:pPr>
            <a:r>
              <a:rPr sz="2200" b="1" i="0">
                <a:solidFill>
                  <a:srgbClr val="F6F2EA"/>
                </a:solidFill>
                <a:latin typeface="Bricolage Grotesque"/>
              </a:rPr>
              <a:t>1</a:t>
            </a:r>
          </a:p>
        </p:txBody>
      </p:sp>
      <p:sp>
        <p:nvSpPr>
          <p:cNvPr id="8" name="TextBox 7"/>
          <p:cNvSpPr txBox="1"/>
          <p:nvPr/>
        </p:nvSpPr>
        <p:spPr>
          <a:xfrm>
            <a:off x="1783080" y="1737360"/>
            <a:ext cx="9601200" cy="960120"/>
          </a:xfrm>
          <a:prstGeom prst="rect">
            <a:avLst/>
          </a:prstGeom>
          <a:noFill/>
        </p:spPr>
        <p:txBody>
          <a:bodyPr wrap="square" lIns="0" rIns="0" tIns="0" bIns="0" anchor="ctr">
            <a:spAutoFit/>
          </a:bodyPr>
          <a:lstStyle/>
          <a:p>
            <a:pPr>
              <a:spcBef>
                <a:spcPts val="0"/>
              </a:spcBef>
              <a:spcAft>
                <a:spcPts val="200"/>
              </a:spcAft>
            </a:pPr>
            <a:r>
              <a:rPr sz="1250" b="1" i="0">
                <a:solidFill>
                  <a:srgbClr val="479EB6"/>
                </a:solidFill>
                <a:latin typeface="Nunito"/>
              </a:rPr>
              <a:t>Module 1</a:t>
            </a:r>
          </a:p>
          <a:p>
            <a:pPr>
              <a:spcBef>
                <a:spcPts val="0"/>
              </a:spcBef>
              <a:spcAft>
                <a:spcPts val="0"/>
              </a:spcAft>
            </a:pPr>
            <a:r>
              <a:rPr sz="1800" b="1" i="0">
                <a:solidFill>
                  <a:srgbClr val="1F2A33"/>
                </a:solidFill>
                <a:latin typeface="Bricolage Grotesque"/>
              </a:rPr>
              <a:t>Implement Data Security &amp; Compliance with SQL</a:t>
            </a:r>
          </a:p>
        </p:txBody>
      </p:sp>
      <p:sp>
        <p:nvSpPr>
          <p:cNvPr id="9" name="Rounded Rectangle 8"/>
          <p:cNvSpPr/>
          <p:nvPr/>
        </p:nvSpPr>
        <p:spPr>
          <a:xfrm>
            <a:off x="548640" y="2953512"/>
            <a:ext cx="11091672" cy="960120"/>
          </a:xfrm>
          <a:prstGeom prst="roundRect">
            <a:avLst>
              <a:gd name="adj" fmla="val 9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4944" y="2953512"/>
            <a:ext cx="10799064" cy="64008"/>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41248" y="3122676"/>
            <a:ext cx="621792" cy="621792"/>
          </a:xfrm>
          <a:prstGeom prst="ellipse">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122676"/>
            <a:ext cx="621792" cy="621792"/>
          </a:xfrm>
          <a:prstGeom prst="rect">
            <a:avLst/>
          </a:prstGeom>
          <a:noFill/>
        </p:spPr>
        <p:txBody>
          <a:bodyPr wrap="square" lIns="0" rIns="0" tIns="0" bIns="0" anchor="ctr">
            <a:spAutoFit/>
          </a:bodyPr>
          <a:lstStyle/>
          <a:p>
            <a:pPr algn="ctr">
              <a:spcBef>
                <a:spcPts val="0"/>
              </a:spcBef>
              <a:spcAft>
                <a:spcPts val="0"/>
              </a:spcAft>
            </a:pPr>
            <a:r>
              <a:rPr sz="2200" b="1" i="0">
                <a:solidFill>
                  <a:srgbClr val="F6F2EA"/>
                </a:solidFill>
                <a:latin typeface="Bricolage Grotesque"/>
              </a:rPr>
              <a:t>2</a:t>
            </a:r>
          </a:p>
        </p:txBody>
      </p:sp>
      <p:sp>
        <p:nvSpPr>
          <p:cNvPr id="13" name="TextBox 12"/>
          <p:cNvSpPr txBox="1"/>
          <p:nvPr/>
        </p:nvSpPr>
        <p:spPr>
          <a:xfrm>
            <a:off x="1783080" y="2953512"/>
            <a:ext cx="9601200" cy="960120"/>
          </a:xfrm>
          <a:prstGeom prst="rect">
            <a:avLst/>
          </a:prstGeom>
          <a:noFill/>
        </p:spPr>
        <p:txBody>
          <a:bodyPr wrap="square" lIns="0" rIns="0" tIns="0" bIns="0" anchor="ctr">
            <a:spAutoFit/>
          </a:bodyPr>
          <a:lstStyle/>
          <a:p>
            <a:pPr>
              <a:spcBef>
                <a:spcPts val="0"/>
              </a:spcBef>
              <a:spcAft>
                <a:spcPts val="200"/>
              </a:spcAft>
            </a:pPr>
            <a:r>
              <a:rPr sz="1250" b="1" i="0">
                <a:solidFill>
                  <a:srgbClr val="359773"/>
                </a:solidFill>
                <a:latin typeface="Nunito"/>
              </a:rPr>
              <a:t>Module 2</a:t>
            </a:r>
          </a:p>
          <a:p>
            <a:pPr>
              <a:spcBef>
                <a:spcPts val="0"/>
              </a:spcBef>
              <a:spcAft>
                <a:spcPts val="0"/>
              </a:spcAft>
            </a:pPr>
            <a:r>
              <a:rPr sz="1800" b="1" i="0">
                <a:solidFill>
                  <a:srgbClr val="1F2A33"/>
                </a:solidFill>
                <a:latin typeface="Bricolage Grotesque"/>
              </a:rPr>
              <a:t>Optmize Database Performance</a:t>
            </a:r>
          </a:p>
        </p:txBody>
      </p:sp>
      <p:sp>
        <p:nvSpPr>
          <p:cNvPr id="14" name="Rounded Rectangle 13"/>
          <p:cNvSpPr/>
          <p:nvPr/>
        </p:nvSpPr>
        <p:spPr>
          <a:xfrm>
            <a:off x="548640" y="4169664"/>
            <a:ext cx="11091672" cy="960120"/>
          </a:xfrm>
          <a:prstGeom prst="roundRect">
            <a:avLst>
              <a:gd name="adj" fmla="val 9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944" y="4169664"/>
            <a:ext cx="10799064" cy="64008"/>
          </a:xfrm>
          <a:prstGeom prst="roundRect">
            <a:avLst>
              <a:gd name="adj" fmla="val 50000"/>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1248" y="4338828"/>
            <a:ext cx="621792" cy="621792"/>
          </a:xfrm>
          <a:prstGeom prst="ellipse">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4338828"/>
            <a:ext cx="621792" cy="621792"/>
          </a:xfrm>
          <a:prstGeom prst="rect">
            <a:avLst/>
          </a:prstGeom>
          <a:noFill/>
        </p:spPr>
        <p:txBody>
          <a:bodyPr wrap="square" lIns="0" rIns="0" tIns="0" bIns="0" anchor="ctr">
            <a:spAutoFit/>
          </a:bodyPr>
          <a:lstStyle/>
          <a:p>
            <a:pPr algn="ctr">
              <a:spcBef>
                <a:spcPts val="0"/>
              </a:spcBef>
              <a:spcAft>
                <a:spcPts val="0"/>
              </a:spcAft>
            </a:pPr>
            <a:r>
              <a:rPr sz="2200" b="1" i="0">
                <a:solidFill>
                  <a:srgbClr val="F6F2EA"/>
                </a:solidFill>
                <a:latin typeface="Bricolage Grotesque"/>
              </a:rPr>
              <a:t>3</a:t>
            </a:r>
          </a:p>
        </p:txBody>
      </p:sp>
      <p:sp>
        <p:nvSpPr>
          <p:cNvPr id="18" name="TextBox 17"/>
          <p:cNvSpPr txBox="1"/>
          <p:nvPr/>
        </p:nvSpPr>
        <p:spPr>
          <a:xfrm>
            <a:off x="1783080" y="4169664"/>
            <a:ext cx="9601200" cy="960120"/>
          </a:xfrm>
          <a:prstGeom prst="rect">
            <a:avLst/>
          </a:prstGeom>
          <a:noFill/>
        </p:spPr>
        <p:txBody>
          <a:bodyPr wrap="square" lIns="0" rIns="0" tIns="0" bIns="0" anchor="ctr">
            <a:spAutoFit/>
          </a:bodyPr>
          <a:lstStyle/>
          <a:p>
            <a:pPr>
              <a:spcBef>
                <a:spcPts val="0"/>
              </a:spcBef>
              <a:spcAft>
                <a:spcPts val="200"/>
              </a:spcAft>
            </a:pPr>
            <a:r>
              <a:rPr sz="1250" b="1" i="0">
                <a:solidFill>
                  <a:srgbClr val="C88FA1"/>
                </a:solidFill>
                <a:latin typeface="Nunito"/>
              </a:rPr>
              <a:t>Module 3</a:t>
            </a:r>
          </a:p>
          <a:p>
            <a:pPr>
              <a:spcBef>
                <a:spcPts val="0"/>
              </a:spcBef>
              <a:spcAft>
                <a:spcPts val="0"/>
              </a:spcAft>
            </a:pPr>
            <a:r>
              <a:rPr sz="1800" b="1" i="0">
                <a:solidFill>
                  <a:srgbClr val="1F2A33"/>
                </a:solidFill>
                <a:latin typeface="Bricolage Grotesque"/>
              </a:rPr>
              <a:t>implement CI/CD with SQL Database Projects</a:t>
            </a:r>
          </a:p>
        </p:txBody>
      </p:sp>
      <p:sp>
        <p:nvSpPr>
          <p:cNvPr id="19" name="Rounded Rectangle 18"/>
          <p:cNvSpPr/>
          <p:nvPr/>
        </p:nvSpPr>
        <p:spPr>
          <a:xfrm>
            <a:off x="548640" y="5385816"/>
            <a:ext cx="11091672" cy="960120"/>
          </a:xfrm>
          <a:prstGeom prst="roundRect">
            <a:avLst>
              <a:gd name="adj" fmla="val 9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4944" y="5385816"/>
            <a:ext cx="10799064" cy="64008"/>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1248" y="5554980"/>
            <a:ext cx="621792" cy="621792"/>
          </a:xfrm>
          <a:prstGeom prst="ellipse">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5554980"/>
            <a:ext cx="621792" cy="621792"/>
          </a:xfrm>
          <a:prstGeom prst="rect">
            <a:avLst/>
          </a:prstGeom>
          <a:noFill/>
        </p:spPr>
        <p:txBody>
          <a:bodyPr wrap="square" lIns="0" rIns="0" tIns="0" bIns="0" anchor="ctr">
            <a:spAutoFit/>
          </a:bodyPr>
          <a:lstStyle/>
          <a:p>
            <a:pPr algn="ctr">
              <a:spcBef>
                <a:spcPts val="0"/>
              </a:spcBef>
              <a:spcAft>
                <a:spcPts val="0"/>
              </a:spcAft>
            </a:pPr>
            <a:r>
              <a:rPr sz="2200" b="1" i="0">
                <a:solidFill>
                  <a:srgbClr val="F6F2EA"/>
                </a:solidFill>
                <a:latin typeface="Bricolage Grotesque"/>
              </a:rPr>
              <a:t>4</a:t>
            </a:r>
          </a:p>
        </p:txBody>
      </p:sp>
      <p:sp>
        <p:nvSpPr>
          <p:cNvPr id="23" name="TextBox 22"/>
          <p:cNvSpPr txBox="1"/>
          <p:nvPr/>
        </p:nvSpPr>
        <p:spPr>
          <a:xfrm>
            <a:off x="1783080" y="5385816"/>
            <a:ext cx="9601200" cy="960120"/>
          </a:xfrm>
          <a:prstGeom prst="rect">
            <a:avLst/>
          </a:prstGeom>
          <a:noFill/>
        </p:spPr>
        <p:txBody>
          <a:bodyPr wrap="square" lIns="0" rIns="0" tIns="0" bIns="0" anchor="ctr">
            <a:spAutoFit/>
          </a:bodyPr>
          <a:lstStyle/>
          <a:p>
            <a:pPr>
              <a:spcBef>
                <a:spcPts val="0"/>
              </a:spcBef>
              <a:spcAft>
                <a:spcPts val="200"/>
              </a:spcAft>
            </a:pPr>
            <a:r>
              <a:rPr sz="1250" b="1" i="0">
                <a:solidFill>
                  <a:srgbClr val="D0760D"/>
                </a:solidFill>
                <a:latin typeface="Nunito"/>
              </a:rPr>
              <a:t>Module 4</a:t>
            </a:r>
          </a:p>
          <a:p>
            <a:pPr>
              <a:spcBef>
                <a:spcPts val="0"/>
              </a:spcBef>
              <a:spcAft>
                <a:spcPts val="0"/>
              </a:spcAft>
            </a:pPr>
            <a:r>
              <a:rPr sz="1800" b="1" i="0">
                <a:solidFill>
                  <a:srgbClr val="1F2A33"/>
                </a:solidFill>
                <a:latin typeface="Bricolage Grotesque"/>
              </a:rPr>
              <a:t>Integrate SQL Solutions with Azure Services</a:t>
            </a:r>
          </a:p>
        </p:txBody>
      </p:sp>
      <p:sp>
        <p:nvSpPr>
          <p:cNvPr id="24" name="TextBox 23"/>
          <p:cNvSpPr txBox="1"/>
          <p:nvPr/>
        </p:nvSpPr>
        <p:spPr>
          <a:xfrm>
            <a:off x="502920" y="6519672"/>
            <a:ext cx="70104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SOLUTIONS</a:t>
            </a:r>
          </a:p>
        </p:txBody>
      </p:sp>
      <p:sp>
        <p:nvSpPr>
          <p:cNvPr id="25" name="TextBox 24"/>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1D24"/>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1C2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1A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tretch>
            <a:fillRect/>
          </a:stretch>
        </p:blipFill>
        <p:spPr>
          <a:xfrm>
            <a:off x="777240" y="1965960"/>
            <a:ext cx="1691640" cy="1691640"/>
          </a:xfrm>
          <a:prstGeom prst="rect">
            <a:avLst/>
          </a:prstGeom>
        </p:spPr>
      </p:pic>
      <p:sp>
        <p:nvSpPr>
          <p:cNvPr id="5" name="TextBox 4"/>
          <p:cNvSpPr txBox="1"/>
          <p:nvPr/>
        </p:nvSpPr>
        <p:spPr>
          <a:xfrm>
            <a:off x="2880360" y="1481328"/>
            <a:ext cx="8503920" cy="457200"/>
          </a:xfrm>
          <a:prstGeom prst="rect">
            <a:avLst/>
          </a:prstGeom>
          <a:noFill/>
        </p:spPr>
        <p:txBody>
          <a:bodyPr wrap="square" lIns="0" rIns="0" tIns="0" bIns="0">
            <a:spAutoFit/>
          </a:bodyPr>
          <a:lstStyle/>
          <a:p>
            <a:pPr>
              <a:spcBef>
                <a:spcPts val="0"/>
              </a:spcBef>
              <a:spcAft>
                <a:spcPts val="0"/>
              </a:spcAft>
            </a:pPr>
            <a:r>
              <a:rPr sz="1800" b="1" i="0">
                <a:solidFill>
                  <a:srgbClr val="51BBD7"/>
                </a:solidFill>
                <a:latin typeface="Bricolage Grotesque"/>
              </a:rPr>
              <a:t>Module 1</a:t>
            </a:r>
          </a:p>
        </p:txBody>
      </p:sp>
      <p:sp>
        <p:nvSpPr>
          <p:cNvPr id="6" name="TextBox 5"/>
          <p:cNvSpPr txBox="1"/>
          <p:nvPr/>
        </p:nvSpPr>
        <p:spPr>
          <a:xfrm>
            <a:off x="2880360" y="1956816"/>
            <a:ext cx="8778240" cy="1920240"/>
          </a:xfrm>
          <a:prstGeom prst="rect">
            <a:avLst/>
          </a:prstGeom>
          <a:noFill/>
        </p:spPr>
        <p:txBody>
          <a:bodyPr wrap="square" lIns="0" rIns="0" tIns="0" bIns="0">
            <a:spAutoFit/>
          </a:bodyPr>
          <a:lstStyle/>
          <a:p>
            <a:pPr>
              <a:lnSpc>
                <a:spcPct val="102000"/>
              </a:lnSpc>
              <a:spcBef>
                <a:spcPts val="0"/>
              </a:spcBef>
              <a:spcAft>
                <a:spcPts val="0"/>
              </a:spcAft>
            </a:pPr>
            <a:r>
              <a:rPr sz="4400" b="1" i="0">
                <a:solidFill>
                  <a:srgbClr val="F6F2EA"/>
                </a:solidFill>
                <a:latin typeface="Bricolage Grotesque"/>
              </a:rPr>
              <a:t>Implement Data Security</a:t>
            </a:r>
          </a:p>
          <a:p>
            <a:pPr>
              <a:lnSpc>
                <a:spcPct val="102000"/>
              </a:lnSpc>
              <a:spcBef>
                <a:spcPts val="0"/>
              </a:spcBef>
              <a:spcAft>
                <a:spcPts val="0"/>
              </a:spcAft>
            </a:pPr>
            <a:r>
              <a:rPr sz="4400" b="1" i="0">
                <a:solidFill>
                  <a:srgbClr val="F6F2EA"/>
                </a:solidFill>
                <a:latin typeface="Bricolage Grotesque"/>
              </a:rPr>
              <a:t>&amp; Compliance with SQL</a:t>
            </a:r>
          </a:p>
        </p:txBody>
      </p:sp>
      <p:sp>
        <p:nvSpPr>
          <p:cNvPr id="7" name="TextBox 6"/>
          <p:cNvSpPr txBox="1"/>
          <p:nvPr/>
        </p:nvSpPr>
        <p:spPr>
          <a:xfrm>
            <a:off x="2880360" y="3602736"/>
            <a:ext cx="8412480" cy="1188720"/>
          </a:xfrm>
          <a:prstGeom prst="rect">
            <a:avLst/>
          </a:prstGeom>
          <a:noFill/>
        </p:spPr>
        <p:txBody>
          <a:bodyPr wrap="square" lIns="0" rIns="0" tIns="0" bIns="0">
            <a:spAutoFit/>
          </a:bodyPr>
          <a:lstStyle/>
          <a:p>
            <a:pPr>
              <a:lnSpc>
                <a:spcPct val="115000"/>
              </a:lnSpc>
              <a:spcBef>
                <a:spcPts val="0"/>
              </a:spcBef>
              <a:spcAft>
                <a:spcPts val="0"/>
              </a:spcAft>
            </a:pPr>
            <a:r>
              <a:rPr sz="1500" b="0" i="0">
                <a:solidFill>
                  <a:srgbClr val="C5BFB1"/>
                </a:solidFill>
                <a:latin typeface="Nunito"/>
              </a:rPr>
              <a:t>Learn to protect sensitive data and meet compliance requirements by implementing encryption, masking, access controls, and auditing across Microsoft SQL platforms.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1</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4</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Data Encryption Strategies</a:t>
            </a:r>
          </a:p>
        </p:txBody>
      </p:sp>
      <p:sp>
        <p:nvSpPr>
          <p:cNvPr id="5" name="Rounded Rectangle 4"/>
          <p:cNvSpPr/>
          <p:nvPr/>
        </p:nvSpPr>
        <p:spPr>
          <a:xfrm>
            <a:off x="548640" y="841248"/>
            <a:ext cx="658368" cy="7315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Protect data at rest and in use with the right encryption approach for each scenario.</a:t>
            </a:r>
          </a:p>
        </p:txBody>
      </p:sp>
      <p:sp>
        <p:nvSpPr>
          <p:cNvPr id="7" name="Rounded Rectangle 6"/>
          <p:cNvSpPr/>
          <p:nvPr/>
        </p:nvSpPr>
        <p:spPr>
          <a:xfrm>
            <a:off x="548640" y="1417320"/>
            <a:ext cx="5413248" cy="324612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5193792" cy="54864"/>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5010912" cy="292608"/>
          </a:xfrm>
          <a:prstGeom prst="rect">
            <a:avLst/>
          </a:prstGeom>
          <a:noFill/>
        </p:spPr>
        <p:txBody>
          <a:bodyPr wrap="square" lIns="0" rIns="0" tIns="0" bIns="0">
            <a:spAutoFit/>
          </a:bodyPr>
          <a:lstStyle/>
          <a:p>
            <a:pPr>
              <a:spcBef>
                <a:spcPts val="0"/>
              </a:spcBef>
              <a:spcAft>
                <a:spcPts val="0"/>
              </a:spcAft>
            </a:pPr>
            <a:r>
              <a:rPr sz="1600" b="1" i="0">
                <a:solidFill>
                  <a:srgbClr val="1F2A33"/>
                </a:solidFill>
                <a:latin typeface="Bricolage Grotesque"/>
              </a:rPr>
              <a:t>🔒  Always Encrypted</a:t>
            </a:r>
          </a:p>
        </p:txBody>
      </p:sp>
      <p:sp>
        <p:nvSpPr>
          <p:cNvPr id="10" name="TextBox 9"/>
          <p:cNvSpPr txBox="1"/>
          <p:nvPr/>
        </p:nvSpPr>
        <p:spPr>
          <a:xfrm>
            <a:off x="749808" y="1947672"/>
            <a:ext cx="5010912" cy="2578608"/>
          </a:xfrm>
          <a:prstGeom prst="rect">
            <a:avLst/>
          </a:prstGeom>
          <a:noFill/>
        </p:spPr>
        <p:txBody>
          <a:bodyPr wrap="square" lIns="0" rIns="0" tIns="0" bIns="0">
            <a:spAutoFit/>
          </a:bodyPr>
          <a:lstStyle/>
          <a:p>
            <a:pPr marL="164592" indent="-164592">
              <a:lnSpc>
                <a:spcPct val="106000"/>
              </a:lnSpc>
              <a:spcBef>
                <a:spcPts val="0"/>
              </a:spcBef>
              <a:spcAft>
                <a:spcPts val="450"/>
              </a:spcAft>
              <a:buFont typeface="Nunito"/>
              <a:buChar char="•"/>
            </a:pPr>
            <a:r>
              <a:rPr sz="1150" b="0" i="0">
                <a:solidFill>
                  <a:srgbClr val="1F2A33"/>
                </a:solidFill>
                <a:latin typeface="Nunito"/>
              </a:rPr>
              <a:t>Client-side encryption: data never exposed as plaintext on the server</a:t>
            </a:r>
          </a:p>
          <a:p>
            <a:pPr marL="164592" indent="-164592">
              <a:lnSpc>
                <a:spcPct val="106000"/>
              </a:lnSpc>
              <a:spcBef>
                <a:spcPts val="0"/>
              </a:spcBef>
              <a:spcAft>
                <a:spcPts val="450"/>
              </a:spcAft>
              <a:buFont typeface="Nunito"/>
              <a:buChar char="•"/>
            </a:pPr>
            <a:r>
              <a:rPr sz="1150" b="0" i="0">
                <a:solidFill>
                  <a:srgbClr val="1F2A33"/>
                </a:solidFill>
                <a:latin typeface="Nunito"/>
              </a:rPr>
              <a:t>Protects data even from DBAs, sysadmins, and cloud operators</a:t>
            </a:r>
          </a:p>
          <a:p>
            <a:pPr marL="164592" indent="-164592">
              <a:lnSpc>
                <a:spcPct val="106000"/>
              </a:lnSpc>
              <a:spcBef>
                <a:spcPts val="0"/>
              </a:spcBef>
              <a:spcAft>
                <a:spcPts val="450"/>
              </a:spcAft>
              <a:buFont typeface="Nunito"/>
              <a:buChar char="•"/>
            </a:pPr>
            <a:r>
              <a:rPr sz="1150" b="0" i="0">
                <a:solidFill>
                  <a:srgbClr val="1F2A33"/>
                </a:solidFill>
                <a:latin typeface="Nunito"/>
              </a:rPr>
              <a:t>Column Master Key (CMK) + Column Encryption Key (CEK) architecture</a:t>
            </a:r>
          </a:p>
          <a:p>
            <a:pPr marL="164592" indent="-164592">
              <a:lnSpc>
                <a:spcPct val="106000"/>
              </a:lnSpc>
              <a:spcBef>
                <a:spcPts val="0"/>
              </a:spcBef>
              <a:spcAft>
                <a:spcPts val="450"/>
              </a:spcAft>
              <a:buFont typeface="Nunito"/>
              <a:buChar char="•"/>
            </a:pPr>
            <a:r>
              <a:rPr sz="1150" b="0" i="0">
                <a:solidFill>
                  <a:srgbClr val="1F2A33"/>
                </a:solidFill>
                <a:latin typeface="Nunito"/>
              </a:rPr>
              <a:t>Deterministic encryption: supports equality joins and GROUP BY</a:t>
            </a:r>
          </a:p>
          <a:p>
            <a:pPr marL="164592" indent="-164592">
              <a:lnSpc>
                <a:spcPct val="106000"/>
              </a:lnSpc>
              <a:spcBef>
                <a:spcPts val="0"/>
              </a:spcBef>
              <a:spcAft>
                <a:spcPts val="450"/>
              </a:spcAft>
              <a:buFont typeface="Nunito"/>
              <a:buChar char="•"/>
            </a:pPr>
            <a:r>
              <a:rPr sz="1150" b="0" i="0">
                <a:solidFill>
                  <a:srgbClr val="1F2A33"/>
                </a:solidFill>
                <a:latin typeface="Nunito"/>
              </a:rPr>
              <a:t>Randomized encryption: stronger security, no query operations</a:t>
            </a:r>
          </a:p>
          <a:p>
            <a:pPr marL="164592" indent="-164592">
              <a:lnSpc>
                <a:spcPct val="106000"/>
              </a:lnSpc>
              <a:spcBef>
                <a:spcPts val="0"/>
              </a:spcBef>
              <a:spcAft>
                <a:spcPts val="450"/>
              </a:spcAft>
              <a:buFont typeface="Nunito"/>
              <a:buChar char="•"/>
            </a:pPr>
            <a:r>
              <a:rPr sz="1150" b="0" i="0">
                <a:solidFill>
                  <a:srgbClr val="1F2A33"/>
                </a:solidFill>
                <a:latin typeface="Nunito"/>
              </a:rPr>
              <a:t>Secure enclaves: enable range queries and pattern matching on encrypted data</a:t>
            </a:r>
          </a:p>
          <a:p>
            <a:pPr marL="164592" indent="-164592">
              <a:lnSpc>
                <a:spcPct val="106000"/>
              </a:lnSpc>
              <a:spcBef>
                <a:spcPts val="0"/>
              </a:spcBef>
              <a:spcAft>
                <a:spcPts val="450"/>
              </a:spcAft>
              <a:buFont typeface="Nunito"/>
              <a:buChar char="•"/>
            </a:pPr>
            <a:r>
              <a:rPr sz="1150" b="0" i="0">
                <a:solidFill>
                  <a:srgbClr val="1F2A33"/>
                </a:solidFill>
                <a:latin typeface="Nunito"/>
              </a:rPr>
              <a:t>Use cases: SSNs, credit cards, health records, financial data</a:t>
            </a:r>
          </a:p>
        </p:txBody>
      </p:sp>
      <p:sp>
        <p:nvSpPr>
          <p:cNvPr id="11" name="Rounded Rectangle 10"/>
          <p:cNvSpPr/>
          <p:nvPr/>
        </p:nvSpPr>
        <p:spPr>
          <a:xfrm>
            <a:off x="6227064" y="1417320"/>
            <a:ext cx="5413248" cy="324612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36792" y="1417320"/>
            <a:ext cx="5193792" cy="54864"/>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581912"/>
            <a:ext cx="5010912" cy="292608"/>
          </a:xfrm>
          <a:prstGeom prst="rect">
            <a:avLst/>
          </a:prstGeom>
          <a:noFill/>
        </p:spPr>
        <p:txBody>
          <a:bodyPr wrap="square" lIns="0" rIns="0" tIns="0" bIns="0">
            <a:spAutoFit/>
          </a:bodyPr>
          <a:lstStyle/>
          <a:p>
            <a:pPr>
              <a:spcBef>
                <a:spcPts val="0"/>
              </a:spcBef>
              <a:spcAft>
                <a:spcPts val="0"/>
              </a:spcAft>
            </a:pPr>
            <a:r>
              <a:rPr sz="1600" b="1" i="0">
                <a:solidFill>
                  <a:srgbClr val="1F2A33"/>
                </a:solidFill>
                <a:latin typeface="Bricolage Grotesque"/>
              </a:rPr>
              <a:t>🔑  Column-Level Encryption</a:t>
            </a:r>
          </a:p>
        </p:txBody>
      </p:sp>
      <p:sp>
        <p:nvSpPr>
          <p:cNvPr id="14" name="TextBox 13"/>
          <p:cNvSpPr txBox="1"/>
          <p:nvPr/>
        </p:nvSpPr>
        <p:spPr>
          <a:xfrm>
            <a:off x="6428232" y="1947672"/>
            <a:ext cx="5010912" cy="2578608"/>
          </a:xfrm>
          <a:prstGeom prst="rect">
            <a:avLst/>
          </a:prstGeom>
          <a:noFill/>
        </p:spPr>
        <p:txBody>
          <a:bodyPr wrap="square" lIns="0" rIns="0" tIns="0" bIns="0">
            <a:spAutoFit/>
          </a:bodyPr>
          <a:lstStyle/>
          <a:p>
            <a:pPr marL="164592" indent="-164592">
              <a:lnSpc>
                <a:spcPct val="106000"/>
              </a:lnSpc>
              <a:spcBef>
                <a:spcPts val="0"/>
              </a:spcBef>
              <a:spcAft>
                <a:spcPts val="450"/>
              </a:spcAft>
              <a:buFont typeface="Nunito"/>
              <a:buChar char="•"/>
            </a:pPr>
            <a:r>
              <a:rPr sz="1150" b="0" i="0">
                <a:solidFill>
                  <a:srgbClr val="1F2A33"/>
                </a:solidFill>
                <a:latin typeface="Nunito"/>
              </a:rPr>
              <a:t>Server-side encryption using symmetric keys and certificates</a:t>
            </a:r>
          </a:p>
          <a:p>
            <a:pPr marL="164592" indent="-164592">
              <a:lnSpc>
                <a:spcPct val="106000"/>
              </a:lnSpc>
              <a:spcBef>
                <a:spcPts val="0"/>
              </a:spcBef>
              <a:spcAft>
                <a:spcPts val="450"/>
              </a:spcAft>
              <a:buFont typeface="Nunito"/>
              <a:buChar char="•"/>
            </a:pPr>
            <a:r>
              <a:rPr sz="1150" b="0" i="0">
                <a:solidFill>
                  <a:srgbClr val="1F2A33"/>
                </a:solidFill>
                <a:latin typeface="Nunito"/>
              </a:rPr>
              <a:t>Data encrypted/decrypted within the SQL Server engine</a:t>
            </a:r>
          </a:p>
          <a:p>
            <a:pPr marL="164592" indent="-164592">
              <a:lnSpc>
                <a:spcPct val="106000"/>
              </a:lnSpc>
              <a:spcBef>
                <a:spcPts val="0"/>
              </a:spcBef>
              <a:spcAft>
                <a:spcPts val="450"/>
              </a:spcAft>
              <a:buFont typeface="Nunito"/>
              <a:buChar char="•"/>
            </a:pPr>
            <a:r>
              <a:rPr sz="1150" b="0" i="0">
                <a:solidFill>
                  <a:srgbClr val="1F2A33"/>
                </a:solidFill>
                <a:latin typeface="Nunito"/>
              </a:rPr>
              <a:t>Simpler key management than Always Encrypted</a:t>
            </a:r>
          </a:p>
          <a:p>
            <a:pPr marL="164592" indent="-164592">
              <a:lnSpc>
                <a:spcPct val="106000"/>
              </a:lnSpc>
              <a:spcBef>
                <a:spcPts val="0"/>
              </a:spcBef>
              <a:spcAft>
                <a:spcPts val="450"/>
              </a:spcAft>
              <a:buFont typeface="Nunito"/>
              <a:buChar char="•"/>
            </a:pPr>
            <a:r>
              <a:rPr sz="1150" b="0" i="0">
                <a:solidFill>
                  <a:srgbClr val="1F2A33"/>
                </a:solidFill>
                <a:latin typeface="Nunito"/>
              </a:rPr>
              <a:t>Different trust boundary: server can see plaintext during processing</a:t>
            </a:r>
          </a:p>
          <a:p>
            <a:pPr marL="164592" indent="-164592">
              <a:lnSpc>
                <a:spcPct val="106000"/>
              </a:lnSpc>
              <a:spcBef>
                <a:spcPts val="0"/>
              </a:spcBef>
              <a:spcAft>
                <a:spcPts val="450"/>
              </a:spcAft>
              <a:buFont typeface="Nunito"/>
              <a:buChar char="•"/>
            </a:pPr>
            <a:r>
              <a:rPr sz="1150" b="0" i="0">
                <a:solidFill>
                  <a:srgbClr val="1F2A33"/>
                </a:solidFill>
                <a:latin typeface="Nunito"/>
              </a:rPr>
              <a:t>EncryptByKey() / DecryptByKey() T-SQL functions</a:t>
            </a:r>
          </a:p>
          <a:p>
            <a:pPr marL="164592" indent="-164592">
              <a:lnSpc>
                <a:spcPct val="106000"/>
              </a:lnSpc>
              <a:spcBef>
                <a:spcPts val="0"/>
              </a:spcBef>
              <a:spcAft>
                <a:spcPts val="450"/>
              </a:spcAft>
              <a:buFont typeface="Nunito"/>
              <a:buChar char="•"/>
            </a:pPr>
            <a:r>
              <a:rPr sz="1150" b="0" i="0">
                <a:solidFill>
                  <a:srgbClr val="1F2A33"/>
                </a:solidFill>
                <a:latin typeface="Nunito"/>
              </a:rPr>
              <a:t>Certificate hierarchy: Service Master Key &gt; DB Master Key &gt; Certificate &gt; Symmetric Key</a:t>
            </a:r>
          </a:p>
          <a:p>
            <a:pPr marL="164592" indent="-164592">
              <a:lnSpc>
                <a:spcPct val="106000"/>
              </a:lnSpc>
              <a:spcBef>
                <a:spcPts val="0"/>
              </a:spcBef>
              <a:spcAft>
                <a:spcPts val="450"/>
              </a:spcAft>
              <a:buFont typeface="Nunito"/>
              <a:buChar char="•"/>
            </a:pPr>
            <a:r>
              <a:rPr sz="1150" b="0" i="0">
                <a:solidFill>
                  <a:srgbClr val="1F2A33"/>
                </a:solidFill>
                <a:latin typeface="Nunito"/>
              </a:rPr>
              <a:t>Best for: data at rest protection when server trust is acceptable</a:t>
            </a:r>
          </a:p>
        </p:txBody>
      </p:sp>
      <p:sp>
        <p:nvSpPr>
          <p:cNvPr id="15" name="Rounded Rectangle 14"/>
          <p:cNvSpPr/>
          <p:nvPr/>
        </p:nvSpPr>
        <p:spPr>
          <a:xfrm>
            <a:off x="548640" y="4892040"/>
            <a:ext cx="11091672" cy="1417320"/>
          </a:xfrm>
          <a:prstGeom prst="roundRect">
            <a:avLst>
              <a:gd name="adj" fmla="val 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5148072"/>
            <a:ext cx="1965960" cy="914400"/>
          </a:xfrm>
          <a:prstGeom prst="roundRect">
            <a:avLst>
              <a:gd name="adj" fmla="val 12000"/>
            </a:avLst>
          </a:prstGeom>
          <a:solidFill>
            <a:srgbClr val="F6F2EA"/>
          </a:solidFill>
          <a:ln w="19050">
            <a:solidFill>
              <a:srgbClr val="51BB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148072"/>
            <a:ext cx="1819656" cy="914400"/>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1F2A33"/>
                </a:solidFill>
                <a:latin typeface="Nunito"/>
              </a:rPr>
              <a:t>Database client</a:t>
            </a:r>
          </a:p>
          <a:p>
            <a:pPr algn="ctr">
              <a:lnSpc>
                <a:spcPct val="100000"/>
              </a:lnSpc>
              <a:spcBef>
                <a:spcPts val="0"/>
              </a:spcBef>
              <a:spcAft>
                <a:spcPts val="0"/>
              </a:spcAft>
            </a:pPr>
            <a:r>
              <a:rPr sz="1050" b="0" i="0">
                <a:solidFill>
                  <a:srgbClr val="1F2A33"/>
                </a:solidFill>
                <a:latin typeface="Nunito"/>
              </a:rPr>
              <a:t>(Plaintext)</a:t>
            </a:r>
          </a:p>
        </p:txBody>
      </p:sp>
      <p:sp>
        <p:nvSpPr>
          <p:cNvPr id="18" name="TextBox 17"/>
          <p:cNvSpPr txBox="1"/>
          <p:nvPr/>
        </p:nvSpPr>
        <p:spPr>
          <a:xfrm>
            <a:off x="2697480" y="5449824"/>
            <a:ext cx="224028" cy="365760"/>
          </a:xfrm>
          <a:prstGeom prst="rect">
            <a:avLst/>
          </a:prstGeom>
          <a:noFill/>
        </p:spPr>
        <p:txBody>
          <a:bodyPr wrap="square" lIns="0" rIns="0" tIns="0" bIns="0" anchor="ctr">
            <a:spAutoFit/>
          </a:bodyPr>
          <a:lstStyle/>
          <a:p>
            <a:pPr algn="ctr">
              <a:spcBef>
                <a:spcPts val="0"/>
              </a:spcBef>
              <a:spcAft>
                <a:spcPts val="0"/>
              </a:spcAft>
            </a:pPr>
            <a:r>
              <a:rPr sz="1800" b="1" i="0">
                <a:solidFill>
                  <a:srgbClr val="5A6B76"/>
                </a:solidFill>
                <a:latin typeface="Nunito"/>
              </a:rPr>
              <a:t>→</a:t>
            </a:r>
          </a:p>
        </p:txBody>
      </p:sp>
      <p:sp>
        <p:nvSpPr>
          <p:cNvPr id="19" name="Rounded Rectangle 18"/>
          <p:cNvSpPr/>
          <p:nvPr/>
        </p:nvSpPr>
        <p:spPr>
          <a:xfrm>
            <a:off x="2921508" y="5148072"/>
            <a:ext cx="1965960" cy="914400"/>
          </a:xfrm>
          <a:prstGeom prst="roundRect">
            <a:avLst>
              <a:gd name="adj" fmla="val 12000"/>
            </a:avLst>
          </a:prstGeom>
          <a:solidFill>
            <a:srgbClr val="F6F2EA"/>
          </a:solidFill>
          <a:ln w="19050">
            <a:solidFill>
              <a:srgbClr val="3D76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94660" y="5148072"/>
            <a:ext cx="1819656" cy="914400"/>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1F2A33"/>
                </a:solidFill>
                <a:latin typeface="Nunito"/>
              </a:rPr>
              <a:t>SQL client driver</a:t>
            </a:r>
          </a:p>
        </p:txBody>
      </p:sp>
      <p:sp>
        <p:nvSpPr>
          <p:cNvPr id="21" name="TextBox 20"/>
          <p:cNvSpPr txBox="1"/>
          <p:nvPr/>
        </p:nvSpPr>
        <p:spPr>
          <a:xfrm>
            <a:off x="4887468" y="5449824"/>
            <a:ext cx="224028" cy="365760"/>
          </a:xfrm>
          <a:prstGeom prst="rect">
            <a:avLst/>
          </a:prstGeom>
          <a:noFill/>
        </p:spPr>
        <p:txBody>
          <a:bodyPr wrap="square" lIns="0" rIns="0" tIns="0" bIns="0" anchor="ctr">
            <a:spAutoFit/>
          </a:bodyPr>
          <a:lstStyle/>
          <a:p>
            <a:pPr algn="ctr">
              <a:spcBef>
                <a:spcPts val="0"/>
              </a:spcBef>
              <a:spcAft>
                <a:spcPts val="0"/>
              </a:spcAft>
            </a:pPr>
            <a:r>
              <a:rPr sz="1800" b="1" i="0">
                <a:solidFill>
                  <a:srgbClr val="5A6B76"/>
                </a:solidFill>
                <a:latin typeface="Nunito"/>
              </a:rPr>
              <a:t>→</a:t>
            </a:r>
          </a:p>
        </p:txBody>
      </p:sp>
      <p:sp>
        <p:nvSpPr>
          <p:cNvPr id="22" name="Rounded Rectangle 21"/>
          <p:cNvSpPr/>
          <p:nvPr/>
        </p:nvSpPr>
        <p:spPr>
          <a:xfrm>
            <a:off x="5111496" y="5148072"/>
            <a:ext cx="1965960" cy="914400"/>
          </a:xfrm>
          <a:prstGeom prst="roundRect">
            <a:avLst>
              <a:gd name="adj" fmla="val 12000"/>
            </a:avLst>
          </a:prstGeom>
          <a:solidFill>
            <a:srgbClr val="F6F2EA"/>
          </a:solidFill>
          <a:ln w="19050">
            <a:solidFill>
              <a:srgbClr val="3BB2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84648" y="5148072"/>
            <a:ext cx="1819656" cy="914400"/>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1F2A33"/>
                </a:solidFill>
                <a:latin typeface="Nunito"/>
              </a:rPr>
              <a:t>Database engine</a:t>
            </a:r>
          </a:p>
        </p:txBody>
      </p:sp>
      <p:sp>
        <p:nvSpPr>
          <p:cNvPr id="24" name="TextBox 23"/>
          <p:cNvSpPr txBox="1"/>
          <p:nvPr/>
        </p:nvSpPr>
        <p:spPr>
          <a:xfrm>
            <a:off x="7077456" y="5449824"/>
            <a:ext cx="224028" cy="365760"/>
          </a:xfrm>
          <a:prstGeom prst="rect">
            <a:avLst/>
          </a:prstGeom>
          <a:noFill/>
        </p:spPr>
        <p:txBody>
          <a:bodyPr wrap="square" lIns="0" rIns="0" tIns="0" bIns="0" anchor="ctr">
            <a:spAutoFit/>
          </a:bodyPr>
          <a:lstStyle/>
          <a:p>
            <a:pPr algn="ctr">
              <a:spcBef>
                <a:spcPts val="0"/>
              </a:spcBef>
              <a:spcAft>
                <a:spcPts val="0"/>
              </a:spcAft>
            </a:pPr>
            <a:r>
              <a:rPr sz="1800" b="1" i="0">
                <a:solidFill>
                  <a:srgbClr val="5A6B76"/>
                </a:solidFill>
                <a:latin typeface="Nunito"/>
              </a:rPr>
              <a:t>→</a:t>
            </a:r>
          </a:p>
        </p:txBody>
      </p:sp>
      <p:sp>
        <p:nvSpPr>
          <p:cNvPr id="25" name="Rounded Rectangle 24"/>
          <p:cNvSpPr/>
          <p:nvPr/>
        </p:nvSpPr>
        <p:spPr>
          <a:xfrm>
            <a:off x="7301484" y="5148072"/>
            <a:ext cx="1965960" cy="914400"/>
          </a:xfrm>
          <a:prstGeom prst="roundRect">
            <a:avLst>
              <a:gd name="adj" fmla="val 12000"/>
            </a:avLst>
          </a:prstGeom>
          <a:solidFill>
            <a:srgbClr val="F6F2EA"/>
          </a:solidFill>
          <a:ln w="19050">
            <a:solidFill>
              <a:srgbClr val="FC890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74636" y="5148072"/>
            <a:ext cx="1819656" cy="914400"/>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1F2A33"/>
                </a:solidFill>
                <a:latin typeface="Nunito"/>
              </a:rPr>
              <a:t>Secure enclave</a:t>
            </a:r>
          </a:p>
          <a:p>
            <a:pPr algn="ctr">
              <a:lnSpc>
                <a:spcPct val="100000"/>
              </a:lnSpc>
              <a:spcBef>
                <a:spcPts val="0"/>
              </a:spcBef>
              <a:spcAft>
                <a:spcPts val="0"/>
              </a:spcAft>
            </a:pPr>
            <a:r>
              <a:rPr sz="1050" b="0" i="0">
                <a:solidFill>
                  <a:srgbClr val="1F2A33"/>
                </a:solidFill>
                <a:latin typeface="Nunito"/>
              </a:rPr>
              <a:t>(Ciphertext → Plaintext)</a:t>
            </a:r>
          </a:p>
        </p:txBody>
      </p:sp>
      <p:sp>
        <p:nvSpPr>
          <p:cNvPr id="27" name="TextBox 26"/>
          <p:cNvSpPr txBox="1"/>
          <p:nvPr/>
        </p:nvSpPr>
        <p:spPr>
          <a:xfrm>
            <a:off x="9267444" y="5449824"/>
            <a:ext cx="224028" cy="365760"/>
          </a:xfrm>
          <a:prstGeom prst="rect">
            <a:avLst/>
          </a:prstGeom>
          <a:noFill/>
        </p:spPr>
        <p:txBody>
          <a:bodyPr wrap="square" lIns="0" rIns="0" tIns="0" bIns="0" anchor="ctr">
            <a:spAutoFit/>
          </a:bodyPr>
          <a:lstStyle/>
          <a:p>
            <a:pPr algn="ctr">
              <a:spcBef>
                <a:spcPts val="0"/>
              </a:spcBef>
              <a:spcAft>
                <a:spcPts val="0"/>
              </a:spcAft>
            </a:pPr>
            <a:r>
              <a:rPr sz="1800" b="1" i="0">
                <a:solidFill>
                  <a:srgbClr val="5A6B76"/>
                </a:solidFill>
                <a:latin typeface="Nunito"/>
              </a:rPr>
              <a:t>→</a:t>
            </a:r>
          </a:p>
        </p:txBody>
      </p:sp>
      <p:sp>
        <p:nvSpPr>
          <p:cNvPr id="28" name="Rounded Rectangle 27"/>
          <p:cNvSpPr/>
          <p:nvPr/>
        </p:nvSpPr>
        <p:spPr>
          <a:xfrm>
            <a:off x="9491472" y="5148072"/>
            <a:ext cx="1965960" cy="914400"/>
          </a:xfrm>
          <a:prstGeom prst="roundRect">
            <a:avLst>
              <a:gd name="adj" fmla="val 12000"/>
            </a:avLst>
          </a:prstGeom>
          <a:solidFill>
            <a:srgbClr val="F6F2EA"/>
          </a:solidFill>
          <a:ln w="19050">
            <a:solidFill>
              <a:srgbClr val="DD5D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64624" y="5148072"/>
            <a:ext cx="1819656" cy="914400"/>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1F2A33"/>
                </a:solidFill>
                <a:latin typeface="Nunito"/>
              </a:rPr>
              <a:t>SQL DLL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1</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5</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Understand encryption layers</a:t>
            </a:r>
          </a:p>
        </p:txBody>
      </p:sp>
      <p:sp>
        <p:nvSpPr>
          <p:cNvPr id="5" name="Rounded Rectangle 4"/>
          <p:cNvSpPr/>
          <p:nvPr/>
        </p:nvSpPr>
        <p:spPr>
          <a:xfrm>
            <a:off x="548640" y="841248"/>
            <a:ext cx="658368" cy="73152"/>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167128" y="1554480"/>
            <a:ext cx="7863840" cy="960120"/>
          </a:xfrm>
          <a:prstGeom prst="roundRect">
            <a:avLst>
              <a:gd name="adj" fmla="val 35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41448" y="1554480"/>
            <a:ext cx="7315200" cy="960120"/>
          </a:xfrm>
          <a:prstGeom prst="rect">
            <a:avLst/>
          </a:prstGeom>
          <a:noFill/>
        </p:spPr>
        <p:txBody>
          <a:bodyPr wrap="square" lIns="0" rIns="0" tIns="0" bIns="0" anchor="ctr">
            <a:spAutoFit/>
          </a:bodyPr>
          <a:lstStyle/>
          <a:p>
            <a:pPr algn="ctr">
              <a:spcBef>
                <a:spcPts val="0"/>
              </a:spcBef>
              <a:spcAft>
                <a:spcPts val="100"/>
              </a:spcAft>
            </a:pPr>
            <a:r>
              <a:rPr sz="1600" b="1" i="0">
                <a:solidFill>
                  <a:srgbClr val="F6F2EA"/>
                </a:solidFill>
                <a:latin typeface="Bricolage Grotesque"/>
              </a:rPr>
              <a:t>Always Encrypted (Client Side)</a:t>
            </a:r>
          </a:p>
          <a:p>
            <a:pPr algn="ctr">
              <a:spcBef>
                <a:spcPts val="0"/>
              </a:spcBef>
              <a:spcAft>
                <a:spcPts val="0"/>
              </a:spcAft>
            </a:pPr>
            <a:r>
              <a:rPr sz="1100" b="0" i="0">
                <a:solidFill>
                  <a:srgbClr val="F0ECE4"/>
                </a:solidFill>
                <a:latin typeface="Nunito"/>
              </a:rPr>
              <a:t>Encryption Key Held Outside the Database</a:t>
            </a:r>
          </a:p>
        </p:txBody>
      </p:sp>
      <p:sp>
        <p:nvSpPr>
          <p:cNvPr id="8" name="Rounded Rectangle 7"/>
          <p:cNvSpPr/>
          <p:nvPr/>
        </p:nvSpPr>
        <p:spPr>
          <a:xfrm>
            <a:off x="1709928" y="2606040"/>
            <a:ext cx="8778240" cy="960120"/>
          </a:xfrm>
          <a:prstGeom prst="roundRect">
            <a:avLst>
              <a:gd name="adj" fmla="val 35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84248" y="2606040"/>
            <a:ext cx="8229600" cy="960120"/>
          </a:xfrm>
          <a:prstGeom prst="rect">
            <a:avLst/>
          </a:prstGeom>
          <a:noFill/>
        </p:spPr>
        <p:txBody>
          <a:bodyPr wrap="square" lIns="0" rIns="0" tIns="0" bIns="0" anchor="ctr">
            <a:spAutoFit/>
          </a:bodyPr>
          <a:lstStyle/>
          <a:p>
            <a:pPr algn="ctr">
              <a:spcBef>
                <a:spcPts val="0"/>
              </a:spcBef>
              <a:spcAft>
                <a:spcPts val="100"/>
              </a:spcAft>
            </a:pPr>
            <a:r>
              <a:rPr sz="1600" b="1" i="0">
                <a:solidFill>
                  <a:srgbClr val="F6F2EA"/>
                </a:solidFill>
                <a:latin typeface="Bricolage Grotesque"/>
              </a:rPr>
              <a:t>Column-Level Encryption</a:t>
            </a:r>
          </a:p>
          <a:p>
            <a:pPr algn="ctr">
              <a:spcBef>
                <a:spcPts val="0"/>
              </a:spcBef>
              <a:spcAft>
                <a:spcPts val="0"/>
              </a:spcAft>
            </a:pPr>
            <a:r>
              <a:rPr sz="1100" b="0" i="0">
                <a:solidFill>
                  <a:srgbClr val="F0ECE4"/>
                </a:solidFill>
                <a:latin typeface="Nunito"/>
              </a:rPr>
              <a:t>Encrypt Specific Columns</a:t>
            </a:r>
          </a:p>
        </p:txBody>
      </p:sp>
      <p:sp>
        <p:nvSpPr>
          <p:cNvPr id="10" name="Rounded Rectangle 9"/>
          <p:cNvSpPr/>
          <p:nvPr/>
        </p:nvSpPr>
        <p:spPr>
          <a:xfrm>
            <a:off x="1252728" y="3657600"/>
            <a:ext cx="9692640" cy="960120"/>
          </a:xfrm>
          <a:prstGeom prst="roundRect">
            <a:avLst>
              <a:gd name="adj" fmla="val 35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7048" y="3657600"/>
            <a:ext cx="9144000" cy="960120"/>
          </a:xfrm>
          <a:prstGeom prst="rect">
            <a:avLst/>
          </a:prstGeom>
          <a:noFill/>
        </p:spPr>
        <p:txBody>
          <a:bodyPr wrap="square" lIns="0" rIns="0" tIns="0" bIns="0" anchor="ctr">
            <a:spAutoFit/>
          </a:bodyPr>
          <a:lstStyle/>
          <a:p>
            <a:pPr algn="ctr">
              <a:spcBef>
                <a:spcPts val="0"/>
              </a:spcBef>
              <a:spcAft>
                <a:spcPts val="100"/>
              </a:spcAft>
            </a:pPr>
            <a:r>
              <a:rPr sz="2200" b="1" i="0">
                <a:solidFill>
                  <a:srgbClr val="F6F2EA"/>
                </a:solidFill>
                <a:latin typeface="Bricolage Grotesque"/>
              </a:rPr>
              <a:t>SQL</a:t>
            </a:r>
          </a:p>
          <a:p>
            <a:pPr algn="ctr">
              <a:spcBef>
                <a:spcPts val="0"/>
              </a:spcBef>
              <a:spcAft>
                <a:spcPts val="0"/>
              </a:spcAft>
            </a:pPr>
            <a:r>
              <a:rPr sz="1100" b="0" i="0">
                <a:solidFill>
                  <a:srgbClr val="F0ECE4"/>
                </a:solidFill>
                <a:latin typeface="Nunito"/>
              </a:rPr>
              <a:t>Encrypt Database Files</a:t>
            </a:r>
          </a:p>
        </p:txBody>
      </p:sp>
      <p:sp>
        <p:nvSpPr>
          <p:cNvPr id="12" name="Rounded Rectangle 11"/>
          <p:cNvSpPr/>
          <p:nvPr/>
        </p:nvSpPr>
        <p:spPr>
          <a:xfrm>
            <a:off x="795528" y="4709160"/>
            <a:ext cx="10607040" cy="960120"/>
          </a:xfrm>
          <a:prstGeom prst="roundRect">
            <a:avLst>
              <a:gd name="adj" fmla="val 35000"/>
            </a:avLst>
          </a:prstGeom>
          <a:solidFill>
            <a:srgbClr val="1F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4709160"/>
            <a:ext cx="10058400" cy="960120"/>
          </a:xfrm>
          <a:prstGeom prst="rect">
            <a:avLst/>
          </a:prstGeom>
          <a:noFill/>
        </p:spPr>
        <p:txBody>
          <a:bodyPr wrap="square" lIns="0" rIns="0" tIns="0" bIns="0" anchor="ctr">
            <a:spAutoFit/>
          </a:bodyPr>
          <a:lstStyle/>
          <a:p>
            <a:pPr algn="ctr">
              <a:spcBef>
                <a:spcPts val="0"/>
              </a:spcBef>
              <a:spcAft>
                <a:spcPts val="100"/>
              </a:spcAft>
            </a:pPr>
            <a:r>
              <a:rPr sz="1600" b="1" i="0">
                <a:solidFill>
                  <a:srgbClr val="F6F2EA"/>
                </a:solidFill>
                <a:latin typeface="Bricolage Grotesque"/>
              </a:rPr>
              <a:t>TDE (Database File Level)</a:t>
            </a:r>
          </a:p>
        </p:txBody>
      </p:sp>
      <p:sp>
        <p:nvSpPr>
          <p:cNvPr id="14" name="Rounded Rectangle 13"/>
          <p:cNvSpPr/>
          <p:nvPr/>
        </p:nvSpPr>
        <p:spPr>
          <a:xfrm>
            <a:off x="2286000" y="5806440"/>
            <a:ext cx="7616952" cy="685800"/>
          </a:xfrm>
          <a:prstGeom prst="roundRect">
            <a:avLst>
              <a:gd name="adj" fmla="val 8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87168" y="5916168"/>
            <a:ext cx="7214616" cy="466344"/>
          </a:xfrm>
          <a:prstGeom prst="rect">
            <a:avLst/>
          </a:prstGeom>
          <a:noFill/>
        </p:spPr>
        <p:txBody>
          <a:bodyPr wrap="square" lIns="0" rIns="0" tIns="0" bIns="0" anchor="ctr">
            <a:spAutoFit/>
          </a:bodyPr>
          <a:lstStyle/>
          <a:p>
            <a:pPr>
              <a:lnSpc>
                <a:spcPct val="115000"/>
              </a:lnSpc>
              <a:spcBef>
                <a:spcPts val="0"/>
              </a:spcBef>
              <a:spcAft>
                <a:spcPts val="200"/>
              </a:spcAft>
            </a:pPr>
            <a:r>
              <a:rPr sz="1150" b="1" i="0">
                <a:solidFill>
                  <a:srgbClr val="3D768E"/>
                </a:solidFill>
                <a:latin typeface="Nunito"/>
              </a:rPr>
              <a:t>Layered defense:</a:t>
            </a:r>
            <a:r>
              <a:rPr sz="1150" b="0" i="0">
                <a:solidFill>
                  <a:srgbClr val="1F2A33"/>
                </a:solidFill>
                <a:latin typeface="Nunito"/>
              </a:rPr>
              <a:t> each layer narrows who can see plaintext — from the client app down to the physical database 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1</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6</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Dynamic Data Masking &amp; Row-Level Security</a:t>
            </a:r>
          </a:p>
        </p:txBody>
      </p:sp>
      <p:sp>
        <p:nvSpPr>
          <p:cNvPr id="5" name="Rounded Rectangle 4"/>
          <p:cNvSpPr/>
          <p:nvPr/>
        </p:nvSpPr>
        <p:spPr>
          <a:xfrm>
            <a:off x="548640" y="841248"/>
            <a:ext cx="658368" cy="73152"/>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Control what users see without changing the underlying stored data.</a:t>
            </a:r>
          </a:p>
        </p:txBody>
      </p:sp>
      <p:sp>
        <p:nvSpPr>
          <p:cNvPr id="7" name="Rounded Rectangle 6"/>
          <p:cNvSpPr/>
          <p:nvPr/>
        </p:nvSpPr>
        <p:spPr>
          <a:xfrm>
            <a:off x="548640" y="1417320"/>
            <a:ext cx="5413248" cy="324612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5193792" cy="54864"/>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5047488" cy="292608"/>
          </a:xfrm>
          <a:prstGeom prst="rect">
            <a:avLst/>
          </a:prstGeom>
          <a:noFill/>
        </p:spPr>
        <p:txBody>
          <a:bodyPr wrap="square" lIns="0" rIns="0" tIns="0" bIns="0">
            <a:spAutoFit/>
          </a:bodyPr>
          <a:lstStyle/>
          <a:p>
            <a:pPr>
              <a:spcBef>
                <a:spcPts val="0"/>
              </a:spcBef>
              <a:spcAft>
                <a:spcPts val="0"/>
              </a:spcAft>
            </a:pPr>
            <a:r>
              <a:rPr sz="1500" b="1" i="0">
                <a:solidFill>
                  <a:srgbClr val="1F2A33"/>
                </a:solidFill>
                <a:latin typeface="Bricolage Grotesque"/>
              </a:rPr>
              <a:t>∞  Dynamic Data Masking (DDM)</a:t>
            </a:r>
          </a:p>
        </p:txBody>
      </p:sp>
      <p:graphicFrame>
        <p:nvGraphicFramePr>
          <p:cNvPr id="10" name="Table 9"/>
          <p:cNvGraphicFramePr>
            <a:graphicFrameLocks noGrp="1"/>
          </p:cNvGraphicFramePr>
          <p:nvPr/>
        </p:nvGraphicFramePr>
        <p:xfrm>
          <a:off x="749808" y="1984248"/>
          <a:ext cx="5010912" cy="1417320"/>
        </p:xfrm>
        <a:graphic>
          <a:graphicData uri="http://schemas.openxmlformats.org/drawingml/2006/table">
            <a:tbl>
              <a:tblPr firstRow="1" bandRow="1">
                <a:tableStyleId>{5C22544A-7EE6-4342-B048-85BDC9FD1C3A}</a:tableStyleId>
              </a:tblPr>
              <a:tblGrid>
                <a:gridCol w="1005840"/>
                <a:gridCol w="2468880"/>
                <a:gridCol w="1536192"/>
              </a:tblGrid>
              <a:tr h="283464">
                <a:tc>
                  <a:txBody>
                    <a:bodyPr wrap="square"/>
                    <a:lstStyle/>
                    <a:p>
                      <a:r>
                        <a:rPr sz="1050" b="1" i="0">
                          <a:solidFill>
                            <a:srgbClr val="F6F2EA"/>
                          </a:solidFill>
                          <a:latin typeface="Nunito"/>
                        </a:rPr>
                        <a:t>Mask Function</a:t>
                      </a:r>
                    </a:p>
                  </a:txBody>
                  <a:tcPr marL="73152" marR="73152" marT="27432" marB="27432" anchor="ctr">
                    <a:solidFill>
                      <a:srgbClr val="3D768E"/>
                    </a:solidFill>
                  </a:tcPr>
                </a:tc>
                <a:tc>
                  <a:txBody>
                    <a:bodyPr wrap="square"/>
                    <a:lstStyle/>
                    <a:p>
                      <a:r>
                        <a:rPr sz="1050" b="1" i="0">
                          <a:solidFill>
                            <a:srgbClr val="F6F2EA"/>
                          </a:solidFill>
                          <a:latin typeface="Nunito"/>
                        </a:rPr>
                        <a:t>Syntax</a:t>
                      </a:r>
                    </a:p>
                  </a:txBody>
                  <a:tcPr marL="73152" marR="73152" marT="27432" marB="27432" anchor="ctr">
                    <a:solidFill>
                      <a:srgbClr val="3D768E"/>
                    </a:solidFill>
                  </a:tcPr>
                </a:tc>
                <a:tc>
                  <a:txBody>
                    <a:bodyPr wrap="square"/>
                    <a:lstStyle/>
                    <a:p>
                      <a:r>
                        <a:rPr sz="1050" b="1" i="0">
                          <a:solidFill>
                            <a:srgbClr val="F6F2EA"/>
                          </a:solidFill>
                          <a:latin typeface="Nunito"/>
                        </a:rPr>
                        <a:t>Result</a:t>
                      </a:r>
                    </a:p>
                  </a:txBody>
                  <a:tcPr marL="73152" marR="73152" marT="27432" marB="27432" anchor="ctr">
                    <a:solidFill>
                      <a:srgbClr val="3D768E"/>
                    </a:solidFill>
                  </a:tcPr>
                </a:tc>
              </a:tr>
              <a:tr h="283464">
                <a:tc>
                  <a:txBody>
                    <a:bodyPr wrap="square"/>
                    <a:lstStyle/>
                    <a:p>
                      <a:r>
                        <a:rPr sz="1050" b="1" i="0">
                          <a:solidFill>
                            <a:srgbClr val="1F2A33"/>
                          </a:solidFill>
                          <a:latin typeface="Nunito"/>
                        </a:rPr>
                        <a:t>Default</a:t>
                      </a:r>
                    </a:p>
                  </a:txBody>
                  <a:tcPr marL="73152" marR="73152" marT="27432" marB="27432" anchor="ctr">
                    <a:solidFill>
                      <a:srgbClr val="FDFAF3"/>
                    </a:solidFill>
                  </a:tcPr>
                </a:tc>
                <a:tc>
                  <a:txBody>
                    <a:bodyPr wrap="square"/>
                    <a:lstStyle/>
                    <a:p>
                      <a:r>
                        <a:rPr sz="1050" b="0" i="0">
                          <a:solidFill>
                            <a:srgbClr val="1F2A33"/>
                          </a:solidFill>
                          <a:latin typeface="Nunito"/>
                        </a:rPr>
                        <a:t>FUNCTION = 'default()'</a:t>
                      </a:r>
                    </a:p>
                  </a:txBody>
                  <a:tcPr marL="73152" marR="73152" marT="27432" marB="27432" anchor="ctr">
                    <a:solidFill>
                      <a:srgbClr val="FDFAF3"/>
                    </a:solidFill>
                  </a:tcPr>
                </a:tc>
                <a:tc>
                  <a:txBody>
                    <a:bodyPr wrap="square"/>
                    <a:lstStyle/>
                    <a:p>
                      <a:r>
                        <a:rPr sz="1050" b="0" i="0">
                          <a:solidFill>
                            <a:srgbClr val="1F2A33"/>
                          </a:solidFill>
                          <a:latin typeface="Nunito"/>
                        </a:rPr>
                        <a:t>xxxx or 0</a:t>
                      </a:r>
                    </a:p>
                  </a:txBody>
                  <a:tcPr marL="73152" marR="73152" marT="27432" marB="27432" anchor="ctr">
                    <a:solidFill>
                      <a:srgbClr val="FDFAF3"/>
                    </a:solidFill>
                  </a:tcPr>
                </a:tc>
              </a:tr>
              <a:tr h="283464">
                <a:tc>
                  <a:txBody>
                    <a:bodyPr wrap="square"/>
                    <a:lstStyle/>
                    <a:p>
                      <a:r>
                        <a:rPr sz="1050" b="1" i="0">
                          <a:solidFill>
                            <a:srgbClr val="1F2A33"/>
                          </a:solidFill>
                          <a:latin typeface="Nunito"/>
                        </a:rPr>
                        <a:t>Email</a:t>
                      </a:r>
                    </a:p>
                  </a:txBody>
                  <a:tcPr marL="73152" marR="73152" marT="27432" marB="27432" anchor="ctr">
                    <a:solidFill>
                      <a:srgbClr val="F6F2EA"/>
                    </a:solidFill>
                  </a:tcPr>
                </a:tc>
                <a:tc>
                  <a:txBody>
                    <a:bodyPr wrap="square"/>
                    <a:lstStyle/>
                    <a:p>
                      <a:r>
                        <a:rPr sz="1050" b="0" i="0">
                          <a:solidFill>
                            <a:srgbClr val="1F2A33"/>
                          </a:solidFill>
                          <a:latin typeface="Nunito"/>
                        </a:rPr>
                        <a:t>FUNCTION = 'email()'</a:t>
                      </a:r>
                    </a:p>
                  </a:txBody>
                  <a:tcPr marL="73152" marR="73152" marT="27432" marB="27432" anchor="ctr">
                    <a:solidFill>
                      <a:srgbClr val="F6F2EA"/>
                    </a:solidFill>
                  </a:tcPr>
                </a:tc>
                <a:tc>
                  <a:txBody>
                    <a:bodyPr wrap="square"/>
                    <a:lstStyle/>
                    <a:p>
                      <a:r>
                        <a:rPr sz="1050" b="0" i="0">
                          <a:solidFill>
                            <a:srgbClr val="1F2A33"/>
                          </a:solidFill>
                          <a:latin typeface="Nunito"/>
                        </a:rPr>
                        <a:t>aXXX@XXXX.com</a:t>
                      </a:r>
                    </a:p>
                  </a:txBody>
                  <a:tcPr marL="73152" marR="73152" marT="27432" marB="27432" anchor="ctr">
                    <a:solidFill>
                      <a:srgbClr val="F6F2EA"/>
                    </a:solidFill>
                  </a:tcPr>
                </a:tc>
              </a:tr>
              <a:tr h="283464">
                <a:tc>
                  <a:txBody>
                    <a:bodyPr wrap="square"/>
                    <a:lstStyle/>
                    <a:p>
                      <a:r>
                        <a:rPr sz="1050" b="1" i="0">
                          <a:solidFill>
                            <a:srgbClr val="1F2A33"/>
                          </a:solidFill>
                          <a:latin typeface="Nunito"/>
                        </a:rPr>
                        <a:t>Random</a:t>
                      </a:r>
                    </a:p>
                  </a:txBody>
                  <a:tcPr marL="73152" marR="73152" marT="27432" marB="27432" anchor="ctr">
                    <a:solidFill>
                      <a:srgbClr val="FDFAF3"/>
                    </a:solidFill>
                  </a:tcPr>
                </a:tc>
                <a:tc>
                  <a:txBody>
                    <a:bodyPr wrap="square"/>
                    <a:lstStyle/>
                    <a:p>
                      <a:r>
                        <a:rPr sz="1050" b="0" i="0">
                          <a:solidFill>
                            <a:srgbClr val="1F2A33"/>
                          </a:solidFill>
                          <a:latin typeface="Nunito"/>
                        </a:rPr>
                        <a:t>FUNCTION = 'random(1,100)'</a:t>
                      </a:r>
                    </a:p>
                  </a:txBody>
                  <a:tcPr marL="73152" marR="73152" marT="27432" marB="27432" anchor="ctr">
                    <a:solidFill>
                      <a:srgbClr val="FDFAF3"/>
                    </a:solidFill>
                  </a:tcPr>
                </a:tc>
                <a:tc>
                  <a:txBody>
                    <a:bodyPr wrap="square"/>
                    <a:lstStyle/>
                    <a:p>
                      <a:r>
                        <a:rPr sz="1050" b="0" i="0">
                          <a:solidFill>
                            <a:srgbClr val="1F2A33"/>
                          </a:solidFill>
                          <a:latin typeface="Nunito"/>
                        </a:rPr>
                        <a:t>Random number</a:t>
                      </a:r>
                    </a:p>
                  </a:txBody>
                  <a:tcPr marL="73152" marR="73152" marT="27432" marB="27432" anchor="ctr">
                    <a:solidFill>
                      <a:srgbClr val="FDFAF3"/>
                    </a:solidFill>
                  </a:tcPr>
                </a:tc>
              </a:tr>
              <a:tr h="283464">
                <a:tc>
                  <a:txBody>
                    <a:bodyPr wrap="square"/>
                    <a:lstStyle/>
                    <a:p>
                      <a:r>
                        <a:rPr sz="1050" b="1" i="0">
                          <a:solidFill>
                            <a:srgbClr val="1F2A33"/>
                          </a:solidFill>
                          <a:latin typeface="Nunito"/>
                        </a:rPr>
                        <a:t>Partial</a:t>
                      </a:r>
                    </a:p>
                  </a:txBody>
                  <a:tcPr marL="73152" marR="73152" marT="27432" marB="27432" anchor="ctr">
                    <a:solidFill>
                      <a:srgbClr val="F6F2EA"/>
                    </a:solidFill>
                  </a:tcPr>
                </a:tc>
                <a:tc>
                  <a:txBody>
                    <a:bodyPr wrap="square"/>
                    <a:lstStyle/>
                    <a:p>
                      <a:r>
                        <a:rPr sz="1050" b="0" i="0">
                          <a:solidFill>
                            <a:srgbClr val="1F2A33"/>
                          </a:solidFill>
                          <a:latin typeface="Nunito"/>
                        </a:rPr>
                        <a:t>FUNCTION = 'partial(2,"XX",1)'</a:t>
                      </a:r>
                    </a:p>
                  </a:txBody>
                  <a:tcPr marL="73152" marR="73152" marT="27432" marB="27432" anchor="ctr">
                    <a:solidFill>
                      <a:srgbClr val="F6F2EA"/>
                    </a:solidFill>
                  </a:tcPr>
                </a:tc>
                <a:tc>
                  <a:txBody>
                    <a:bodyPr wrap="square"/>
                    <a:lstStyle/>
                    <a:p>
                      <a:r>
                        <a:rPr sz="1050" b="0" i="0">
                          <a:solidFill>
                            <a:srgbClr val="1F2A33"/>
                          </a:solidFill>
                          <a:latin typeface="Nunito"/>
                        </a:rPr>
                        <a:t>abXXe</a:t>
                      </a:r>
                    </a:p>
                  </a:txBody>
                  <a:tcPr marL="73152" marR="73152" marT="27432" marB="27432" anchor="ctr">
                    <a:solidFill>
                      <a:srgbClr val="F6F2EA"/>
                    </a:solidFill>
                  </a:tcPr>
                </a:tc>
              </a:tr>
            </a:tbl>
          </a:graphicData>
        </a:graphic>
      </p:graphicFrame>
      <p:sp>
        <p:nvSpPr>
          <p:cNvPr id="11" name="TextBox 10"/>
          <p:cNvSpPr txBox="1"/>
          <p:nvPr/>
        </p:nvSpPr>
        <p:spPr>
          <a:xfrm>
            <a:off x="749808" y="3538728"/>
            <a:ext cx="5047488" cy="1005840"/>
          </a:xfrm>
          <a:prstGeom prst="rect">
            <a:avLst/>
          </a:prstGeom>
          <a:noFill/>
        </p:spPr>
        <p:txBody>
          <a:bodyPr wrap="square" lIns="0" rIns="0" tIns="0" bIns="0">
            <a:spAutoFit/>
          </a:bodyPr>
          <a:lstStyle/>
          <a:p>
            <a:pPr>
              <a:lnSpc>
                <a:spcPct val="110000"/>
              </a:lnSpc>
              <a:spcBef>
                <a:spcPts val="0"/>
              </a:spcBef>
              <a:spcAft>
                <a:spcPts val="0"/>
              </a:spcAft>
            </a:pPr>
            <a:r>
              <a:rPr sz="1050" b="1" i="0">
                <a:solidFill>
                  <a:srgbClr val="FBC00A"/>
                </a:solidFill>
                <a:latin typeface="Nunito"/>
              </a:rPr>
              <a:t>Important: </a:t>
            </a:r>
            <a:r>
              <a:rPr sz="1050" b="0" i="0">
                <a:solidFill>
                  <a:srgbClr val="1F2A33"/>
                </a:solidFill>
                <a:latin typeface="Nunito"/>
              </a:rPr>
              <a:t>DDM is obfuscation, not encryption. It's intended to reduce development effort by implementing Users with UNMASK permission and privileged users such as sysadmins see real data.</a:t>
            </a:r>
          </a:p>
        </p:txBody>
      </p:sp>
      <p:sp>
        <p:nvSpPr>
          <p:cNvPr id="12" name="Rounded Rectangle 11"/>
          <p:cNvSpPr/>
          <p:nvPr/>
        </p:nvSpPr>
        <p:spPr>
          <a:xfrm>
            <a:off x="6227064" y="1417320"/>
            <a:ext cx="5413248" cy="324612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6792" y="1417320"/>
            <a:ext cx="5193792" cy="54864"/>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581912"/>
            <a:ext cx="5010912" cy="292608"/>
          </a:xfrm>
          <a:prstGeom prst="rect">
            <a:avLst/>
          </a:prstGeom>
          <a:noFill/>
        </p:spPr>
        <p:txBody>
          <a:bodyPr wrap="square" lIns="0" rIns="0" tIns="0" bIns="0">
            <a:spAutoFit/>
          </a:bodyPr>
          <a:lstStyle/>
          <a:p>
            <a:pPr>
              <a:spcBef>
                <a:spcPts val="0"/>
              </a:spcBef>
              <a:spcAft>
                <a:spcPts val="0"/>
              </a:spcAft>
            </a:pPr>
            <a:r>
              <a:rPr sz="1600" b="1" i="0">
                <a:solidFill>
                  <a:srgbClr val="1F2A33"/>
                </a:solidFill>
                <a:latin typeface="Bricolage Grotesque"/>
              </a:rPr>
              <a:t>👤  Row-Level Security (RLS)</a:t>
            </a:r>
          </a:p>
        </p:txBody>
      </p:sp>
      <p:sp>
        <p:nvSpPr>
          <p:cNvPr id="15" name="TextBox 14"/>
          <p:cNvSpPr txBox="1"/>
          <p:nvPr/>
        </p:nvSpPr>
        <p:spPr>
          <a:xfrm>
            <a:off x="6428232" y="1947672"/>
            <a:ext cx="5010912" cy="2578608"/>
          </a:xfrm>
          <a:prstGeom prst="rect">
            <a:avLst/>
          </a:prstGeom>
          <a:noFill/>
        </p:spPr>
        <p:txBody>
          <a:bodyPr wrap="square" lIns="0" rIns="0" tIns="0" bIns="0">
            <a:spAutoFit/>
          </a:bodyPr>
          <a:lstStyle/>
          <a:p>
            <a:pPr>
              <a:lnSpc>
                <a:spcPct val="100000"/>
              </a:lnSpc>
              <a:spcBef>
                <a:spcPts val="0"/>
              </a:spcBef>
              <a:spcAft>
                <a:spcPts val="100"/>
              </a:spcAft>
              <a:buNone/>
            </a:pPr>
            <a:r>
              <a:rPr sz="1300" b="1" i="0">
                <a:solidFill>
                  <a:srgbClr val="DD5D5D"/>
                </a:solidFill>
                <a:latin typeface="Nunito"/>
              </a:rPr>
              <a:t>Filter Predicate</a:t>
            </a:r>
          </a:p>
          <a:p>
            <a:pPr>
              <a:lnSpc>
                <a:spcPct val="105000"/>
              </a:lnSpc>
              <a:spcBef>
                <a:spcPts val="0"/>
              </a:spcBef>
              <a:spcAft>
                <a:spcPts val="700"/>
              </a:spcAft>
              <a:buNone/>
            </a:pPr>
            <a:r>
              <a:rPr sz="1100" b="0" i="0">
                <a:solidFill>
                  <a:srgbClr val="1F2A33"/>
                </a:solidFill>
                <a:latin typeface="Nunito"/>
              </a:rPr>
              <a:t>Silently filters rows from SELECT, UPDATE, DELETE results</a:t>
            </a:r>
          </a:p>
          <a:p>
            <a:pPr>
              <a:lnSpc>
                <a:spcPct val="100000"/>
              </a:lnSpc>
              <a:spcBef>
                <a:spcPts val="0"/>
              </a:spcBef>
              <a:spcAft>
                <a:spcPts val="100"/>
              </a:spcAft>
              <a:buNone/>
            </a:pPr>
            <a:r>
              <a:rPr sz="1300" b="1" i="0">
                <a:solidFill>
                  <a:srgbClr val="DD5D5D"/>
                </a:solidFill>
                <a:latin typeface="Nunito"/>
              </a:rPr>
              <a:t>Block Predicate</a:t>
            </a:r>
          </a:p>
          <a:p>
            <a:pPr>
              <a:lnSpc>
                <a:spcPct val="105000"/>
              </a:lnSpc>
              <a:spcBef>
                <a:spcPts val="0"/>
              </a:spcBef>
              <a:spcAft>
                <a:spcPts val="700"/>
              </a:spcAft>
              <a:buNone/>
            </a:pPr>
            <a:r>
              <a:rPr sz="1100" b="0" i="0">
                <a:solidFill>
                  <a:srgbClr val="1F2A33"/>
                </a:solidFill>
                <a:latin typeface="Nunito"/>
              </a:rPr>
              <a:t>Blocks INSERT or UPDATE operations that violate policy</a:t>
            </a:r>
          </a:p>
          <a:p>
            <a:pPr>
              <a:lnSpc>
                <a:spcPct val="100000"/>
              </a:lnSpc>
              <a:spcBef>
                <a:spcPts val="0"/>
              </a:spcBef>
              <a:spcAft>
                <a:spcPts val="100"/>
              </a:spcAft>
              <a:buNone/>
            </a:pPr>
            <a:r>
              <a:rPr sz="1300" b="1" i="0">
                <a:solidFill>
                  <a:srgbClr val="DD5D5D"/>
                </a:solidFill>
                <a:latin typeface="Nunito"/>
              </a:rPr>
              <a:t>Security Function</a:t>
            </a:r>
          </a:p>
          <a:p>
            <a:pPr>
              <a:lnSpc>
                <a:spcPct val="105000"/>
              </a:lnSpc>
              <a:spcBef>
                <a:spcPts val="0"/>
              </a:spcBef>
              <a:spcAft>
                <a:spcPts val="700"/>
              </a:spcAft>
              <a:buNone/>
            </a:pPr>
            <a:r>
              <a:rPr sz="1100" b="0" i="0">
                <a:solidFill>
                  <a:srgbClr val="1F2A33"/>
                </a:solidFill>
                <a:latin typeface="Nunito"/>
              </a:rPr>
              <a:t>Inline table-valued function returning 1 (access) or 0 (deny)</a:t>
            </a:r>
          </a:p>
          <a:p>
            <a:pPr>
              <a:lnSpc>
                <a:spcPct val="100000"/>
              </a:lnSpc>
              <a:spcBef>
                <a:spcPts val="0"/>
              </a:spcBef>
              <a:spcAft>
                <a:spcPts val="100"/>
              </a:spcAft>
              <a:buNone/>
            </a:pPr>
            <a:r>
              <a:rPr sz="1300" b="1" i="0">
                <a:solidFill>
                  <a:srgbClr val="DD5D5D"/>
                </a:solidFill>
                <a:latin typeface="Nunito"/>
              </a:rPr>
              <a:t>Security Policy</a:t>
            </a:r>
          </a:p>
          <a:p>
            <a:pPr>
              <a:lnSpc>
                <a:spcPct val="105000"/>
              </a:lnSpc>
              <a:spcBef>
                <a:spcPts val="0"/>
              </a:spcBef>
              <a:spcAft>
                <a:spcPts val="700"/>
              </a:spcAft>
              <a:buNone/>
            </a:pPr>
            <a:r>
              <a:rPr sz="1100" b="0" i="0">
                <a:solidFill>
                  <a:srgbClr val="1F2A33"/>
                </a:solidFill>
                <a:latin typeface="Nunito"/>
              </a:rPr>
              <a:t>Binds the predicate function to one or more tables</a:t>
            </a:r>
          </a:p>
        </p:txBody>
      </p:sp>
      <p:sp>
        <p:nvSpPr>
          <p:cNvPr id="16" name="Rounded Rectangle 15"/>
          <p:cNvSpPr/>
          <p:nvPr/>
        </p:nvSpPr>
        <p:spPr>
          <a:xfrm>
            <a:off x="548640" y="4892040"/>
            <a:ext cx="11091672" cy="548640"/>
          </a:xfrm>
          <a:prstGeom prst="roundRect">
            <a:avLst>
              <a:gd name="adj" fmla="val 8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5001768"/>
            <a:ext cx="10689336" cy="329184"/>
          </a:xfrm>
          <a:prstGeom prst="rect">
            <a:avLst/>
          </a:prstGeom>
          <a:noFill/>
        </p:spPr>
        <p:txBody>
          <a:bodyPr wrap="square" lIns="0" rIns="0" tIns="0" bIns="0" anchor="ctr">
            <a:spAutoFit/>
          </a:bodyPr>
          <a:lstStyle/>
          <a:p>
            <a:pPr>
              <a:lnSpc>
                <a:spcPct val="115000"/>
              </a:lnSpc>
              <a:spcBef>
                <a:spcPts val="0"/>
              </a:spcBef>
              <a:spcAft>
                <a:spcPts val="200"/>
              </a:spcAft>
            </a:pPr>
            <a:r>
              <a:rPr sz="1150" b="1" i="0">
                <a:solidFill>
                  <a:srgbClr val="DD5D5D"/>
                </a:solidFill>
                <a:latin typeface="Nunito"/>
              </a:rPr>
              <a:t>Typical pattern:</a:t>
            </a:r>
            <a:r>
              <a:rPr sz="1150" b="0" i="0">
                <a:solidFill>
                  <a:srgbClr val="1F2A33"/>
                </a:solidFill>
                <a:latin typeface="Nunito"/>
              </a:rPr>
              <a:t> SESSION_CONTEXT() or USER_NAME() in the predicate function to filter by logged-in user.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1</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7</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Object-Level Permissions &amp; Secure Access</a:t>
            </a:r>
          </a:p>
        </p:txBody>
      </p:sp>
      <p:sp>
        <p:nvSpPr>
          <p:cNvPr id="5" name="Rounded Rectangle 4"/>
          <p:cNvSpPr/>
          <p:nvPr/>
        </p:nvSpPr>
        <p:spPr>
          <a:xfrm>
            <a:off x="548640" y="841248"/>
            <a:ext cx="658368" cy="73152"/>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Implement least-privilege access patterns across database objects and service connections.</a:t>
            </a:r>
          </a:p>
        </p:txBody>
      </p:sp>
      <p:sp>
        <p:nvSpPr>
          <p:cNvPr id="7" name="Rounded Rectangle 6"/>
          <p:cNvSpPr/>
          <p:nvPr/>
        </p:nvSpPr>
        <p:spPr>
          <a:xfrm>
            <a:off x="548640" y="1417320"/>
            <a:ext cx="5413248"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5193792" cy="54864"/>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5010912" cy="292608"/>
          </a:xfrm>
          <a:prstGeom prst="rect">
            <a:avLst/>
          </a:prstGeom>
          <a:noFill/>
        </p:spPr>
        <p:txBody>
          <a:bodyPr wrap="square" lIns="0" rIns="0" tIns="0" bIns="0">
            <a:spAutoFit/>
          </a:bodyPr>
          <a:lstStyle/>
          <a:p>
            <a:pPr>
              <a:spcBef>
                <a:spcPts val="0"/>
              </a:spcBef>
              <a:spcAft>
                <a:spcPts val="0"/>
              </a:spcAft>
            </a:pPr>
            <a:r>
              <a:rPr sz="1600" b="1" i="0">
                <a:solidFill>
                  <a:srgbClr val="1F2A33"/>
                </a:solidFill>
                <a:latin typeface="Bricolage Grotesque"/>
              </a:rPr>
              <a:t>📚  Permission Hierarchy</a:t>
            </a:r>
          </a:p>
        </p:txBody>
      </p:sp>
      <p:sp>
        <p:nvSpPr>
          <p:cNvPr id="10" name="TextBox 9"/>
          <p:cNvSpPr txBox="1"/>
          <p:nvPr/>
        </p:nvSpPr>
        <p:spPr>
          <a:xfrm>
            <a:off x="749808" y="1947672"/>
            <a:ext cx="5010912" cy="4224528"/>
          </a:xfrm>
          <a:prstGeom prst="rect">
            <a:avLst/>
          </a:prstGeom>
          <a:noFill/>
        </p:spPr>
        <p:txBody>
          <a:bodyPr wrap="square" lIns="0" rIns="0" tIns="0" bIns="0">
            <a:spAutoFit/>
          </a:bodyPr>
          <a:lstStyle/>
          <a:p>
            <a:pPr marL="164592" indent="-164592">
              <a:lnSpc>
                <a:spcPct val="106000"/>
              </a:lnSpc>
              <a:spcBef>
                <a:spcPts val="0"/>
              </a:spcBef>
              <a:spcAft>
                <a:spcPts val="800"/>
              </a:spcAft>
              <a:buFont typeface="Nunito"/>
              <a:buChar char="•"/>
            </a:pPr>
            <a:r>
              <a:rPr sz="1200" b="0" i="0">
                <a:solidFill>
                  <a:srgbClr val="1F2A33"/>
                </a:solidFill>
                <a:latin typeface="Nunito"/>
              </a:rPr>
              <a:t>GRANT / DENY / REVOKE at server, database, schema, and object levels</a:t>
            </a:r>
          </a:p>
          <a:p>
            <a:pPr marL="164592" indent="-164592">
              <a:lnSpc>
                <a:spcPct val="106000"/>
              </a:lnSpc>
              <a:spcBef>
                <a:spcPts val="0"/>
              </a:spcBef>
              <a:spcAft>
                <a:spcPts val="800"/>
              </a:spcAft>
              <a:buFont typeface="Nunito"/>
              <a:buChar char="•"/>
            </a:pPr>
            <a:r>
              <a:rPr sz="1200" b="0" i="0">
                <a:solidFill>
                  <a:srgbClr val="1F2A33"/>
                </a:solidFill>
                <a:latin typeface="Nunito"/>
              </a:rPr>
              <a:t>Schema-level: GRANT SELECT ON SCHEMA::Sales TO [AnalystRole]</a:t>
            </a:r>
          </a:p>
          <a:p>
            <a:pPr marL="164592" indent="-164592">
              <a:lnSpc>
                <a:spcPct val="106000"/>
              </a:lnSpc>
              <a:spcBef>
                <a:spcPts val="0"/>
              </a:spcBef>
              <a:spcAft>
                <a:spcPts val="800"/>
              </a:spcAft>
              <a:buFont typeface="Nunito"/>
              <a:buChar char="•"/>
            </a:pPr>
            <a:r>
              <a:rPr sz="1200" b="0" i="0">
                <a:solidFill>
                  <a:srgbClr val="1F2A33"/>
                </a:solidFill>
                <a:latin typeface="Nunito"/>
              </a:rPr>
              <a:t>Object-level: GRANT EXECUTE ON dbo.usp_GetOrders TO [AppRole]</a:t>
            </a:r>
          </a:p>
          <a:p>
            <a:pPr marL="164592" indent="-164592">
              <a:lnSpc>
                <a:spcPct val="106000"/>
              </a:lnSpc>
              <a:spcBef>
                <a:spcPts val="0"/>
              </a:spcBef>
              <a:spcAft>
                <a:spcPts val="800"/>
              </a:spcAft>
              <a:buFont typeface="Nunito"/>
              <a:buChar char="•"/>
            </a:pPr>
            <a:r>
              <a:rPr sz="1200" b="0" i="0">
                <a:solidFill>
                  <a:srgbClr val="1F2A33"/>
                </a:solidFill>
                <a:latin typeface="Nunito"/>
              </a:rPr>
              <a:t>DENY always wins over GRANT in permission resolution</a:t>
            </a:r>
          </a:p>
          <a:p>
            <a:pPr marL="164592" indent="-164592">
              <a:lnSpc>
                <a:spcPct val="106000"/>
              </a:lnSpc>
              <a:spcBef>
                <a:spcPts val="0"/>
              </a:spcBef>
              <a:spcAft>
                <a:spcPts val="800"/>
              </a:spcAft>
              <a:buFont typeface="Nunito"/>
              <a:buChar char="•"/>
            </a:pPr>
            <a:r>
              <a:rPr sz="1200" b="0" i="0">
                <a:solidFill>
                  <a:srgbClr val="1F2A33"/>
                </a:solidFill>
                <a:latin typeface="Nunito"/>
              </a:rPr>
              <a:t>Use database roles to group permissions, not individual user grants</a:t>
            </a:r>
          </a:p>
          <a:p>
            <a:pPr marL="164592" indent="-164592">
              <a:lnSpc>
                <a:spcPct val="106000"/>
              </a:lnSpc>
              <a:spcBef>
                <a:spcPts val="0"/>
              </a:spcBef>
              <a:spcAft>
                <a:spcPts val="800"/>
              </a:spcAft>
              <a:buFont typeface="Nunito"/>
              <a:buChar char="•"/>
            </a:pPr>
            <a:r>
              <a:rPr sz="1200" b="0" i="0">
                <a:solidFill>
                  <a:srgbClr val="1F2A33"/>
                </a:solidFill>
                <a:latin typeface="Nunito"/>
              </a:rPr>
              <a:t>Fixed roles: db_datareader, db_datawriter, db_ddladmin</a:t>
            </a:r>
          </a:p>
          <a:p>
            <a:pPr marL="164592" indent="-164592">
              <a:lnSpc>
                <a:spcPct val="106000"/>
              </a:lnSpc>
              <a:spcBef>
                <a:spcPts val="0"/>
              </a:spcBef>
              <a:spcAft>
                <a:spcPts val="800"/>
              </a:spcAft>
              <a:buFont typeface="Nunito"/>
              <a:buChar char="•"/>
            </a:pPr>
            <a:r>
              <a:rPr sz="1200" b="0" i="0">
                <a:solidFill>
                  <a:srgbClr val="1F2A33"/>
                </a:solidFill>
                <a:latin typeface="Nunito"/>
              </a:rPr>
              <a:t>Custom roles: CREATE ROLE [OrderProcessor] for fine-grained control</a:t>
            </a:r>
          </a:p>
          <a:p>
            <a:pPr marL="164592" indent="-164592">
              <a:lnSpc>
                <a:spcPct val="106000"/>
              </a:lnSpc>
              <a:spcBef>
                <a:spcPts val="0"/>
              </a:spcBef>
              <a:spcAft>
                <a:spcPts val="800"/>
              </a:spcAft>
              <a:buFont typeface="Nunito"/>
              <a:buChar char="•"/>
            </a:pPr>
            <a:r>
              <a:rPr sz="1200" b="0" i="0">
                <a:solidFill>
                  <a:srgbClr val="1F2A33"/>
                </a:solidFill>
                <a:latin typeface="Nunito"/>
              </a:rPr>
              <a:t>Principle: grant minimum permissions needed for each function</a:t>
            </a:r>
          </a:p>
        </p:txBody>
      </p:sp>
      <p:sp>
        <p:nvSpPr>
          <p:cNvPr id="11" name="Rounded Rectangle 10"/>
          <p:cNvSpPr/>
          <p:nvPr/>
        </p:nvSpPr>
        <p:spPr>
          <a:xfrm>
            <a:off x="6227064" y="1417320"/>
            <a:ext cx="5413248"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36792" y="1417320"/>
            <a:ext cx="5193792" cy="54864"/>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581912"/>
            <a:ext cx="5010912" cy="292608"/>
          </a:xfrm>
          <a:prstGeom prst="rect">
            <a:avLst/>
          </a:prstGeom>
          <a:noFill/>
        </p:spPr>
        <p:txBody>
          <a:bodyPr wrap="square" lIns="0" rIns="0" tIns="0" bIns="0">
            <a:spAutoFit/>
          </a:bodyPr>
          <a:lstStyle/>
          <a:p>
            <a:pPr>
              <a:spcBef>
                <a:spcPts val="0"/>
              </a:spcBef>
              <a:spcAft>
                <a:spcPts val="0"/>
              </a:spcAft>
            </a:pPr>
            <a:r>
              <a:rPr sz="1600" b="1" i="0">
                <a:solidFill>
                  <a:srgbClr val="1F2A33"/>
                </a:solidFill>
                <a:latin typeface="Bricolage Grotesque"/>
              </a:rPr>
              <a:t>🔒  Modern Secure Access</a:t>
            </a:r>
          </a:p>
        </p:txBody>
      </p:sp>
      <p:sp>
        <p:nvSpPr>
          <p:cNvPr id="14" name="TextBox 13"/>
          <p:cNvSpPr txBox="1"/>
          <p:nvPr/>
        </p:nvSpPr>
        <p:spPr>
          <a:xfrm>
            <a:off x="6428232" y="1947672"/>
            <a:ext cx="5010912" cy="4224528"/>
          </a:xfrm>
          <a:prstGeom prst="rect">
            <a:avLst/>
          </a:prstGeom>
          <a:noFill/>
        </p:spPr>
        <p:txBody>
          <a:bodyPr wrap="square" lIns="0" rIns="0" tIns="0" bIns="0">
            <a:spAutoFit/>
          </a:bodyPr>
          <a:lstStyle/>
          <a:p>
            <a:pPr>
              <a:lnSpc>
                <a:spcPct val="100000"/>
              </a:lnSpc>
              <a:spcBef>
                <a:spcPts val="0"/>
              </a:spcBef>
              <a:spcAft>
                <a:spcPts val="100"/>
              </a:spcAft>
              <a:buNone/>
            </a:pPr>
            <a:r>
              <a:rPr sz="1400" b="1" i="0">
                <a:solidFill>
                  <a:srgbClr val="3BB283"/>
                </a:solidFill>
                <a:latin typeface="Nunito"/>
              </a:rPr>
              <a:t>Passwordless Authentication</a:t>
            </a:r>
          </a:p>
          <a:p>
            <a:pPr>
              <a:lnSpc>
                <a:spcPct val="105000"/>
              </a:lnSpc>
              <a:spcBef>
                <a:spcPts val="0"/>
              </a:spcBef>
              <a:spcAft>
                <a:spcPts val="1400"/>
              </a:spcAft>
              <a:buNone/>
            </a:pPr>
            <a:r>
              <a:rPr sz="1200" b="0" i="0">
                <a:solidFill>
                  <a:srgbClr val="1F2A33"/>
                </a:solidFill>
                <a:latin typeface="Nunito"/>
              </a:rPr>
              <a:t>Microsoft Entra ID authentication instead of SQL auth with stored passwords</a:t>
            </a:r>
          </a:p>
          <a:p>
            <a:pPr>
              <a:lnSpc>
                <a:spcPct val="100000"/>
              </a:lnSpc>
              <a:spcBef>
                <a:spcPts val="0"/>
              </a:spcBef>
              <a:spcAft>
                <a:spcPts val="100"/>
              </a:spcAft>
              <a:buNone/>
            </a:pPr>
            <a:r>
              <a:rPr sz="1400" b="1" i="0">
                <a:solidFill>
                  <a:srgbClr val="3BB283"/>
                </a:solidFill>
                <a:latin typeface="Nunito"/>
              </a:rPr>
              <a:t>Managed Identity</a:t>
            </a:r>
          </a:p>
          <a:p>
            <a:pPr>
              <a:lnSpc>
                <a:spcPct val="105000"/>
              </a:lnSpc>
              <a:spcBef>
                <a:spcPts val="0"/>
              </a:spcBef>
              <a:spcAft>
                <a:spcPts val="1400"/>
              </a:spcAft>
              <a:buNone/>
            </a:pPr>
            <a:r>
              <a:rPr sz="1200" b="0" i="0">
                <a:solidFill>
                  <a:srgbClr val="1F2A33"/>
                </a:solidFill>
                <a:latin typeface="Nunito"/>
              </a:rPr>
              <a:t>System or user-assigned identities for service-to-service access without credentials in code</a:t>
            </a:r>
          </a:p>
          <a:p>
            <a:pPr>
              <a:lnSpc>
                <a:spcPct val="100000"/>
              </a:lnSpc>
              <a:spcBef>
                <a:spcPts val="0"/>
              </a:spcBef>
              <a:spcAft>
                <a:spcPts val="100"/>
              </a:spcAft>
              <a:buNone/>
            </a:pPr>
            <a:r>
              <a:rPr sz="1400" b="1" i="0">
                <a:solidFill>
                  <a:srgbClr val="3BB283"/>
                </a:solidFill>
                <a:latin typeface="Nunito"/>
              </a:rPr>
              <a:t>Secure Model Endpoints</a:t>
            </a:r>
          </a:p>
          <a:p>
            <a:pPr>
              <a:lnSpc>
                <a:spcPct val="105000"/>
              </a:lnSpc>
              <a:spcBef>
                <a:spcPts val="0"/>
              </a:spcBef>
              <a:spcAft>
                <a:spcPts val="1400"/>
              </a:spcAft>
              <a:buNone/>
            </a:pPr>
            <a:r>
              <a:rPr sz="1200" b="0" i="0">
                <a:solidFill>
                  <a:srgbClr val="1F2A33"/>
                </a:solidFill>
                <a:latin typeface="Nunito"/>
              </a:rPr>
              <a:t>Managed Identity to authenticate when calling AI model endpoints from SQL</a:t>
            </a:r>
          </a:p>
          <a:p>
            <a:pPr>
              <a:lnSpc>
                <a:spcPct val="100000"/>
              </a:lnSpc>
              <a:spcBef>
                <a:spcPts val="0"/>
              </a:spcBef>
              <a:spcAft>
                <a:spcPts val="100"/>
              </a:spcAft>
              <a:buNone/>
            </a:pPr>
            <a:r>
              <a:rPr sz="1400" b="1" i="0">
                <a:solidFill>
                  <a:srgbClr val="3BB283"/>
                </a:solidFill>
                <a:latin typeface="Nunito"/>
              </a:rPr>
              <a:t>Secure API Endpoints</a:t>
            </a:r>
          </a:p>
          <a:p>
            <a:pPr>
              <a:lnSpc>
                <a:spcPct val="105000"/>
              </a:lnSpc>
              <a:spcBef>
                <a:spcPts val="0"/>
              </a:spcBef>
              <a:spcAft>
                <a:spcPts val="1400"/>
              </a:spcAft>
              <a:buNone/>
            </a:pPr>
            <a:r>
              <a:rPr sz="1200" b="0" i="0">
                <a:solidFill>
                  <a:srgbClr val="1F2A33"/>
                </a:solidFill>
                <a:latin typeface="Nunito"/>
              </a:rPr>
              <a:t>Protect GraphQL, REST, and MCP endpoints with auth, authorization, and auditing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1</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8</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Auditing &amp; Compliance</a:t>
            </a:r>
          </a:p>
        </p:txBody>
      </p:sp>
      <p:sp>
        <p:nvSpPr>
          <p:cNvPr id="5" name="Rounded Rectangle 4"/>
          <p:cNvSpPr/>
          <p:nvPr/>
        </p:nvSpPr>
        <p:spPr>
          <a:xfrm>
            <a:off x="548640" y="841248"/>
            <a:ext cx="658368" cy="73152"/>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Capture compliance evidence with comprehensive audit trails across all SQL platforms.</a:t>
            </a:r>
          </a:p>
        </p:txBody>
      </p:sp>
      <p:sp>
        <p:nvSpPr>
          <p:cNvPr id="7" name="Rounded Rectangle 6"/>
          <p:cNvSpPr/>
          <p:nvPr/>
        </p:nvSpPr>
        <p:spPr>
          <a:xfrm>
            <a:off x="548640" y="1417320"/>
            <a:ext cx="3520440"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3300984" cy="54864"/>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3118104" cy="292608"/>
          </a:xfrm>
          <a:prstGeom prst="rect">
            <a:avLst/>
          </a:prstGeom>
          <a:noFill/>
        </p:spPr>
        <p:txBody>
          <a:bodyPr wrap="square" lIns="0" rIns="0" tIns="0" bIns="0">
            <a:spAutoFit/>
          </a:bodyPr>
          <a:lstStyle/>
          <a:p>
            <a:pPr>
              <a:spcBef>
                <a:spcPts val="0"/>
              </a:spcBef>
              <a:spcAft>
                <a:spcPts val="0"/>
              </a:spcAft>
            </a:pPr>
            <a:r>
              <a:rPr sz="1400" b="1" i="0">
                <a:solidFill>
                  <a:srgbClr val="1F2A33"/>
                </a:solidFill>
                <a:latin typeface="Bricolage Grotesque"/>
              </a:rPr>
              <a:t>📋  SQL Server Audit</a:t>
            </a:r>
          </a:p>
        </p:txBody>
      </p:sp>
      <p:sp>
        <p:nvSpPr>
          <p:cNvPr id="10" name="TextBox 9"/>
          <p:cNvSpPr txBox="1"/>
          <p:nvPr/>
        </p:nvSpPr>
        <p:spPr>
          <a:xfrm>
            <a:off x="749808" y="1947672"/>
            <a:ext cx="3118104" cy="4224528"/>
          </a:xfrm>
          <a:prstGeom prst="rect">
            <a:avLst/>
          </a:prstGeom>
          <a:noFill/>
        </p:spPr>
        <p:txBody>
          <a:bodyPr wrap="square" lIns="0" rIns="0" tIns="0" bIns="0">
            <a:spAutoFit/>
          </a:bodyPr>
          <a:lstStyle/>
          <a:p>
            <a:pPr marL="164592" indent="-164592">
              <a:lnSpc>
                <a:spcPct val="106000"/>
              </a:lnSpc>
              <a:spcBef>
                <a:spcPts val="0"/>
              </a:spcBef>
              <a:spcAft>
                <a:spcPts val="900"/>
              </a:spcAft>
              <a:buFont typeface="Nunito"/>
              <a:buChar char="•"/>
            </a:pPr>
            <a:r>
              <a:rPr sz="1100" b="0" i="0">
                <a:solidFill>
                  <a:srgbClr val="1F2A33"/>
                </a:solidFill>
                <a:latin typeface="Nunito"/>
              </a:rPr>
              <a:t>Server-level and database-level audit specs</a:t>
            </a:r>
          </a:p>
          <a:p>
            <a:pPr marL="164592" indent="-164592">
              <a:lnSpc>
                <a:spcPct val="106000"/>
              </a:lnSpc>
              <a:spcBef>
                <a:spcPts val="0"/>
              </a:spcBef>
              <a:spcAft>
                <a:spcPts val="900"/>
              </a:spcAft>
              <a:buFont typeface="Nunito"/>
              <a:buChar char="•"/>
            </a:pPr>
            <a:r>
              <a:rPr sz="1100" b="0" i="0">
                <a:solidFill>
                  <a:srgbClr val="1F2A33"/>
                </a:solidFill>
                <a:latin typeface="Nunito"/>
              </a:rPr>
              <a:t>Writes to Event Log or file targets</a:t>
            </a:r>
          </a:p>
          <a:p>
            <a:pPr marL="164592" indent="-164592">
              <a:lnSpc>
                <a:spcPct val="106000"/>
              </a:lnSpc>
              <a:spcBef>
                <a:spcPts val="0"/>
              </a:spcBef>
              <a:spcAft>
                <a:spcPts val="900"/>
              </a:spcAft>
              <a:buFont typeface="Nunito"/>
              <a:buChar char="•"/>
            </a:pPr>
            <a:r>
              <a:rPr sz="1100" b="0" i="0">
                <a:solidFill>
                  <a:srgbClr val="1F2A33"/>
                </a:solidFill>
                <a:latin typeface="Nunito"/>
              </a:rPr>
              <a:t>Audit groups: BATCH_COMPLETED, LOGIN_CHANGE, SCHEMA_OBJECT_ACCESS</a:t>
            </a:r>
          </a:p>
          <a:p>
            <a:pPr marL="164592" indent="-164592">
              <a:lnSpc>
                <a:spcPct val="106000"/>
              </a:lnSpc>
              <a:spcBef>
                <a:spcPts val="0"/>
              </a:spcBef>
              <a:spcAft>
                <a:spcPts val="900"/>
              </a:spcAft>
              <a:buFont typeface="Nunito"/>
              <a:buChar char="•"/>
            </a:pPr>
            <a:r>
              <a:rPr sz="1100" b="0" i="0">
                <a:solidFill>
                  <a:srgbClr val="1F2A33"/>
                </a:solidFill>
                <a:latin typeface="Nunito"/>
              </a:rPr>
              <a:t>Fine-grained action groups per DB object</a:t>
            </a:r>
          </a:p>
          <a:p>
            <a:pPr marL="164592" indent="-164592">
              <a:lnSpc>
                <a:spcPct val="106000"/>
              </a:lnSpc>
              <a:spcBef>
                <a:spcPts val="0"/>
              </a:spcBef>
              <a:spcAft>
                <a:spcPts val="900"/>
              </a:spcAft>
              <a:buFont typeface="Nunito"/>
              <a:buChar char="•"/>
            </a:pPr>
            <a:r>
              <a:rPr sz="1100" b="0" i="0">
                <a:solidFill>
                  <a:srgbClr val="1F2A33"/>
                </a:solidFill>
                <a:latin typeface="Nunito"/>
              </a:rPr>
              <a:t>Combine with Extended Events for diagnostics</a:t>
            </a:r>
          </a:p>
        </p:txBody>
      </p:sp>
      <p:sp>
        <p:nvSpPr>
          <p:cNvPr id="11" name="Rounded Rectangle 10"/>
          <p:cNvSpPr/>
          <p:nvPr/>
        </p:nvSpPr>
        <p:spPr>
          <a:xfrm>
            <a:off x="4334256" y="1417320"/>
            <a:ext cx="3520440"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43984" y="1417320"/>
            <a:ext cx="3300984" cy="54864"/>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581912"/>
            <a:ext cx="3118104" cy="292608"/>
          </a:xfrm>
          <a:prstGeom prst="rect">
            <a:avLst/>
          </a:prstGeom>
          <a:noFill/>
        </p:spPr>
        <p:txBody>
          <a:bodyPr wrap="square" lIns="0" rIns="0" tIns="0" bIns="0">
            <a:spAutoFit/>
          </a:bodyPr>
          <a:lstStyle/>
          <a:p>
            <a:pPr>
              <a:spcBef>
                <a:spcPts val="0"/>
              </a:spcBef>
              <a:spcAft>
                <a:spcPts val="0"/>
              </a:spcAft>
            </a:pPr>
            <a:r>
              <a:rPr sz="1400" b="1" i="0">
                <a:solidFill>
                  <a:srgbClr val="1F2A33"/>
                </a:solidFill>
                <a:latin typeface="Bricolage Grotesque"/>
              </a:rPr>
              <a:t>☁  Azure SQL Auditing</a:t>
            </a:r>
          </a:p>
        </p:txBody>
      </p:sp>
      <p:sp>
        <p:nvSpPr>
          <p:cNvPr id="14" name="TextBox 13"/>
          <p:cNvSpPr txBox="1"/>
          <p:nvPr/>
        </p:nvSpPr>
        <p:spPr>
          <a:xfrm>
            <a:off x="4535424" y="1947672"/>
            <a:ext cx="3118104" cy="4224528"/>
          </a:xfrm>
          <a:prstGeom prst="rect">
            <a:avLst/>
          </a:prstGeom>
          <a:noFill/>
        </p:spPr>
        <p:txBody>
          <a:bodyPr wrap="square" lIns="0" rIns="0" tIns="0" bIns="0">
            <a:spAutoFit/>
          </a:bodyPr>
          <a:lstStyle/>
          <a:p>
            <a:pPr marL="164592" indent="-164592">
              <a:lnSpc>
                <a:spcPct val="106000"/>
              </a:lnSpc>
              <a:spcBef>
                <a:spcPts val="0"/>
              </a:spcBef>
              <a:spcAft>
                <a:spcPts val="900"/>
              </a:spcAft>
              <a:buFont typeface="Nunito"/>
              <a:buChar char="•"/>
            </a:pPr>
            <a:r>
              <a:rPr sz="1100" b="0" i="0">
                <a:solidFill>
                  <a:srgbClr val="1F2A33"/>
                </a:solidFill>
                <a:latin typeface="Nunito"/>
              </a:rPr>
              <a:t>Built-in auditing to Blob Storage or Log Analytics</a:t>
            </a:r>
          </a:p>
          <a:p>
            <a:pPr marL="164592" indent="-164592">
              <a:lnSpc>
                <a:spcPct val="106000"/>
              </a:lnSpc>
              <a:spcBef>
                <a:spcPts val="0"/>
              </a:spcBef>
              <a:spcAft>
                <a:spcPts val="900"/>
              </a:spcAft>
              <a:buFont typeface="Nunito"/>
              <a:buChar char="•"/>
            </a:pPr>
            <a:r>
              <a:rPr sz="1100" b="0" i="0">
                <a:solidFill>
                  <a:srgbClr val="1F2A33"/>
                </a:solidFill>
                <a:latin typeface="Nunito"/>
              </a:rPr>
              <a:t>Automatic capture of all DML and DDL ops</a:t>
            </a:r>
          </a:p>
          <a:p>
            <a:pPr marL="164592" indent="-164592">
              <a:lnSpc>
                <a:spcPct val="106000"/>
              </a:lnSpc>
              <a:spcBef>
                <a:spcPts val="0"/>
              </a:spcBef>
              <a:spcAft>
                <a:spcPts val="900"/>
              </a:spcAft>
              <a:buFont typeface="Nunito"/>
              <a:buChar char="•"/>
            </a:pPr>
            <a:r>
              <a:rPr sz="1100" b="0" i="0">
                <a:solidFill>
                  <a:srgbClr val="1F2A33"/>
                </a:solidFill>
                <a:latin typeface="Nunito"/>
              </a:rPr>
              <a:t>Integration with Microsoft Defender for SQL</a:t>
            </a:r>
          </a:p>
          <a:p>
            <a:pPr marL="164592" indent="-164592">
              <a:lnSpc>
                <a:spcPct val="106000"/>
              </a:lnSpc>
              <a:spcBef>
                <a:spcPts val="0"/>
              </a:spcBef>
              <a:spcAft>
                <a:spcPts val="900"/>
              </a:spcAft>
              <a:buFont typeface="Nunito"/>
              <a:buChar char="•"/>
            </a:pPr>
            <a:r>
              <a:rPr sz="1100" b="0" i="0">
                <a:solidFill>
                  <a:srgbClr val="1F2A33"/>
                </a:solidFill>
                <a:latin typeface="Nunito"/>
              </a:rPr>
              <a:t>Threat detection: SQL injection, anomalous access</a:t>
            </a:r>
          </a:p>
          <a:p>
            <a:pPr marL="164592" indent="-164592">
              <a:lnSpc>
                <a:spcPct val="106000"/>
              </a:lnSpc>
              <a:spcBef>
                <a:spcPts val="0"/>
              </a:spcBef>
              <a:spcAft>
                <a:spcPts val="900"/>
              </a:spcAft>
              <a:buFont typeface="Nunito"/>
              <a:buChar char="•"/>
            </a:pPr>
            <a:r>
              <a:rPr sz="1100" b="0" i="0">
                <a:solidFill>
                  <a:srgbClr val="1F2A33"/>
                </a:solidFill>
                <a:latin typeface="Nunito"/>
              </a:rPr>
              <a:t>90-day default retention, configurable to years</a:t>
            </a:r>
          </a:p>
        </p:txBody>
      </p:sp>
      <p:sp>
        <p:nvSpPr>
          <p:cNvPr id="15" name="Rounded Rectangle 14"/>
          <p:cNvSpPr/>
          <p:nvPr/>
        </p:nvSpPr>
        <p:spPr>
          <a:xfrm>
            <a:off x="8119872" y="1417320"/>
            <a:ext cx="3520440"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1417320"/>
            <a:ext cx="3300984" cy="54864"/>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581912"/>
            <a:ext cx="3118104" cy="292608"/>
          </a:xfrm>
          <a:prstGeom prst="rect">
            <a:avLst/>
          </a:prstGeom>
          <a:noFill/>
        </p:spPr>
        <p:txBody>
          <a:bodyPr wrap="square" lIns="0" rIns="0" tIns="0" bIns="0">
            <a:spAutoFit/>
          </a:bodyPr>
          <a:lstStyle/>
          <a:p>
            <a:pPr>
              <a:spcBef>
                <a:spcPts val="0"/>
              </a:spcBef>
              <a:spcAft>
                <a:spcPts val="0"/>
              </a:spcAft>
            </a:pPr>
            <a:r>
              <a:rPr sz="1400" b="1" i="0">
                <a:solidFill>
                  <a:srgbClr val="1F2A33"/>
                </a:solidFill>
                <a:latin typeface="Bricolage Grotesque"/>
              </a:rPr>
              <a:t>✅  Compliance Features</a:t>
            </a:r>
          </a:p>
        </p:txBody>
      </p:sp>
      <p:sp>
        <p:nvSpPr>
          <p:cNvPr id="18" name="TextBox 17"/>
          <p:cNvSpPr txBox="1"/>
          <p:nvPr/>
        </p:nvSpPr>
        <p:spPr>
          <a:xfrm>
            <a:off x="8321040" y="1947672"/>
            <a:ext cx="3118104" cy="4224528"/>
          </a:xfrm>
          <a:prstGeom prst="rect">
            <a:avLst/>
          </a:prstGeom>
          <a:noFill/>
        </p:spPr>
        <p:txBody>
          <a:bodyPr wrap="square" lIns="0" rIns="0" tIns="0" bIns="0">
            <a:spAutoFit/>
          </a:bodyPr>
          <a:lstStyle/>
          <a:p>
            <a:pPr marL="164592" indent="-164592">
              <a:lnSpc>
                <a:spcPct val="106000"/>
              </a:lnSpc>
              <a:spcBef>
                <a:spcPts val="0"/>
              </a:spcBef>
              <a:spcAft>
                <a:spcPts val="900"/>
              </a:spcAft>
              <a:buFont typeface="Nunito"/>
              <a:buChar char="•"/>
            </a:pPr>
            <a:r>
              <a:rPr sz="1100" b="0" i="0">
                <a:solidFill>
                  <a:srgbClr val="1F2A33"/>
                </a:solidFill>
                <a:latin typeface="Nunito"/>
              </a:rPr>
              <a:t>Data classification: sensitivity labels on columns</a:t>
            </a:r>
          </a:p>
          <a:p>
            <a:pPr marL="164592" indent="-164592">
              <a:lnSpc>
                <a:spcPct val="106000"/>
              </a:lnSpc>
              <a:spcBef>
                <a:spcPts val="0"/>
              </a:spcBef>
              <a:spcAft>
                <a:spcPts val="900"/>
              </a:spcAft>
              <a:buFont typeface="Nunito"/>
              <a:buChar char="•"/>
            </a:pPr>
            <a:r>
              <a:rPr sz="1100" b="0" i="0">
                <a:solidFill>
                  <a:srgbClr val="1F2A33"/>
                </a:solidFill>
                <a:latin typeface="Nunito"/>
              </a:rPr>
              <a:t>Vulnerability assessment: automated security scans</a:t>
            </a:r>
          </a:p>
          <a:p>
            <a:pPr marL="164592" indent="-164592">
              <a:lnSpc>
                <a:spcPct val="106000"/>
              </a:lnSpc>
              <a:spcBef>
                <a:spcPts val="0"/>
              </a:spcBef>
              <a:spcAft>
                <a:spcPts val="900"/>
              </a:spcAft>
              <a:buFont typeface="Nunito"/>
              <a:buChar char="•"/>
            </a:pPr>
            <a:r>
              <a:rPr sz="1100" b="0" i="0">
                <a:solidFill>
                  <a:srgbClr val="1F2A33"/>
                </a:solidFill>
                <a:latin typeface="Nunito"/>
              </a:rPr>
              <a:t>Advanced Threat Protection alerts</a:t>
            </a:r>
          </a:p>
          <a:p>
            <a:pPr marL="164592" indent="-164592">
              <a:lnSpc>
                <a:spcPct val="106000"/>
              </a:lnSpc>
              <a:spcBef>
                <a:spcPts val="0"/>
              </a:spcBef>
              <a:spcAft>
                <a:spcPts val="900"/>
              </a:spcAft>
              <a:buFont typeface="Nunito"/>
              <a:buChar char="•"/>
            </a:pPr>
            <a:r>
              <a:rPr sz="1100" b="0" i="0">
                <a:solidFill>
                  <a:srgbClr val="1F2A33"/>
                </a:solidFill>
                <a:latin typeface="Nunito"/>
              </a:rPr>
              <a:t>Azure Policy for enforcing audit standards</a:t>
            </a:r>
          </a:p>
          <a:p>
            <a:pPr marL="164592" indent="-164592">
              <a:lnSpc>
                <a:spcPct val="106000"/>
              </a:lnSpc>
              <a:spcBef>
                <a:spcPts val="0"/>
              </a:spcBef>
              <a:spcAft>
                <a:spcPts val="900"/>
              </a:spcAft>
              <a:buFont typeface="Nunito"/>
              <a:buChar char="•"/>
            </a:pPr>
            <a:r>
              <a:rPr sz="1100" b="0" i="0">
                <a:solidFill>
                  <a:srgbClr val="1F2A33"/>
                </a:solidFill>
                <a:latin typeface="Nunito"/>
              </a:rPr>
              <a:t>GDPR, HIPAA, SOC 2 compliance evidence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1</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9</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Security Decision Guide</a:t>
            </a:r>
          </a:p>
        </p:txBody>
      </p:sp>
      <p:sp>
        <p:nvSpPr>
          <p:cNvPr id="5" name="Rounded Rectangle 4"/>
          <p:cNvSpPr/>
          <p:nvPr/>
        </p:nvSpPr>
        <p:spPr>
          <a:xfrm>
            <a:off x="548640" y="841248"/>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Choose the right security control based on what you need to protect and from whom.</a:t>
            </a:r>
          </a:p>
        </p:txBody>
      </p:sp>
      <p:graphicFrame>
        <p:nvGraphicFramePr>
          <p:cNvPr id="7" name="Table 6"/>
          <p:cNvGraphicFramePr>
            <a:graphicFrameLocks noGrp="1"/>
          </p:cNvGraphicFramePr>
          <p:nvPr/>
        </p:nvGraphicFramePr>
        <p:xfrm>
          <a:off x="548640" y="1417320"/>
          <a:ext cx="11091672" cy="3977639"/>
        </p:xfrm>
        <a:graphic>
          <a:graphicData uri="http://schemas.openxmlformats.org/drawingml/2006/table">
            <a:tbl>
              <a:tblPr firstRow="1" bandRow="1">
                <a:tableStyleId>{5C22544A-7EE6-4342-B048-85BDC9FD1C3A}</a:tableStyleId>
              </a:tblPr>
              <a:tblGrid>
                <a:gridCol w="5394960"/>
                <a:gridCol w="5696712"/>
              </a:tblGrid>
              <a:tr h="441959">
                <a:tc>
                  <a:txBody>
                    <a:bodyPr wrap="square"/>
                    <a:lstStyle/>
                    <a:p>
                      <a:r>
                        <a:rPr sz="1300" b="1" i="0">
                          <a:solidFill>
                            <a:srgbClr val="F6F2EA"/>
                          </a:solidFill>
                          <a:latin typeface="Nunito"/>
                        </a:rPr>
                        <a:t>Requirement</a:t>
                      </a:r>
                    </a:p>
                  </a:txBody>
                  <a:tcPr marL="73152" marR="73152" marT="27432" marB="27432" anchor="ctr">
                    <a:solidFill>
                      <a:srgbClr val="3D768E"/>
                    </a:solidFill>
                  </a:tcPr>
                </a:tc>
                <a:tc>
                  <a:txBody>
                    <a:bodyPr wrap="square"/>
                    <a:lstStyle/>
                    <a:p>
                      <a:r>
                        <a:rPr sz="1300" b="1" i="0">
                          <a:solidFill>
                            <a:srgbClr val="F6F2EA"/>
                          </a:solidFill>
                          <a:latin typeface="Nunito"/>
                        </a:rPr>
                        <a:t>Recommended Control</a:t>
                      </a:r>
                    </a:p>
                  </a:txBody>
                  <a:tcPr marL="73152" marR="73152" marT="27432" marB="27432" anchor="ctr">
                    <a:solidFill>
                      <a:srgbClr val="3D768E"/>
                    </a:solidFill>
                  </a:tcPr>
                </a:tc>
              </a:tr>
              <a:tr h="441959">
                <a:tc>
                  <a:txBody>
                    <a:bodyPr wrap="square"/>
                    <a:lstStyle/>
                    <a:p>
                      <a:r>
                        <a:rPr sz="1250" b="1" i="0">
                          <a:solidFill>
                            <a:srgbClr val="1F2A33"/>
                          </a:solidFill>
                          <a:latin typeface="Nunito"/>
                        </a:rPr>
                        <a:t>DBA must not see plaintext data</a:t>
                      </a:r>
                    </a:p>
                  </a:txBody>
                  <a:tcPr marL="73152" marR="73152" marT="27432" marB="27432" anchor="ctr">
                    <a:solidFill>
                      <a:srgbClr val="FDFAF3"/>
                    </a:solidFill>
                  </a:tcPr>
                </a:tc>
                <a:tc>
                  <a:txBody>
                    <a:bodyPr wrap="square"/>
                    <a:lstStyle/>
                    <a:p>
                      <a:r>
                        <a:rPr sz="1250" b="1" i="0">
                          <a:solidFill>
                            <a:srgbClr val="2C6A82"/>
                          </a:solidFill>
                          <a:latin typeface="Nunito"/>
                        </a:rPr>
                        <a:t>Always Encrypted (client-side encryption)</a:t>
                      </a:r>
                    </a:p>
                  </a:txBody>
                  <a:tcPr marL="73152" marR="73152" marT="27432" marB="27432" anchor="ctr">
                    <a:solidFill>
                      <a:srgbClr val="FDFAF3"/>
                    </a:solidFill>
                  </a:tcPr>
                </a:tc>
              </a:tr>
              <a:tr h="441959">
                <a:tc>
                  <a:txBody>
                    <a:bodyPr wrap="square"/>
                    <a:lstStyle/>
                    <a:p>
                      <a:r>
                        <a:rPr sz="1250" b="1" i="0">
                          <a:solidFill>
                            <a:srgbClr val="1F2A33"/>
                          </a:solidFill>
                          <a:latin typeface="Nunito"/>
                        </a:rPr>
                        <a:t>Encrypt specific columns, server trust OK</a:t>
                      </a:r>
                    </a:p>
                  </a:txBody>
                  <a:tcPr marL="73152" marR="73152" marT="27432" marB="27432" anchor="ctr">
                    <a:solidFill>
                      <a:srgbClr val="F6F2EA"/>
                    </a:solidFill>
                  </a:tcPr>
                </a:tc>
                <a:tc>
                  <a:txBody>
                    <a:bodyPr wrap="square"/>
                    <a:lstStyle/>
                    <a:p>
                      <a:r>
                        <a:rPr sz="1250" b="1" i="0">
                          <a:solidFill>
                            <a:srgbClr val="2C6A82"/>
                          </a:solidFill>
                          <a:latin typeface="Nunito"/>
                        </a:rPr>
                        <a:t>Column-level encryption (EncryptByKey)</a:t>
                      </a:r>
                    </a:p>
                  </a:txBody>
                  <a:tcPr marL="73152" marR="73152" marT="27432" marB="27432" anchor="ctr">
                    <a:solidFill>
                      <a:srgbClr val="F6F2EA"/>
                    </a:solidFill>
                  </a:tcPr>
                </a:tc>
              </a:tr>
              <a:tr h="441959">
                <a:tc>
                  <a:txBody>
                    <a:bodyPr wrap="square"/>
                    <a:lstStyle/>
                    <a:p>
                      <a:r>
                        <a:rPr sz="1250" b="1" i="0">
                          <a:solidFill>
                            <a:srgbClr val="1F2A33"/>
                          </a:solidFill>
                          <a:latin typeface="Nunito"/>
                        </a:rPr>
                        <a:t>Hide values from some users</a:t>
                      </a:r>
                    </a:p>
                  </a:txBody>
                  <a:tcPr marL="73152" marR="73152" marT="27432" marB="27432" anchor="ctr">
                    <a:solidFill>
                      <a:srgbClr val="FDFAF3"/>
                    </a:solidFill>
                  </a:tcPr>
                </a:tc>
                <a:tc>
                  <a:txBody>
                    <a:bodyPr wrap="square"/>
                    <a:lstStyle/>
                    <a:p>
                      <a:r>
                        <a:rPr sz="1250" b="1" i="0">
                          <a:solidFill>
                            <a:srgbClr val="2C6A82"/>
                          </a:solidFill>
                          <a:latin typeface="Nunito"/>
                        </a:rPr>
                        <a:t>Dynamic Data Masking + UNMASK permission</a:t>
                      </a:r>
                    </a:p>
                  </a:txBody>
                  <a:tcPr marL="73152" marR="73152" marT="27432" marB="27432" anchor="ctr">
                    <a:solidFill>
                      <a:srgbClr val="FDFAF3"/>
                    </a:solidFill>
                  </a:tcPr>
                </a:tc>
              </a:tr>
              <a:tr h="441959">
                <a:tc>
                  <a:txBody>
                    <a:bodyPr wrap="square"/>
                    <a:lstStyle/>
                    <a:p>
                      <a:r>
                        <a:rPr sz="1250" b="1" i="0">
                          <a:solidFill>
                            <a:srgbClr val="1F2A33"/>
                          </a:solidFill>
                          <a:latin typeface="Nunito"/>
                        </a:rPr>
                        <a:t>Each user sees only their own rows</a:t>
                      </a:r>
                    </a:p>
                  </a:txBody>
                  <a:tcPr marL="73152" marR="73152" marT="27432" marB="27432" anchor="ctr">
                    <a:solidFill>
                      <a:srgbClr val="F6F2EA"/>
                    </a:solidFill>
                  </a:tcPr>
                </a:tc>
                <a:tc>
                  <a:txBody>
                    <a:bodyPr wrap="square"/>
                    <a:lstStyle/>
                    <a:p>
                      <a:r>
                        <a:rPr sz="1250" b="1" i="0">
                          <a:solidFill>
                            <a:srgbClr val="2C6A82"/>
                          </a:solidFill>
                          <a:latin typeface="Nunito"/>
                        </a:rPr>
                        <a:t>Row-Level Security (filter predicate)</a:t>
                      </a:r>
                    </a:p>
                  </a:txBody>
                  <a:tcPr marL="73152" marR="73152" marT="27432" marB="27432" anchor="ctr">
                    <a:solidFill>
                      <a:srgbClr val="F6F2EA"/>
                    </a:solidFill>
                  </a:tcPr>
                </a:tc>
              </a:tr>
              <a:tr h="441959">
                <a:tc>
                  <a:txBody>
                    <a:bodyPr wrap="square"/>
                    <a:lstStyle/>
                    <a:p>
                      <a:r>
                        <a:rPr sz="1250" b="1" i="0">
                          <a:solidFill>
                            <a:srgbClr val="1F2A33"/>
                          </a:solidFill>
                          <a:latin typeface="Nunito"/>
                        </a:rPr>
                        <a:t>Restrict who can query tables or execute SPs</a:t>
                      </a:r>
                    </a:p>
                  </a:txBody>
                  <a:tcPr marL="73152" marR="73152" marT="27432" marB="27432" anchor="ctr">
                    <a:solidFill>
                      <a:srgbClr val="FDFAF3"/>
                    </a:solidFill>
                  </a:tcPr>
                </a:tc>
                <a:tc>
                  <a:txBody>
                    <a:bodyPr wrap="square"/>
                    <a:lstStyle/>
                    <a:p>
                      <a:r>
                        <a:rPr sz="1250" b="1" i="0">
                          <a:solidFill>
                            <a:srgbClr val="2C6A82"/>
                          </a:solidFill>
                          <a:latin typeface="Nunito"/>
                        </a:rPr>
                        <a:t>Object-level permissions (GRANT/DENY/REVOKE)</a:t>
                      </a:r>
                    </a:p>
                  </a:txBody>
                  <a:tcPr marL="73152" marR="73152" marT="27432" marB="27432" anchor="ctr">
                    <a:solidFill>
                      <a:srgbClr val="FDFAF3"/>
                    </a:solidFill>
                  </a:tcPr>
                </a:tc>
              </a:tr>
              <a:tr h="441959">
                <a:tc>
                  <a:txBody>
                    <a:bodyPr wrap="square"/>
                    <a:lstStyle/>
                    <a:p>
                      <a:r>
                        <a:rPr sz="1250" b="1" i="0">
                          <a:solidFill>
                            <a:srgbClr val="1F2A33"/>
                          </a:solidFill>
                          <a:latin typeface="Nunito"/>
                        </a:rPr>
                        <a:t>Eliminate passwords from application code</a:t>
                      </a:r>
                    </a:p>
                  </a:txBody>
                  <a:tcPr marL="73152" marR="73152" marT="27432" marB="27432" anchor="ctr">
                    <a:solidFill>
                      <a:srgbClr val="F6F2EA"/>
                    </a:solidFill>
                  </a:tcPr>
                </a:tc>
                <a:tc>
                  <a:txBody>
                    <a:bodyPr wrap="square"/>
                    <a:lstStyle/>
                    <a:p>
                      <a:r>
                        <a:rPr sz="1250" b="1" i="0">
                          <a:solidFill>
                            <a:srgbClr val="2C6A82"/>
                          </a:solidFill>
                          <a:latin typeface="Nunito"/>
                        </a:rPr>
                        <a:t>Passwordless auth + Managed Identity</a:t>
                      </a:r>
                    </a:p>
                  </a:txBody>
                  <a:tcPr marL="73152" marR="73152" marT="27432" marB="27432" anchor="ctr">
                    <a:solidFill>
                      <a:srgbClr val="F6F2EA"/>
                    </a:solidFill>
                  </a:tcPr>
                </a:tc>
              </a:tr>
              <a:tr h="441959">
                <a:tc>
                  <a:txBody>
                    <a:bodyPr wrap="square"/>
                    <a:lstStyle/>
                    <a:p>
                      <a:r>
                        <a:rPr sz="1250" b="1" i="0">
                          <a:solidFill>
                            <a:srgbClr val="1F2A33"/>
                          </a:solidFill>
                          <a:latin typeface="Nunito"/>
                        </a:rPr>
                        <a:t>Track who accessed what and when</a:t>
                      </a:r>
                    </a:p>
                  </a:txBody>
                  <a:tcPr marL="73152" marR="73152" marT="27432" marB="27432" anchor="ctr">
                    <a:solidFill>
                      <a:srgbClr val="FDFAF3"/>
                    </a:solidFill>
                  </a:tcPr>
                </a:tc>
                <a:tc>
                  <a:txBody>
                    <a:bodyPr wrap="square"/>
                    <a:lstStyle/>
                    <a:p>
                      <a:r>
                        <a:rPr sz="1250" b="1" i="0">
                          <a:solidFill>
                            <a:srgbClr val="2C6A82"/>
                          </a:solidFill>
                          <a:latin typeface="Nunito"/>
                        </a:rPr>
                        <a:t>Auditing (server &amp; database audit specs)</a:t>
                      </a:r>
                    </a:p>
                  </a:txBody>
                  <a:tcPr marL="73152" marR="73152" marT="27432" marB="27432" anchor="ctr">
                    <a:solidFill>
                      <a:srgbClr val="FDFAF3"/>
                    </a:solidFill>
                  </a:tcPr>
                </a:tc>
              </a:tr>
              <a:tr h="441967">
                <a:tc>
                  <a:txBody>
                    <a:bodyPr wrap="square"/>
                    <a:lstStyle/>
                    <a:p>
                      <a:r>
                        <a:rPr sz="1250" b="1" i="0">
                          <a:solidFill>
                            <a:srgbClr val="1F2A33"/>
                          </a:solidFill>
                          <a:latin typeface="Nunito"/>
                        </a:rPr>
                        <a:t>Detect SQL injection and anomalous access</a:t>
                      </a:r>
                    </a:p>
                  </a:txBody>
                  <a:tcPr marL="73152" marR="73152" marT="27432" marB="27432" anchor="ctr">
                    <a:solidFill>
                      <a:srgbClr val="F6F2EA"/>
                    </a:solidFill>
                  </a:tcPr>
                </a:tc>
                <a:tc>
                  <a:txBody>
                    <a:bodyPr wrap="square"/>
                    <a:lstStyle/>
                    <a:p>
                      <a:r>
                        <a:rPr sz="1250" b="1" i="0">
                          <a:solidFill>
                            <a:srgbClr val="2C6A82"/>
                          </a:solidFill>
                          <a:latin typeface="Nunito"/>
                        </a:rPr>
                        <a:t>Microsoft Defender for SQL + Threat Detection</a:t>
                      </a:r>
                    </a:p>
                  </a:txBody>
                  <a:tcPr marL="73152" marR="73152" marT="27432" marB="27432" anchor="ctr">
                    <a:solidFill>
                      <a:srgbClr val="F6F2EA"/>
                    </a:solidFill>
                  </a:tcPr>
                </a:tc>
              </a:tr>
            </a:tbl>
          </a:graphicData>
        </a:graphic>
      </p:graphicFrame>
      <p:sp>
        <p:nvSpPr>
          <p:cNvPr id="8" name="Rounded Rectangle 7"/>
          <p:cNvSpPr/>
          <p:nvPr/>
        </p:nvSpPr>
        <p:spPr>
          <a:xfrm>
            <a:off x="548640" y="5623560"/>
            <a:ext cx="11091672" cy="685800"/>
          </a:xfrm>
          <a:prstGeom prst="roundRect">
            <a:avLst>
              <a:gd name="adj" fmla="val 8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733288"/>
            <a:ext cx="10689336" cy="466344"/>
          </a:xfrm>
          <a:prstGeom prst="rect">
            <a:avLst/>
          </a:prstGeom>
          <a:noFill/>
        </p:spPr>
        <p:txBody>
          <a:bodyPr wrap="square" lIns="0" rIns="0" tIns="0" bIns="0" anchor="ctr">
            <a:spAutoFit/>
          </a:bodyPr>
          <a:lstStyle/>
          <a:p>
            <a:pPr>
              <a:lnSpc>
                <a:spcPct val="115000"/>
              </a:lnSpc>
              <a:spcBef>
                <a:spcPts val="0"/>
              </a:spcBef>
              <a:spcAft>
                <a:spcPts val="200"/>
              </a:spcAft>
            </a:pPr>
            <a:r>
              <a:rPr sz="1150" b="1" i="0">
                <a:solidFill>
                  <a:srgbClr val="FBC00A"/>
                </a:solidFill>
                <a:latin typeface="Nunito"/>
              </a:rPr>
              <a:t>Exam tip:</a:t>
            </a:r>
            <a:r>
              <a:rPr sz="1150" b="0" i="0">
                <a:solidFill>
                  <a:srgbClr val="1F2A33"/>
                </a:solidFill>
                <a:latin typeface="Nunito"/>
              </a:rPr>
              <a:t> Masking is obfuscation, not encryption. If the requirement is "DBA must not see plaintext," the answer is Always Encrypted, not DDM.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1D24"/>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1C2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1A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tretch>
            <a:fillRect/>
          </a:stretch>
        </p:blipFill>
        <p:spPr>
          <a:xfrm>
            <a:off x="777240" y="1965960"/>
            <a:ext cx="1691640" cy="1691640"/>
          </a:xfrm>
          <a:prstGeom prst="rect">
            <a:avLst/>
          </a:prstGeom>
        </p:spPr>
      </p:pic>
      <p:sp>
        <p:nvSpPr>
          <p:cNvPr id="5" name="TextBox 4"/>
          <p:cNvSpPr txBox="1"/>
          <p:nvPr/>
        </p:nvSpPr>
        <p:spPr>
          <a:xfrm>
            <a:off x="2880360" y="1481328"/>
            <a:ext cx="8503920" cy="457200"/>
          </a:xfrm>
          <a:prstGeom prst="rect">
            <a:avLst/>
          </a:prstGeom>
          <a:noFill/>
        </p:spPr>
        <p:txBody>
          <a:bodyPr wrap="square" lIns="0" rIns="0" tIns="0" bIns="0">
            <a:spAutoFit/>
          </a:bodyPr>
          <a:lstStyle/>
          <a:p>
            <a:pPr>
              <a:spcBef>
                <a:spcPts val="0"/>
              </a:spcBef>
              <a:spcAft>
                <a:spcPts val="0"/>
              </a:spcAft>
            </a:pPr>
            <a:r>
              <a:rPr sz="1800" b="1" i="0">
                <a:solidFill>
                  <a:srgbClr val="3BB283"/>
                </a:solidFill>
                <a:latin typeface="Bricolage Grotesque"/>
              </a:rPr>
              <a:t>Module 2</a:t>
            </a:r>
          </a:p>
        </p:txBody>
      </p:sp>
      <p:sp>
        <p:nvSpPr>
          <p:cNvPr id="6" name="TextBox 5"/>
          <p:cNvSpPr txBox="1"/>
          <p:nvPr/>
        </p:nvSpPr>
        <p:spPr>
          <a:xfrm>
            <a:off x="2880360" y="1956816"/>
            <a:ext cx="8778240" cy="1920240"/>
          </a:xfrm>
          <a:prstGeom prst="rect">
            <a:avLst/>
          </a:prstGeom>
          <a:noFill/>
        </p:spPr>
        <p:txBody>
          <a:bodyPr wrap="square" lIns="0" rIns="0" tIns="0" bIns="0">
            <a:spAutoFit/>
          </a:bodyPr>
          <a:lstStyle/>
          <a:p>
            <a:pPr>
              <a:lnSpc>
                <a:spcPct val="102000"/>
              </a:lnSpc>
              <a:spcBef>
                <a:spcPts val="0"/>
              </a:spcBef>
              <a:spcAft>
                <a:spcPts val="0"/>
              </a:spcAft>
            </a:pPr>
            <a:r>
              <a:rPr sz="4400" b="1" i="0">
                <a:solidFill>
                  <a:srgbClr val="F6F2EA"/>
                </a:solidFill>
                <a:latin typeface="Bricolage Grotesque"/>
              </a:rPr>
              <a:t>Optimize Database</a:t>
            </a:r>
          </a:p>
          <a:p>
            <a:pPr>
              <a:lnSpc>
                <a:spcPct val="102000"/>
              </a:lnSpc>
              <a:spcBef>
                <a:spcPts val="0"/>
              </a:spcBef>
              <a:spcAft>
                <a:spcPts val="0"/>
              </a:spcAft>
            </a:pPr>
            <a:r>
              <a:rPr sz="4400" b="1" i="0">
                <a:solidFill>
                  <a:srgbClr val="F6F2EA"/>
                </a:solidFill>
                <a:latin typeface="Bricolage Grotesque"/>
              </a:rPr>
              <a:t>Performance</a:t>
            </a:r>
          </a:p>
        </p:txBody>
      </p:sp>
      <p:sp>
        <p:nvSpPr>
          <p:cNvPr id="7" name="TextBox 6"/>
          <p:cNvSpPr txBox="1"/>
          <p:nvPr/>
        </p:nvSpPr>
        <p:spPr>
          <a:xfrm>
            <a:off x="2880360" y="3602736"/>
            <a:ext cx="8412480" cy="1188720"/>
          </a:xfrm>
          <a:prstGeom prst="rect">
            <a:avLst/>
          </a:prstGeom>
          <a:noFill/>
        </p:spPr>
        <p:txBody>
          <a:bodyPr wrap="square" lIns="0" rIns="0" tIns="0" bIns="0">
            <a:spAutoFit/>
          </a:bodyPr>
          <a:lstStyle/>
          <a:p>
            <a:pPr>
              <a:lnSpc>
                <a:spcPct val="115000"/>
              </a:lnSpc>
              <a:spcBef>
                <a:spcPts val="0"/>
              </a:spcBef>
              <a:spcAft>
                <a:spcPts val="0"/>
              </a:spcAft>
            </a:pPr>
            <a:r>
              <a:rPr sz="1500" b="0" i="0">
                <a:solidFill>
                  <a:srgbClr val="C5BFB1"/>
                </a:solidFill>
                <a:latin typeface="Nunito"/>
              </a:rPr>
              <a:t>Choose the right service tier, manage concurrency with isolation levels, analyze queries with execution plans, and leverage Query Store for plan management.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2</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11</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Service Tiers &amp; Database Configuration</a:t>
            </a:r>
          </a:p>
        </p:txBody>
      </p:sp>
      <p:sp>
        <p:nvSpPr>
          <p:cNvPr id="5" name="Rounded Rectangle 4"/>
          <p:cNvSpPr/>
          <p:nvPr/>
        </p:nvSpPr>
        <p:spPr>
          <a:xfrm>
            <a:off x="548640" y="841248"/>
            <a:ext cx="658368" cy="73152"/>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Choose the right compute and storage configuration for your workload requirements.</a:t>
            </a:r>
          </a:p>
        </p:txBody>
      </p:sp>
      <p:sp>
        <p:nvSpPr>
          <p:cNvPr id="7" name="Rounded Rectangle 6"/>
          <p:cNvSpPr/>
          <p:nvPr/>
        </p:nvSpPr>
        <p:spPr>
          <a:xfrm>
            <a:off x="548640" y="1417320"/>
            <a:ext cx="2651760" cy="278892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2432304" cy="54864"/>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2249424" cy="292608"/>
          </a:xfrm>
          <a:prstGeom prst="rect">
            <a:avLst/>
          </a:prstGeom>
          <a:noFill/>
        </p:spPr>
        <p:txBody>
          <a:bodyPr wrap="square" lIns="0" rIns="0" tIns="0" bIns="0">
            <a:spAutoFit/>
          </a:bodyPr>
          <a:lstStyle/>
          <a:p>
            <a:pPr>
              <a:spcBef>
                <a:spcPts val="0"/>
              </a:spcBef>
              <a:spcAft>
                <a:spcPts val="0"/>
              </a:spcAft>
            </a:pPr>
            <a:r>
              <a:rPr sz="1350" b="1" i="0">
                <a:solidFill>
                  <a:srgbClr val="1F2A33"/>
                </a:solidFill>
                <a:latin typeface="Bricolage Grotesque"/>
              </a:rPr>
              <a:t>General Purpose</a:t>
            </a:r>
          </a:p>
        </p:txBody>
      </p:sp>
      <p:sp>
        <p:nvSpPr>
          <p:cNvPr id="10" name="TextBox 9"/>
          <p:cNvSpPr txBox="1"/>
          <p:nvPr/>
        </p:nvSpPr>
        <p:spPr>
          <a:xfrm>
            <a:off x="749808" y="1947672"/>
            <a:ext cx="2249424" cy="2121408"/>
          </a:xfrm>
          <a:prstGeom prst="rect">
            <a:avLst/>
          </a:prstGeom>
          <a:noFill/>
        </p:spPr>
        <p:txBody>
          <a:bodyPr wrap="square" lIns="0" rIns="0" tIns="0" bIns="0">
            <a:spAutoFit/>
          </a:bodyPr>
          <a:lstStyle/>
          <a:p>
            <a:pPr marL="164592" indent="-164592">
              <a:lnSpc>
                <a:spcPct val="106000"/>
              </a:lnSpc>
              <a:spcBef>
                <a:spcPts val="0"/>
              </a:spcBef>
              <a:spcAft>
                <a:spcPts val="600"/>
              </a:spcAft>
              <a:buFont typeface="Nunito"/>
              <a:buChar char="•"/>
            </a:pPr>
            <a:r>
              <a:rPr sz="1000" b="0" i="0">
                <a:solidFill>
                  <a:srgbClr val="1F2A33"/>
                </a:solidFill>
                <a:latin typeface="Nunito"/>
              </a:rPr>
              <a:t>Standard compute with remote storage</a:t>
            </a:r>
          </a:p>
          <a:p>
            <a:pPr marL="164592" indent="-164592">
              <a:lnSpc>
                <a:spcPct val="106000"/>
              </a:lnSpc>
              <a:spcBef>
                <a:spcPts val="0"/>
              </a:spcBef>
              <a:spcAft>
                <a:spcPts val="600"/>
              </a:spcAft>
              <a:buFont typeface="Nunito"/>
              <a:buChar char="•"/>
            </a:pPr>
            <a:r>
              <a:rPr sz="1000" b="0" i="0">
                <a:solidFill>
                  <a:srgbClr val="1F2A33"/>
                </a:solidFill>
                <a:latin typeface="Nunito"/>
              </a:rPr>
              <a:t>Up to 80 vCores, 400 GB memory</a:t>
            </a:r>
          </a:p>
          <a:p>
            <a:pPr marL="164592" indent="-164592">
              <a:lnSpc>
                <a:spcPct val="106000"/>
              </a:lnSpc>
              <a:spcBef>
                <a:spcPts val="0"/>
              </a:spcBef>
              <a:spcAft>
                <a:spcPts val="600"/>
              </a:spcAft>
              <a:buFont typeface="Nunito"/>
              <a:buChar char="•"/>
            </a:pPr>
            <a:r>
              <a:rPr sz="1000" b="0" i="0">
                <a:solidFill>
                  <a:srgbClr val="1F2A33"/>
                </a:solidFill>
                <a:latin typeface="Nunito"/>
              </a:rPr>
              <a:t>Zone-redundant availability</a:t>
            </a:r>
          </a:p>
          <a:p>
            <a:pPr marL="164592" indent="-164592">
              <a:lnSpc>
                <a:spcPct val="106000"/>
              </a:lnSpc>
              <a:spcBef>
                <a:spcPts val="0"/>
              </a:spcBef>
              <a:spcAft>
                <a:spcPts val="600"/>
              </a:spcAft>
              <a:buFont typeface="Nunito"/>
              <a:buChar char="•"/>
            </a:pPr>
            <a:r>
              <a:rPr sz="1000" b="0" i="0">
                <a:solidFill>
                  <a:srgbClr val="1F2A33"/>
                </a:solidFill>
                <a:latin typeface="Nunito"/>
              </a:rPr>
              <a:t>Best for: most business workloads</a:t>
            </a:r>
          </a:p>
        </p:txBody>
      </p:sp>
      <p:sp>
        <p:nvSpPr>
          <p:cNvPr id="11" name="Rounded Rectangle 10"/>
          <p:cNvSpPr/>
          <p:nvPr/>
        </p:nvSpPr>
        <p:spPr>
          <a:xfrm>
            <a:off x="3332988" y="1417320"/>
            <a:ext cx="2651760" cy="278892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42716" y="1417320"/>
            <a:ext cx="2432304" cy="54864"/>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34156" y="1581912"/>
            <a:ext cx="2249424" cy="292608"/>
          </a:xfrm>
          <a:prstGeom prst="rect">
            <a:avLst/>
          </a:prstGeom>
          <a:noFill/>
        </p:spPr>
        <p:txBody>
          <a:bodyPr wrap="square" lIns="0" rIns="0" tIns="0" bIns="0">
            <a:spAutoFit/>
          </a:bodyPr>
          <a:lstStyle/>
          <a:p>
            <a:pPr>
              <a:spcBef>
                <a:spcPts val="0"/>
              </a:spcBef>
              <a:spcAft>
                <a:spcPts val="0"/>
              </a:spcAft>
            </a:pPr>
            <a:r>
              <a:rPr sz="1350" b="1" i="0">
                <a:solidFill>
                  <a:srgbClr val="1F2A33"/>
                </a:solidFill>
                <a:latin typeface="Bricolage Grotesque"/>
              </a:rPr>
              <a:t>Business Critical</a:t>
            </a:r>
          </a:p>
        </p:txBody>
      </p:sp>
      <p:sp>
        <p:nvSpPr>
          <p:cNvPr id="14" name="TextBox 13"/>
          <p:cNvSpPr txBox="1"/>
          <p:nvPr/>
        </p:nvSpPr>
        <p:spPr>
          <a:xfrm>
            <a:off x="3534156" y="1947672"/>
            <a:ext cx="2249424" cy="2121408"/>
          </a:xfrm>
          <a:prstGeom prst="rect">
            <a:avLst/>
          </a:prstGeom>
          <a:noFill/>
        </p:spPr>
        <p:txBody>
          <a:bodyPr wrap="square" lIns="0" rIns="0" tIns="0" bIns="0">
            <a:spAutoFit/>
          </a:bodyPr>
          <a:lstStyle/>
          <a:p>
            <a:pPr marL="164592" indent="-164592">
              <a:lnSpc>
                <a:spcPct val="106000"/>
              </a:lnSpc>
              <a:spcBef>
                <a:spcPts val="0"/>
              </a:spcBef>
              <a:spcAft>
                <a:spcPts val="600"/>
              </a:spcAft>
              <a:buFont typeface="Nunito"/>
              <a:buChar char="•"/>
            </a:pPr>
            <a:r>
              <a:rPr sz="1000" b="0" i="0">
                <a:solidFill>
                  <a:srgbClr val="1F2A33"/>
                </a:solidFill>
                <a:latin typeface="Nunito"/>
              </a:rPr>
              <a:t>Local SSD with built-in read replicas</a:t>
            </a:r>
          </a:p>
          <a:p>
            <a:pPr marL="164592" indent="-164592">
              <a:lnSpc>
                <a:spcPct val="106000"/>
              </a:lnSpc>
              <a:spcBef>
                <a:spcPts val="0"/>
              </a:spcBef>
              <a:spcAft>
                <a:spcPts val="600"/>
              </a:spcAft>
              <a:buFont typeface="Nunito"/>
              <a:buChar char="•"/>
            </a:pPr>
            <a:r>
              <a:rPr sz="1000" b="0" i="0">
                <a:solidFill>
                  <a:srgbClr val="1F2A33"/>
                </a:solidFill>
                <a:latin typeface="Nunito"/>
              </a:rPr>
              <a:t>Lowest latency, highest IOPS</a:t>
            </a:r>
          </a:p>
          <a:p>
            <a:pPr marL="164592" indent="-164592">
              <a:lnSpc>
                <a:spcPct val="106000"/>
              </a:lnSpc>
              <a:spcBef>
                <a:spcPts val="0"/>
              </a:spcBef>
              <a:spcAft>
                <a:spcPts val="600"/>
              </a:spcAft>
              <a:buFont typeface="Nunito"/>
              <a:buChar char="•"/>
            </a:pPr>
            <a:r>
              <a:rPr sz="1000" b="0" i="0">
                <a:solidFill>
                  <a:srgbClr val="1F2A33"/>
                </a:solidFill>
                <a:latin typeface="Nunito"/>
              </a:rPr>
              <a:t>In-memory OLTP support</a:t>
            </a:r>
          </a:p>
          <a:p>
            <a:pPr marL="164592" indent="-164592">
              <a:lnSpc>
                <a:spcPct val="106000"/>
              </a:lnSpc>
              <a:spcBef>
                <a:spcPts val="0"/>
              </a:spcBef>
              <a:spcAft>
                <a:spcPts val="600"/>
              </a:spcAft>
              <a:buFont typeface="Nunito"/>
              <a:buChar char="•"/>
            </a:pPr>
            <a:r>
              <a:rPr sz="1000" b="0" i="0">
                <a:solidFill>
                  <a:srgbClr val="1F2A33"/>
                </a:solidFill>
                <a:latin typeface="Nunito"/>
              </a:rPr>
              <a:t>Best for: mission-critical OLTP</a:t>
            </a:r>
          </a:p>
        </p:txBody>
      </p:sp>
      <p:sp>
        <p:nvSpPr>
          <p:cNvPr id="15" name="Rounded Rectangle 14"/>
          <p:cNvSpPr/>
          <p:nvPr/>
        </p:nvSpPr>
        <p:spPr>
          <a:xfrm>
            <a:off x="6117336" y="1417320"/>
            <a:ext cx="2651760" cy="278892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27064" y="1417320"/>
            <a:ext cx="2432304" cy="54864"/>
          </a:xfrm>
          <a:prstGeom prst="roundRect">
            <a:avLst>
              <a:gd name="adj" fmla="val 50000"/>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581912"/>
            <a:ext cx="2249424" cy="292608"/>
          </a:xfrm>
          <a:prstGeom prst="rect">
            <a:avLst/>
          </a:prstGeom>
          <a:noFill/>
        </p:spPr>
        <p:txBody>
          <a:bodyPr wrap="square" lIns="0" rIns="0" tIns="0" bIns="0">
            <a:spAutoFit/>
          </a:bodyPr>
          <a:lstStyle/>
          <a:p>
            <a:pPr>
              <a:spcBef>
                <a:spcPts val="0"/>
              </a:spcBef>
              <a:spcAft>
                <a:spcPts val="0"/>
              </a:spcAft>
            </a:pPr>
            <a:r>
              <a:rPr sz="1350" b="1" i="0">
                <a:solidFill>
                  <a:srgbClr val="1F2A33"/>
                </a:solidFill>
                <a:latin typeface="Bricolage Grotesque"/>
              </a:rPr>
              <a:t>Hyperscale</a:t>
            </a:r>
          </a:p>
        </p:txBody>
      </p:sp>
      <p:sp>
        <p:nvSpPr>
          <p:cNvPr id="18" name="TextBox 17"/>
          <p:cNvSpPr txBox="1"/>
          <p:nvPr/>
        </p:nvSpPr>
        <p:spPr>
          <a:xfrm>
            <a:off x="6318504" y="1947672"/>
            <a:ext cx="2249424" cy="2121408"/>
          </a:xfrm>
          <a:prstGeom prst="rect">
            <a:avLst/>
          </a:prstGeom>
          <a:noFill/>
        </p:spPr>
        <p:txBody>
          <a:bodyPr wrap="square" lIns="0" rIns="0" tIns="0" bIns="0">
            <a:spAutoFit/>
          </a:bodyPr>
          <a:lstStyle/>
          <a:p>
            <a:pPr marL="164592" indent="-164592">
              <a:lnSpc>
                <a:spcPct val="106000"/>
              </a:lnSpc>
              <a:spcBef>
                <a:spcPts val="0"/>
              </a:spcBef>
              <a:spcAft>
                <a:spcPts val="600"/>
              </a:spcAft>
              <a:buFont typeface="Nunito"/>
              <a:buChar char="•"/>
            </a:pPr>
            <a:r>
              <a:rPr sz="1000" b="0" i="0">
                <a:solidFill>
                  <a:srgbClr val="1F2A33"/>
                </a:solidFill>
                <a:latin typeface="Nunito"/>
              </a:rPr>
              <a:t>Distributed architecture, 128 TB+</a:t>
            </a:r>
          </a:p>
          <a:p>
            <a:pPr marL="164592" indent="-164592">
              <a:lnSpc>
                <a:spcPct val="106000"/>
              </a:lnSpc>
              <a:spcBef>
                <a:spcPts val="0"/>
              </a:spcBef>
              <a:spcAft>
                <a:spcPts val="600"/>
              </a:spcAft>
              <a:buFont typeface="Nunito"/>
              <a:buChar char="•"/>
            </a:pPr>
            <a:r>
              <a:rPr sz="1000" b="0" i="0">
                <a:solidFill>
                  <a:srgbClr val="1F2A33"/>
                </a:solidFill>
                <a:latin typeface="Nunito"/>
              </a:rPr>
              <a:t>Near-instant backups at any size</a:t>
            </a:r>
          </a:p>
          <a:p>
            <a:pPr marL="164592" indent="-164592">
              <a:lnSpc>
                <a:spcPct val="106000"/>
              </a:lnSpc>
              <a:spcBef>
                <a:spcPts val="0"/>
              </a:spcBef>
              <a:spcAft>
                <a:spcPts val="600"/>
              </a:spcAft>
              <a:buFont typeface="Nunito"/>
              <a:buChar char="•"/>
            </a:pPr>
            <a:r>
              <a:rPr sz="1000" b="0" i="0">
                <a:solidFill>
                  <a:srgbClr val="1F2A33"/>
                </a:solidFill>
                <a:latin typeface="Nunito"/>
              </a:rPr>
              <a:t>Up to 30 read replicas</a:t>
            </a:r>
          </a:p>
          <a:p>
            <a:pPr marL="164592" indent="-164592">
              <a:lnSpc>
                <a:spcPct val="106000"/>
              </a:lnSpc>
              <a:spcBef>
                <a:spcPts val="0"/>
              </a:spcBef>
              <a:spcAft>
                <a:spcPts val="600"/>
              </a:spcAft>
              <a:buFont typeface="Nunito"/>
              <a:buChar char="•"/>
            </a:pPr>
            <a:r>
              <a:rPr sz="1000" b="0" i="0">
                <a:solidFill>
                  <a:srgbClr val="1F2A33"/>
                </a:solidFill>
                <a:latin typeface="Nunito"/>
              </a:rPr>
              <a:t>Best for: large, elastic workloads</a:t>
            </a:r>
          </a:p>
        </p:txBody>
      </p:sp>
      <p:sp>
        <p:nvSpPr>
          <p:cNvPr id="19" name="Rounded Rectangle 18"/>
          <p:cNvSpPr/>
          <p:nvPr/>
        </p:nvSpPr>
        <p:spPr>
          <a:xfrm>
            <a:off x="8901684" y="1417320"/>
            <a:ext cx="2651760" cy="278892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11412" y="1417320"/>
            <a:ext cx="2432304" cy="54864"/>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2852" y="1581912"/>
            <a:ext cx="2249424" cy="292608"/>
          </a:xfrm>
          <a:prstGeom prst="rect">
            <a:avLst/>
          </a:prstGeom>
          <a:noFill/>
        </p:spPr>
        <p:txBody>
          <a:bodyPr wrap="square" lIns="0" rIns="0" tIns="0" bIns="0">
            <a:spAutoFit/>
          </a:bodyPr>
          <a:lstStyle/>
          <a:p>
            <a:pPr>
              <a:spcBef>
                <a:spcPts val="0"/>
              </a:spcBef>
              <a:spcAft>
                <a:spcPts val="0"/>
              </a:spcAft>
            </a:pPr>
            <a:r>
              <a:rPr sz="1350" b="1" i="0">
                <a:solidFill>
                  <a:srgbClr val="1F2A33"/>
                </a:solidFill>
                <a:latin typeface="Bricolage Grotesque"/>
              </a:rPr>
              <a:t>Serverless</a:t>
            </a:r>
          </a:p>
        </p:txBody>
      </p:sp>
      <p:sp>
        <p:nvSpPr>
          <p:cNvPr id="22" name="TextBox 21"/>
          <p:cNvSpPr txBox="1"/>
          <p:nvPr/>
        </p:nvSpPr>
        <p:spPr>
          <a:xfrm>
            <a:off x="9102852" y="1947672"/>
            <a:ext cx="2249424" cy="2121408"/>
          </a:xfrm>
          <a:prstGeom prst="rect">
            <a:avLst/>
          </a:prstGeom>
          <a:noFill/>
        </p:spPr>
        <p:txBody>
          <a:bodyPr wrap="square" lIns="0" rIns="0" tIns="0" bIns="0">
            <a:spAutoFit/>
          </a:bodyPr>
          <a:lstStyle/>
          <a:p>
            <a:pPr marL="164592" indent="-164592">
              <a:lnSpc>
                <a:spcPct val="106000"/>
              </a:lnSpc>
              <a:spcBef>
                <a:spcPts val="0"/>
              </a:spcBef>
              <a:spcAft>
                <a:spcPts val="600"/>
              </a:spcAft>
              <a:buFont typeface="Nunito"/>
              <a:buChar char="•"/>
            </a:pPr>
            <a:r>
              <a:rPr sz="1000" b="0" i="0">
                <a:solidFill>
                  <a:srgbClr val="1F2A33"/>
                </a:solidFill>
                <a:latin typeface="Nunito"/>
              </a:rPr>
              <a:t>Auto-scales compute, auto-pauses</a:t>
            </a:r>
          </a:p>
          <a:p>
            <a:pPr marL="164592" indent="-164592">
              <a:lnSpc>
                <a:spcPct val="106000"/>
              </a:lnSpc>
              <a:spcBef>
                <a:spcPts val="0"/>
              </a:spcBef>
              <a:spcAft>
                <a:spcPts val="600"/>
              </a:spcAft>
              <a:buFont typeface="Nunito"/>
              <a:buChar char="•"/>
            </a:pPr>
            <a:r>
              <a:rPr sz="1000" b="0" i="0">
                <a:solidFill>
                  <a:srgbClr val="1F2A33"/>
                </a:solidFill>
                <a:latin typeface="Nunito"/>
              </a:rPr>
              <a:t>Pay per second of compute used</a:t>
            </a:r>
          </a:p>
          <a:p>
            <a:pPr marL="164592" indent="-164592">
              <a:lnSpc>
                <a:spcPct val="106000"/>
              </a:lnSpc>
              <a:spcBef>
                <a:spcPts val="0"/>
              </a:spcBef>
              <a:spcAft>
                <a:spcPts val="600"/>
              </a:spcAft>
              <a:buFont typeface="Nunito"/>
              <a:buChar char="•"/>
            </a:pPr>
            <a:r>
              <a:rPr sz="1000" b="0" i="0">
                <a:solidFill>
                  <a:srgbClr val="1F2A33"/>
                </a:solidFill>
                <a:latin typeface="Nunito"/>
              </a:rPr>
              <a:t>Configurable min/max vCores</a:t>
            </a:r>
          </a:p>
          <a:p>
            <a:pPr marL="164592" indent="-164592">
              <a:lnSpc>
                <a:spcPct val="106000"/>
              </a:lnSpc>
              <a:spcBef>
                <a:spcPts val="0"/>
              </a:spcBef>
              <a:spcAft>
                <a:spcPts val="600"/>
              </a:spcAft>
              <a:buFont typeface="Nunito"/>
              <a:buChar char="•"/>
            </a:pPr>
            <a:r>
              <a:rPr sz="1000" b="0" i="0">
                <a:solidFill>
                  <a:srgbClr val="1F2A33"/>
                </a:solidFill>
                <a:latin typeface="Nunito"/>
              </a:rPr>
              <a:t>Best for: intermittent, bursty usage</a:t>
            </a:r>
          </a:p>
        </p:txBody>
      </p:sp>
      <p:sp>
        <p:nvSpPr>
          <p:cNvPr id="23" name="Rounded Rectangle 22"/>
          <p:cNvSpPr/>
          <p:nvPr/>
        </p:nvSpPr>
        <p:spPr>
          <a:xfrm>
            <a:off x="548640" y="4434840"/>
            <a:ext cx="5413248" cy="1874519"/>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8368" y="4434840"/>
            <a:ext cx="5193792" cy="54864"/>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4599432"/>
            <a:ext cx="5010912" cy="1572767"/>
          </a:xfrm>
          <a:prstGeom prst="rect">
            <a:avLst/>
          </a:prstGeom>
          <a:noFill/>
        </p:spPr>
        <p:txBody>
          <a:bodyPr wrap="square" lIns="0" rIns="0" tIns="0" bIns="0">
            <a:spAutoFit/>
          </a:bodyPr>
          <a:lstStyle/>
          <a:p>
            <a:pPr>
              <a:lnSpc>
                <a:spcPct val="100000"/>
              </a:lnSpc>
              <a:spcBef>
                <a:spcPts val="0"/>
              </a:spcBef>
              <a:spcAft>
                <a:spcPts val="100"/>
              </a:spcAft>
              <a:buNone/>
            </a:pPr>
            <a:r>
              <a:rPr sz="1400" b="1" i="0">
                <a:solidFill>
                  <a:srgbClr val="FC8903"/>
                </a:solidFill>
                <a:latin typeface="Nunito"/>
              </a:rPr>
              <a:t>DTU Model</a:t>
            </a:r>
          </a:p>
          <a:p>
            <a:pPr>
              <a:lnSpc>
                <a:spcPct val="105000"/>
              </a:lnSpc>
              <a:spcBef>
                <a:spcPts val="0"/>
              </a:spcBef>
              <a:spcAft>
                <a:spcPts val="800"/>
              </a:spcAft>
              <a:buNone/>
            </a:pPr>
            <a:r>
              <a:rPr sz="1150" b="0" i="0">
                <a:solidFill>
                  <a:srgbClr val="1F2A33"/>
                </a:solidFill>
                <a:latin typeface="Nunito"/>
              </a:rPr>
              <a:t>Bundled CPU + I/O + memory. Simple, predictable pricing. Best when you want a pre-configured compute package.</a:t>
            </a:r>
          </a:p>
        </p:txBody>
      </p:sp>
      <p:sp>
        <p:nvSpPr>
          <p:cNvPr id="26" name="Rounded Rectangle 25"/>
          <p:cNvSpPr/>
          <p:nvPr/>
        </p:nvSpPr>
        <p:spPr>
          <a:xfrm>
            <a:off x="6227064" y="4434840"/>
            <a:ext cx="5413248" cy="1874519"/>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36792" y="4434840"/>
            <a:ext cx="5193792" cy="54864"/>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4599432"/>
            <a:ext cx="5010912" cy="1572767"/>
          </a:xfrm>
          <a:prstGeom prst="rect">
            <a:avLst/>
          </a:prstGeom>
          <a:noFill/>
        </p:spPr>
        <p:txBody>
          <a:bodyPr wrap="square" lIns="0" rIns="0" tIns="0" bIns="0">
            <a:spAutoFit/>
          </a:bodyPr>
          <a:lstStyle/>
          <a:p>
            <a:pPr>
              <a:lnSpc>
                <a:spcPct val="100000"/>
              </a:lnSpc>
              <a:spcBef>
                <a:spcPts val="0"/>
              </a:spcBef>
              <a:spcAft>
                <a:spcPts val="100"/>
              </a:spcAft>
              <a:buNone/>
            </a:pPr>
            <a:r>
              <a:rPr sz="1400" b="1" i="0">
                <a:solidFill>
                  <a:srgbClr val="DD5D5D"/>
                </a:solidFill>
                <a:latin typeface="Nunito"/>
              </a:rPr>
              <a:t>vCore Model</a:t>
            </a:r>
          </a:p>
          <a:p>
            <a:pPr>
              <a:lnSpc>
                <a:spcPct val="105000"/>
              </a:lnSpc>
              <a:spcBef>
                <a:spcPts val="0"/>
              </a:spcBef>
              <a:spcAft>
                <a:spcPts val="800"/>
              </a:spcAft>
              <a:buNone/>
            </a:pPr>
            <a:r>
              <a:rPr sz="1150" b="0" i="0">
                <a:solidFill>
                  <a:srgbClr val="1F2A33"/>
                </a:solidFill>
                <a:latin typeface="Nunito"/>
              </a:rPr>
              <a:t>Independent CPU, memory, and storage scaling. Azure Hybrid Benefit eligible. Best when you need granular resource control.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2</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12</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Transaction Isolation Levels &amp; Concurrency</a:t>
            </a:r>
          </a:p>
        </p:txBody>
      </p:sp>
      <p:sp>
        <p:nvSpPr>
          <p:cNvPr id="5" name="Rounded Rectangle 4"/>
          <p:cNvSpPr/>
          <p:nvPr/>
        </p:nvSpPr>
        <p:spPr>
          <a:xfrm>
            <a:off x="548640" y="841248"/>
            <a:ext cx="658368" cy="73152"/>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Balance consistency and throughput by choosing the right isolation level for each workload.</a:t>
            </a:r>
          </a:p>
        </p:txBody>
      </p:sp>
      <p:graphicFrame>
        <p:nvGraphicFramePr>
          <p:cNvPr id="7" name="Table 6"/>
          <p:cNvGraphicFramePr>
            <a:graphicFrameLocks noGrp="1"/>
          </p:cNvGraphicFramePr>
          <p:nvPr/>
        </p:nvGraphicFramePr>
        <p:xfrm>
          <a:off x="548640" y="1417320"/>
          <a:ext cx="11091672" cy="3246120"/>
        </p:xfrm>
        <a:graphic>
          <a:graphicData uri="http://schemas.openxmlformats.org/drawingml/2006/table">
            <a:tbl>
              <a:tblPr firstRow="1" bandRow="1">
                <a:tableStyleId>{5C22544A-7EE6-4342-B048-85BDC9FD1C3A}</a:tableStyleId>
              </a:tblPr>
              <a:tblGrid>
                <a:gridCol w="3291840"/>
                <a:gridCol w="1947672"/>
                <a:gridCol w="2377440"/>
                <a:gridCol w="1737360"/>
                <a:gridCol w="1737360"/>
              </a:tblGrid>
              <a:tr h="463731">
                <a:tc>
                  <a:txBody>
                    <a:bodyPr wrap="square"/>
                    <a:lstStyle/>
                    <a:p>
                      <a:r>
                        <a:rPr sz="1200" b="1" i="0">
                          <a:solidFill>
                            <a:srgbClr val="F6F2EA"/>
                          </a:solidFill>
                          <a:latin typeface="Nunito"/>
                        </a:rPr>
                        <a:t>Isolation Level</a:t>
                      </a:r>
                    </a:p>
                  </a:txBody>
                  <a:tcPr marL="73152" marR="73152" marT="27432" marB="27432" anchor="ctr">
                    <a:solidFill>
                      <a:srgbClr val="3D768E"/>
                    </a:solidFill>
                  </a:tcPr>
                </a:tc>
                <a:tc>
                  <a:txBody>
                    <a:bodyPr wrap="square"/>
                    <a:lstStyle/>
                    <a:p>
                      <a:r>
                        <a:rPr sz="1200" b="1" i="0">
                          <a:solidFill>
                            <a:srgbClr val="F6F2EA"/>
                          </a:solidFill>
                          <a:latin typeface="Nunito"/>
                        </a:rPr>
                        <a:t>Dirty Read</a:t>
                      </a:r>
                    </a:p>
                  </a:txBody>
                  <a:tcPr marL="73152" marR="73152" marT="27432" marB="27432" anchor="ctr">
                    <a:solidFill>
                      <a:srgbClr val="3D768E"/>
                    </a:solidFill>
                  </a:tcPr>
                </a:tc>
                <a:tc>
                  <a:txBody>
                    <a:bodyPr wrap="square"/>
                    <a:lstStyle/>
                    <a:p>
                      <a:r>
                        <a:rPr sz="1200" b="1" i="0">
                          <a:solidFill>
                            <a:srgbClr val="F6F2EA"/>
                          </a:solidFill>
                          <a:latin typeface="Nunito"/>
                        </a:rPr>
                        <a:t>Non-Repeatable</a:t>
                      </a:r>
                    </a:p>
                  </a:txBody>
                  <a:tcPr marL="73152" marR="73152" marT="27432" marB="27432" anchor="ctr">
                    <a:solidFill>
                      <a:srgbClr val="3D768E"/>
                    </a:solidFill>
                  </a:tcPr>
                </a:tc>
                <a:tc>
                  <a:txBody>
                    <a:bodyPr wrap="square"/>
                    <a:lstStyle/>
                    <a:p>
                      <a:r>
                        <a:rPr sz="1200" b="1" i="0">
                          <a:solidFill>
                            <a:srgbClr val="F6F2EA"/>
                          </a:solidFill>
                          <a:latin typeface="Nunito"/>
                        </a:rPr>
                        <a:t>Phantom</a:t>
                      </a:r>
                    </a:p>
                  </a:txBody>
                  <a:tcPr marL="73152" marR="73152" marT="27432" marB="27432" anchor="ctr">
                    <a:solidFill>
                      <a:srgbClr val="3D768E"/>
                    </a:solidFill>
                  </a:tcPr>
                </a:tc>
                <a:tc>
                  <a:txBody>
                    <a:bodyPr wrap="square"/>
                    <a:lstStyle/>
                    <a:p>
                      <a:r>
                        <a:rPr sz="1200" b="1" i="0">
                          <a:solidFill>
                            <a:srgbClr val="F6F2EA"/>
                          </a:solidFill>
                          <a:latin typeface="Nunito"/>
                        </a:rPr>
                        <a:t>Blocking</a:t>
                      </a:r>
                    </a:p>
                  </a:txBody>
                  <a:tcPr marL="73152" marR="73152" marT="27432" marB="27432" anchor="ctr">
                    <a:solidFill>
                      <a:srgbClr val="3D768E"/>
                    </a:solidFill>
                  </a:tcPr>
                </a:tc>
              </a:tr>
              <a:tr h="463731">
                <a:tc>
                  <a:txBody>
                    <a:bodyPr wrap="square"/>
                    <a:lstStyle/>
                    <a:p>
                      <a:r>
                        <a:rPr sz="1200" b="1" i="0">
                          <a:solidFill>
                            <a:srgbClr val="1F2A33"/>
                          </a:solidFill>
                          <a:latin typeface="Nunito"/>
                        </a:rPr>
                        <a:t>READ UNCOMMITTED</a:t>
                      </a:r>
                    </a:p>
                  </a:txBody>
                  <a:tcPr marL="73152" marR="73152" marT="27432" marB="27432" anchor="ctr">
                    <a:solidFill>
                      <a:srgbClr val="FDFAF3"/>
                    </a:solidFill>
                  </a:tcPr>
                </a:tc>
                <a:tc>
                  <a:txBody>
                    <a:bodyPr wrap="square"/>
                    <a:lstStyle/>
                    <a:p>
                      <a:r>
                        <a:rPr sz="1200" b="0" i="0">
                          <a:solidFill>
                            <a:srgbClr val="1F2A33"/>
                          </a:solidFill>
                          <a:latin typeface="Nunito"/>
                        </a:rPr>
                        <a:t>Yes</a:t>
                      </a:r>
                    </a:p>
                  </a:txBody>
                  <a:tcPr marL="73152" marR="73152" marT="27432" marB="27432" anchor="ctr">
                    <a:solidFill>
                      <a:srgbClr val="FDFAF3"/>
                    </a:solidFill>
                  </a:tcPr>
                </a:tc>
                <a:tc>
                  <a:txBody>
                    <a:bodyPr wrap="square"/>
                    <a:lstStyle/>
                    <a:p>
                      <a:r>
                        <a:rPr sz="1200" b="0" i="0">
                          <a:solidFill>
                            <a:srgbClr val="1F2A33"/>
                          </a:solidFill>
                          <a:latin typeface="Nunito"/>
                        </a:rPr>
                        <a:t>Yes</a:t>
                      </a:r>
                    </a:p>
                  </a:txBody>
                  <a:tcPr marL="73152" marR="73152" marT="27432" marB="27432" anchor="ctr">
                    <a:solidFill>
                      <a:srgbClr val="FDFAF3"/>
                    </a:solidFill>
                  </a:tcPr>
                </a:tc>
                <a:tc>
                  <a:txBody>
                    <a:bodyPr wrap="square"/>
                    <a:lstStyle/>
                    <a:p>
                      <a:r>
                        <a:rPr sz="1200" b="0" i="0">
                          <a:solidFill>
                            <a:srgbClr val="1F2A33"/>
                          </a:solidFill>
                          <a:latin typeface="Nunito"/>
                        </a:rPr>
                        <a:t>Yes</a:t>
                      </a:r>
                    </a:p>
                  </a:txBody>
                  <a:tcPr marL="73152" marR="73152" marT="27432" marB="27432" anchor="ctr">
                    <a:solidFill>
                      <a:srgbClr val="FDFAF3"/>
                    </a:solidFill>
                  </a:tcPr>
                </a:tc>
                <a:tc>
                  <a:txBody>
                    <a:bodyPr wrap="square"/>
                    <a:lstStyle/>
                    <a:p>
                      <a:r>
                        <a:rPr sz="1200" b="0" i="0">
                          <a:solidFill>
                            <a:srgbClr val="1F2A33"/>
                          </a:solidFill>
                          <a:latin typeface="Nunito"/>
                        </a:rPr>
                        <a:t>Minimal</a:t>
                      </a:r>
                    </a:p>
                  </a:txBody>
                  <a:tcPr marL="73152" marR="73152" marT="27432" marB="27432" anchor="ctr">
                    <a:solidFill>
                      <a:srgbClr val="FDFAF3"/>
                    </a:solidFill>
                  </a:tcPr>
                </a:tc>
              </a:tr>
              <a:tr h="463731">
                <a:tc>
                  <a:txBody>
                    <a:bodyPr wrap="square"/>
                    <a:lstStyle/>
                    <a:p>
                      <a:r>
                        <a:rPr sz="1200" b="1" i="0">
                          <a:solidFill>
                            <a:srgbClr val="1F2A33"/>
                          </a:solidFill>
                          <a:latin typeface="Nunito"/>
                        </a:rPr>
                        <a:t>READ COMMITTED (default)</a:t>
                      </a:r>
                    </a:p>
                  </a:txBody>
                  <a:tcPr marL="73152" marR="73152" marT="27432" marB="27432" anchor="ctr">
                    <a:solidFill>
                      <a:srgbClr val="F6F2EA"/>
                    </a:solidFill>
                  </a:tcPr>
                </a:tc>
                <a:tc>
                  <a:txBody>
                    <a:bodyPr wrap="square"/>
                    <a:lstStyle/>
                    <a:p>
                      <a:r>
                        <a:rPr sz="1200" b="0" i="0">
                          <a:solidFill>
                            <a:srgbClr val="1F2A33"/>
                          </a:solidFill>
                          <a:latin typeface="Nunito"/>
                        </a:rPr>
                        <a:t>No</a:t>
                      </a:r>
                    </a:p>
                  </a:txBody>
                  <a:tcPr marL="73152" marR="73152" marT="27432" marB="27432" anchor="ctr">
                    <a:solidFill>
                      <a:srgbClr val="F6F2EA"/>
                    </a:solidFill>
                  </a:tcPr>
                </a:tc>
                <a:tc>
                  <a:txBody>
                    <a:bodyPr wrap="square"/>
                    <a:lstStyle/>
                    <a:p>
                      <a:r>
                        <a:rPr sz="1200" b="0" i="0">
                          <a:solidFill>
                            <a:srgbClr val="1F2A33"/>
                          </a:solidFill>
                          <a:latin typeface="Nunito"/>
                        </a:rPr>
                        <a:t>Yes</a:t>
                      </a:r>
                    </a:p>
                  </a:txBody>
                  <a:tcPr marL="73152" marR="73152" marT="27432" marB="27432" anchor="ctr">
                    <a:solidFill>
                      <a:srgbClr val="F6F2EA"/>
                    </a:solidFill>
                  </a:tcPr>
                </a:tc>
                <a:tc>
                  <a:txBody>
                    <a:bodyPr wrap="square"/>
                    <a:lstStyle/>
                    <a:p>
                      <a:r>
                        <a:rPr sz="1200" b="0" i="0">
                          <a:solidFill>
                            <a:srgbClr val="1F2A33"/>
                          </a:solidFill>
                          <a:latin typeface="Nunito"/>
                        </a:rPr>
                        <a:t>Yes</a:t>
                      </a:r>
                    </a:p>
                  </a:txBody>
                  <a:tcPr marL="73152" marR="73152" marT="27432" marB="27432" anchor="ctr">
                    <a:solidFill>
                      <a:srgbClr val="F6F2EA"/>
                    </a:solidFill>
                  </a:tcPr>
                </a:tc>
                <a:tc>
                  <a:txBody>
                    <a:bodyPr wrap="square"/>
                    <a:lstStyle/>
                    <a:p>
                      <a:r>
                        <a:rPr sz="1200" b="0" i="0">
                          <a:solidFill>
                            <a:srgbClr val="1F2A33"/>
                          </a:solidFill>
                          <a:latin typeface="Nunito"/>
                        </a:rPr>
                        <a:t>Moderate</a:t>
                      </a:r>
                    </a:p>
                  </a:txBody>
                  <a:tcPr marL="73152" marR="73152" marT="27432" marB="27432" anchor="ctr">
                    <a:solidFill>
                      <a:srgbClr val="F6F2EA"/>
                    </a:solidFill>
                  </a:tcPr>
                </a:tc>
              </a:tr>
              <a:tr h="463731">
                <a:tc>
                  <a:txBody>
                    <a:bodyPr wrap="square"/>
                    <a:lstStyle/>
                    <a:p>
                      <a:r>
                        <a:rPr sz="1200" b="1" i="0">
                          <a:solidFill>
                            <a:srgbClr val="1F2A33"/>
                          </a:solidFill>
                          <a:latin typeface="Nunito"/>
                        </a:rPr>
                        <a:t>REPEATABLE READ</a:t>
                      </a:r>
                    </a:p>
                  </a:txBody>
                  <a:tcPr marL="73152" marR="73152" marT="27432" marB="27432" anchor="ctr">
                    <a:solidFill>
                      <a:srgbClr val="FDFAF3"/>
                    </a:solidFill>
                  </a:tcPr>
                </a:tc>
                <a:tc>
                  <a:txBody>
                    <a:bodyPr wrap="square"/>
                    <a:lstStyle/>
                    <a:p>
                      <a:r>
                        <a:rPr sz="1200" b="0" i="0">
                          <a:solidFill>
                            <a:srgbClr val="1F2A33"/>
                          </a:solidFill>
                          <a:latin typeface="Nunito"/>
                        </a:rPr>
                        <a:t>No</a:t>
                      </a:r>
                    </a:p>
                  </a:txBody>
                  <a:tcPr marL="73152" marR="73152" marT="27432" marB="27432" anchor="ctr">
                    <a:solidFill>
                      <a:srgbClr val="FDFAF3"/>
                    </a:solidFill>
                  </a:tcPr>
                </a:tc>
                <a:tc>
                  <a:txBody>
                    <a:bodyPr wrap="square"/>
                    <a:lstStyle/>
                    <a:p>
                      <a:r>
                        <a:rPr sz="1200" b="0" i="0">
                          <a:solidFill>
                            <a:srgbClr val="1F2A33"/>
                          </a:solidFill>
                          <a:latin typeface="Nunito"/>
                        </a:rPr>
                        <a:t>No</a:t>
                      </a:r>
                    </a:p>
                  </a:txBody>
                  <a:tcPr marL="73152" marR="73152" marT="27432" marB="27432" anchor="ctr">
                    <a:solidFill>
                      <a:srgbClr val="FDFAF3"/>
                    </a:solidFill>
                  </a:tcPr>
                </a:tc>
                <a:tc>
                  <a:txBody>
                    <a:bodyPr wrap="square"/>
                    <a:lstStyle/>
                    <a:p>
                      <a:r>
                        <a:rPr sz="1200" b="0" i="0">
                          <a:solidFill>
                            <a:srgbClr val="1F2A33"/>
                          </a:solidFill>
                          <a:latin typeface="Nunito"/>
                        </a:rPr>
                        <a:t>Yes</a:t>
                      </a:r>
                    </a:p>
                  </a:txBody>
                  <a:tcPr marL="73152" marR="73152" marT="27432" marB="27432" anchor="ctr">
                    <a:solidFill>
                      <a:srgbClr val="FDFAF3"/>
                    </a:solidFill>
                  </a:tcPr>
                </a:tc>
                <a:tc>
                  <a:txBody>
                    <a:bodyPr wrap="square"/>
                    <a:lstStyle/>
                    <a:p>
                      <a:r>
                        <a:rPr sz="1200" b="0" i="0">
                          <a:solidFill>
                            <a:srgbClr val="1F2A33"/>
                          </a:solidFill>
                          <a:latin typeface="Nunito"/>
                        </a:rPr>
                        <a:t>High</a:t>
                      </a:r>
                    </a:p>
                  </a:txBody>
                  <a:tcPr marL="73152" marR="73152" marT="27432" marB="27432" anchor="ctr">
                    <a:solidFill>
                      <a:srgbClr val="FDFAF3"/>
                    </a:solidFill>
                  </a:tcPr>
                </a:tc>
              </a:tr>
              <a:tr h="463731">
                <a:tc>
                  <a:txBody>
                    <a:bodyPr wrap="square"/>
                    <a:lstStyle/>
                    <a:p>
                      <a:r>
                        <a:rPr sz="1200" b="1" i="0">
                          <a:solidFill>
                            <a:srgbClr val="1F2A33"/>
                          </a:solidFill>
                          <a:latin typeface="Nunito"/>
                        </a:rPr>
                        <a:t>SERIALIZABLE</a:t>
                      </a:r>
                    </a:p>
                  </a:txBody>
                  <a:tcPr marL="73152" marR="73152" marT="27432" marB="27432" anchor="ctr">
                    <a:solidFill>
                      <a:srgbClr val="F6F2EA"/>
                    </a:solidFill>
                  </a:tcPr>
                </a:tc>
                <a:tc>
                  <a:txBody>
                    <a:bodyPr wrap="square"/>
                    <a:lstStyle/>
                    <a:p>
                      <a:r>
                        <a:rPr sz="1200" b="0" i="0">
                          <a:solidFill>
                            <a:srgbClr val="1F2A33"/>
                          </a:solidFill>
                          <a:latin typeface="Nunito"/>
                        </a:rPr>
                        <a:t>No</a:t>
                      </a:r>
                    </a:p>
                  </a:txBody>
                  <a:tcPr marL="73152" marR="73152" marT="27432" marB="27432" anchor="ctr">
                    <a:solidFill>
                      <a:srgbClr val="F6F2EA"/>
                    </a:solidFill>
                  </a:tcPr>
                </a:tc>
                <a:tc>
                  <a:txBody>
                    <a:bodyPr wrap="square"/>
                    <a:lstStyle/>
                    <a:p>
                      <a:r>
                        <a:rPr sz="1200" b="0" i="0">
                          <a:solidFill>
                            <a:srgbClr val="1F2A33"/>
                          </a:solidFill>
                          <a:latin typeface="Nunito"/>
                        </a:rPr>
                        <a:t>No</a:t>
                      </a:r>
                    </a:p>
                  </a:txBody>
                  <a:tcPr marL="73152" marR="73152" marT="27432" marB="27432" anchor="ctr">
                    <a:solidFill>
                      <a:srgbClr val="F6F2EA"/>
                    </a:solidFill>
                  </a:tcPr>
                </a:tc>
                <a:tc>
                  <a:txBody>
                    <a:bodyPr wrap="square"/>
                    <a:lstStyle/>
                    <a:p>
                      <a:r>
                        <a:rPr sz="1200" b="0" i="0">
                          <a:solidFill>
                            <a:srgbClr val="1F2A33"/>
                          </a:solidFill>
                          <a:latin typeface="Nunito"/>
                        </a:rPr>
                        <a:t>No</a:t>
                      </a:r>
                    </a:p>
                  </a:txBody>
                  <a:tcPr marL="73152" marR="73152" marT="27432" marB="27432" anchor="ctr">
                    <a:solidFill>
                      <a:srgbClr val="F6F2EA"/>
                    </a:solidFill>
                  </a:tcPr>
                </a:tc>
                <a:tc>
                  <a:txBody>
                    <a:bodyPr wrap="square"/>
                    <a:lstStyle/>
                    <a:p>
                      <a:r>
                        <a:rPr sz="1200" b="0" i="0">
                          <a:solidFill>
                            <a:srgbClr val="1F2A33"/>
                          </a:solidFill>
                          <a:latin typeface="Nunito"/>
                        </a:rPr>
                        <a:t>Highest</a:t>
                      </a:r>
                    </a:p>
                  </a:txBody>
                  <a:tcPr marL="73152" marR="73152" marT="27432" marB="27432" anchor="ctr">
                    <a:solidFill>
                      <a:srgbClr val="F6F2EA"/>
                    </a:solidFill>
                  </a:tcPr>
                </a:tc>
              </a:tr>
              <a:tr h="463731">
                <a:tc>
                  <a:txBody>
                    <a:bodyPr wrap="square"/>
                    <a:lstStyle/>
                    <a:p>
                      <a:r>
                        <a:rPr sz="1200" b="1" i="0">
                          <a:solidFill>
                            <a:srgbClr val="1F2A33"/>
                          </a:solidFill>
                          <a:latin typeface="Nunito"/>
                        </a:rPr>
                        <a:t>SNAPSHOT</a:t>
                      </a:r>
                    </a:p>
                  </a:txBody>
                  <a:tcPr marL="73152" marR="73152" marT="27432" marB="27432" anchor="ctr">
                    <a:solidFill>
                      <a:srgbClr val="FDFAF3"/>
                    </a:solidFill>
                  </a:tcPr>
                </a:tc>
                <a:tc>
                  <a:txBody>
                    <a:bodyPr wrap="square"/>
                    <a:lstStyle/>
                    <a:p>
                      <a:r>
                        <a:rPr sz="1200" b="0" i="0">
                          <a:solidFill>
                            <a:srgbClr val="1F2A33"/>
                          </a:solidFill>
                          <a:latin typeface="Nunito"/>
                        </a:rPr>
                        <a:t>No</a:t>
                      </a:r>
                    </a:p>
                  </a:txBody>
                  <a:tcPr marL="73152" marR="73152" marT="27432" marB="27432" anchor="ctr">
                    <a:solidFill>
                      <a:srgbClr val="FDFAF3"/>
                    </a:solidFill>
                  </a:tcPr>
                </a:tc>
                <a:tc>
                  <a:txBody>
                    <a:bodyPr wrap="square"/>
                    <a:lstStyle/>
                    <a:p>
                      <a:r>
                        <a:rPr sz="1200" b="0" i="0">
                          <a:solidFill>
                            <a:srgbClr val="1F2A33"/>
                          </a:solidFill>
                          <a:latin typeface="Nunito"/>
                        </a:rPr>
                        <a:t>No</a:t>
                      </a:r>
                    </a:p>
                  </a:txBody>
                  <a:tcPr marL="73152" marR="73152" marT="27432" marB="27432" anchor="ctr">
                    <a:solidFill>
                      <a:srgbClr val="FDFAF3"/>
                    </a:solidFill>
                  </a:tcPr>
                </a:tc>
                <a:tc>
                  <a:txBody>
                    <a:bodyPr wrap="square"/>
                    <a:lstStyle/>
                    <a:p>
                      <a:r>
                        <a:rPr sz="1200" b="0" i="0">
                          <a:solidFill>
                            <a:srgbClr val="1F2A33"/>
                          </a:solidFill>
                          <a:latin typeface="Nunito"/>
                        </a:rPr>
                        <a:t>No</a:t>
                      </a:r>
                    </a:p>
                  </a:txBody>
                  <a:tcPr marL="73152" marR="73152" marT="27432" marB="27432" anchor="ctr">
                    <a:solidFill>
                      <a:srgbClr val="FDFAF3"/>
                    </a:solidFill>
                  </a:tcPr>
                </a:tc>
                <a:tc>
                  <a:txBody>
                    <a:bodyPr wrap="square"/>
                    <a:lstStyle/>
                    <a:p>
                      <a:r>
                        <a:rPr sz="1200" b="0" i="0">
                          <a:solidFill>
                            <a:srgbClr val="1F2A33"/>
                          </a:solidFill>
                          <a:latin typeface="Nunito"/>
                        </a:rPr>
                        <a:t>None (MVCC)</a:t>
                      </a:r>
                    </a:p>
                  </a:txBody>
                  <a:tcPr marL="73152" marR="73152" marT="27432" marB="27432" anchor="ctr">
                    <a:solidFill>
                      <a:srgbClr val="FDFAF3"/>
                    </a:solidFill>
                  </a:tcPr>
                </a:tc>
              </a:tr>
              <a:tr h="463734">
                <a:tc>
                  <a:txBody>
                    <a:bodyPr wrap="square"/>
                    <a:lstStyle/>
                    <a:p>
                      <a:r>
                        <a:rPr sz="1200" b="1" i="0">
                          <a:solidFill>
                            <a:srgbClr val="1F2A33"/>
                          </a:solidFill>
                          <a:latin typeface="Nunito"/>
                        </a:rPr>
                        <a:t>READ COMMITTED SNAPSHOT</a:t>
                      </a:r>
                    </a:p>
                  </a:txBody>
                  <a:tcPr marL="73152" marR="73152" marT="27432" marB="27432" anchor="ctr">
                    <a:solidFill>
                      <a:srgbClr val="F6F2EA"/>
                    </a:solidFill>
                  </a:tcPr>
                </a:tc>
                <a:tc>
                  <a:txBody>
                    <a:bodyPr wrap="square"/>
                    <a:lstStyle/>
                    <a:p>
                      <a:r>
                        <a:rPr sz="1200" b="0" i="0">
                          <a:solidFill>
                            <a:srgbClr val="1F2A33"/>
                          </a:solidFill>
                          <a:latin typeface="Nunito"/>
                        </a:rPr>
                        <a:t>No</a:t>
                      </a:r>
                    </a:p>
                  </a:txBody>
                  <a:tcPr marL="73152" marR="73152" marT="27432" marB="27432" anchor="ctr">
                    <a:solidFill>
                      <a:srgbClr val="F6F2EA"/>
                    </a:solidFill>
                  </a:tcPr>
                </a:tc>
                <a:tc>
                  <a:txBody>
                    <a:bodyPr wrap="square"/>
                    <a:lstStyle/>
                    <a:p>
                      <a:r>
                        <a:rPr sz="1200" b="0" i="0">
                          <a:solidFill>
                            <a:srgbClr val="1F2A33"/>
                          </a:solidFill>
                          <a:latin typeface="Nunito"/>
                        </a:rPr>
                        <a:t>Yes</a:t>
                      </a:r>
                    </a:p>
                  </a:txBody>
                  <a:tcPr marL="73152" marR="73152" marT="27432" marB="27432" anchor="ctr">
                    <a:solidFill>
                      <a:srgbClr val="F6F2EA"/>
                    </a:solidFill>
                  </a:tcPr>
                </a:tc>
                <a:tc>
                  <a:txBody>
                    <a:bodyPr wrap="square"/>
                    <a:lstStyle/>
                    <a:p>
                      <a:r>
                        <a:rPr sz="1200" b="0" i="0">
                          <a:solidFill>
                            <a:srgbClr val="1F2A33"/>
                          </a:solidFill>
                          <a:latin typeface="Nunito"/>
                        </a:rPr>
                        <a:t>Yes</a:t>
                      </a:r>
                    </a:p>
                  </a:txBody>
                  <a:tcPr marL="73152" marR="73152" marT="27432" marB="27432" anchor="ctr">
                    <a:solidFill>
                      <a:srgbClr val="F6F2EA"/>
                    </a:solidFill>
                  </a:tcPr>
                </a:tc>
                <a:tc>
                  <a:txBody>
                    <a:bodyPr wrap="square"/>
                    <a:lstStyle/>
                    <a:p>
                      <a:r>
                        <a:rPr sz="1200" b="0" i="0">
                          <a:solidFill>
                            <a:srgbClr val="1F2A33"/>
                          </a:solidFill>
                          <a:latin typeface="Nunito"/>
                        </a:rPr>
                        <a:t>None (MVCC)</a:t>
                      </a:r>
                    </a:p>
                  </a:txBody>
                  <a:tcPr marL="73152" marR="73152" marT="27432" marB="27432" anchor="ctr">
                    <a:solidFill>
                      <a:srgbClr val="F6F2EA"/>
                    </a:solidFill>
                  </a:tcPr>
                </a:tc>
              </a:tr>
            </a:tbl>
          </a:graphicData>
        </a:graphic>
      </p:graphicFrame>
      <p:sp>
        <p:nvSpPr>
          <p:cNvPr id="8" name="Rounded Rectangle 7"/>
          <p:cNvSpPr/>
          <p:nvPr/>
        </p:nvSpPr>
        <p:spPr>
          <a:xfrm>
            <a:off x="548640" y="4937760"/>
            <a:ext cx="11091672" cy="1234440"/>
          </a:xfrm>
          <a:prstGeom prst="roundRect">
            <a:avLst>
              <a:gd name="adj" fmla="val 8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047488"/>
            <a:ext cx="10689336" cy="1014984"/>
          </a:xfrm>
          <a:prstGeom prst="rect">
            <a:avLst/>
          </a:prstGeom>
          <a:noFill/>
        </p:spPr>
        <p:txBody>
          <a:bodyPr wrap="square" lIns="0" rIns="0" tIns="0" bIns="0" anchor="ctr">
            <a:spAutoFit/>
          </a:bodyPr>
          <a:lstStyle/>
          <a:p>
            <a:pPr>
              <a:lnSpc>
                <a:spcPct val="115000"/>
              </a:lnSpc>
              <a:spcBef>
                <a:spcPts val="0"/>
              </a:spcBef>
              <a:spcAft>
                <a:spcPts val="200"/>
              </a:spcAft>
            </a:pPr>
            <a:r>
              <a:rPr sz="1150" b="1" i="0">
                <a:solidFill>
                  <a:srgbClr val="3D768E"/>
                </a:solidFill>
                <a:latin typeface="Nunito"/>
              </a:rPr>
              <a:t>Azure SQL Database Default: READ COMMITTED SNAPSHOT</a:t>
            </a:r>
          </a:p>
          <a:p>
            <a:pPr>
              <a:lnSpc>
                <a:spcPct val="115000"/>
              </a:lnSpc>
              <a:spcBef>
                <a:spcPts val="0"/>
              </a:spcBef>
              <a:spcAft>
                <a:spcPts val="0"/>
              </a:spcAft>
            </a:pPr>
            <a:r>
              <a:rPr sz="1150" b="0" i="0">
                <a:solidFill>
                  <a:srgbClr val="1F2A33"/>
                </a:solidFill>
                <a:latin typeface="Nunito"/>
              </a:rPr>
              <a:t>Azure SQL Database enables RCSI by default, using row versioning instead of locks. This eliminates reader-writer blocking but uses tempdb for the version store. SQL Server on-premises defaults to pessimistic READ COMMITTED with shared locks.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2</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13</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Execution Plans &amp; Dynamic Management Views</a:t>
            </a:r>
          </a:p>
        </p:txBody>
      </p:sp>
      <p:sp>
        <p:nvSpPr>
          <p:cNvPr id="5" name="Rounded Rectangle 4"/>
          <p:cNvSpPr/>
          <p:nvPr/>
        </p:nvSpPr>
        <p:spPr>
          <a:xfrm>
            <a:off x="548640" y="841248"/>
            <a:ext cx="658368" cy="7315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Analyze query performance at the operator level and surface live workload metadata.</a:t>
            </a:r>
          </a:p>
        </p:txBody>
      </p:sp>
      <p:sp>
        <p:nvSpPr>
          <p:cNvPr id="7" name="Rounded Rectangle 6"/>
          <p:cNvSpPr/>
          <p:nvPr/>
        </p:nvSpPr>
        <p:spPr>
          <a:xfrm>
            <a:off x="548640" y="1417320"/>
            <a:ext cx="5413248"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5193792" cy="54864"/>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5047488" cy="4480560"/>
          </a:xfrm>
          <a:prstGeom prst="rect">
            <a:avLst/>
          </a:prstGeom>
          <a:noFill/>
        </p:spPr>
        <p:txBody>
          <a:bodyPr wrap="square" lIns="0" rIns="0" tIns="0" bIns="0">
            <a:spAutoFit/>
          </a:bodyPr>
          <a:lstStyle/>
          <a:p>
            <a:pPr>
              <a:spcBef>
                <a:spcPts val="0"/>
              </a:spcBef>
              <a:spcAft>
                <a:spcPts val="0"/>
              </a:spcAft>
            </a:pPr>
            <a:r>
              <a:rPr sz="1500" b="1" i="0">
                <a:solidFill>
                  <a:srgbClr val="1F2A33"/>
                </a:solidFill>
                <a:latin typeface="Bricolage Grotesque"/>
              </a:rPr>
              <a:t>🔍  Execution Plans</a:t>
            </a:r>
          </a:p>
          <a:p>
            <a:pPr>
              <a:lnSpc>
                <a:spcPct val="100000"/>
              </a:lnSpc>
              <a:spcBef>
                <a:spcPts val="800"/>
              </a:spcBef>
              <a:spcAft>
                <a:spcPts val="0"/>
              </a:spcAft>
              <a:buNone/>
            </a:pPr>
            <a:r>
              <a:rPr sz="1200" b="1" i="0">
                <a:solidFill>
                  <a:srgbClr val="51BBD7"/>
                </a:solidFill>
                <a:latin typeface="Nunito"/>
              </a:rPr>
              <a:t>Estimated Plan</a:t>
            </a:r>
          </a:p>
          <a:p>
            <a:pPr>
              <a:lnSpc>
                <a:spcPct val="105000"/>
              </a:lnSpc>
              <a:spcBef>
                <a:spcPts val="0"/>
              </a:spcBef>
              <a:spcAft>
                <a:spcPts val="200"/>
              </a:spcAft>
              <a:buNone/>
            </a:pPr>
            <a:r>
              <a:rPr sz="1100" b="0" i="0">
                <a:solidFill>
                  <a:srgbClr val="1F2A33"/>
                </a:solidFill>
                <a:latin typeface="Nunito"/>
              </a:rPr>
              <a:t>Compiled without execution. Shows optimizer choices, estimated costs, and row counts.</a:t>
            </a:r>
          </a:p>
          <a:p>
            <a:pPr>
              <a:lnSpc>
                <a:spcPct val="100000"/>
              </a:lnSpc>
              <a:spcBef>
                <a:spcPts val="800"/>
              </a:spcBef>
              <a:spcAft>
                <a:spcPts val="0"/>
              </a:spcAft>
              <a:buNone/>
            </a:pPr>
            <a:r>
              <a:rPr sz="1200" b="1" i="0">
                <a:solidFill>
                  <a:srgbClr val="51BBD7"/>
                </a:solidFill>
                <a:latin typeface="Nunito"/>
              </a:rPr>
              <a:t>Actual Plan</a:t>
            </a:r>
          </a:p>
          <a:p>
            <a:pPr>
              <a:lnSpc>
                <a:spcPct val="105000"/>
              </a:lnSpc>
              <a:spcBef>
                <a:spcPts val="0"/>
              </a:spcBef>
              <a:spcAft>
                <a:spcPts val="200"/>
              </a:spcAft>
              <a:buNone/>
            </a:pPr>
            <a:r>
              <a:rPr sz="1100" b="0" i="0">
                <a:solidFill>
                  <a:srgbClr val="1F2A33"/>
                </a:solidFill>
                <a:latin typeface="Nunito"/>
              </a:rPr>
              <a:t>Includes actual row counts, memory grants, and runtime statistics. Essential for cardinality errors.</a:t>
            </a:r>
          </a:p>
          <a:p>
            <a:pPr>
              <a:spcBef>
                <a:spcPts val="1000"/>
              </a:spcBef>
              <a:spcAft>
                <a:spcPts val="400"/>
              </a:spcAft>
              <a:buNone/>
            </a:pPr>
            <a:r>
              <a:rPr sz="1200" b="1" i="0">
                <a:solidFill>
                  <a:srgbClr val="51BBD7"/>
                </a:solidFill>
                <a:latin typeface="Nunito"/>
              </a:rPr>
              <a:t>Key Operators to Watch</a:t>
            </a:r>
          </a:p>
          <a:p>
            <a:pPr marL="164592" indent="-164592">
              <a:lnSpc>
                <a:spcPct val="105000"/>
              </a:lnSpc>
              <a:spcBef>
                <a:spcPts val="0"/>
              </a:spcBef>
              <a:spcAft>
                <a:spcPts val="400"/>
              </a:spcAft>
              <a:buFont typeface="Nunito"/>
              <a:buChar char="•"/>
            </a:pPr>
            <a:r>
              <a:rPr sz="1100" b="0" i="0">
                <a:solidFill>
                  <a:srgbClr val="1F2A33"/>
                </a:solidFill>
                <a:latin typeface="Nunito"/>
              </a:rPr>
              <a:t>Table/Index Scan: full scan, often a missing index signal</a:t>
            </a:r>
          </a:p>
          <a:p>
            <a:pPr marL="164592" indent="-164592">
              <a:lnSpc>
                <a:spcPct val="105000"/>
              </a:lnSpc>
              <a:spcBef>
                <a:spcPts val="0"/>
              </a:spcBef>
              <a:spcAft>
                <a:spcPts val="400"/>
              </a:spcAft>
              <a:buFont typeface="Nunito"/>
              <a:buChar char="•"/>
            </a:pPr>
            <a:r>
              <a:rPr sz="1100" b="0" i="0">
                <a:solidFill>
                  <a:srgbClr val="1F2A33"/>
                </a:solidFill>
                <a:latin typeface="Nunito"/>
              </a:rPr>
              <a:t>Key Lookup: nonclustered index + clustered index hop</a:t>
            </a:r>
          </a:p>
          <a:p>
            <a:pPr marL="164592" indent="-164592">
              <a:lnSpc>
                <a:spcPct val="105000"/>
              </a:lnSpc>
              <a:spcBef>
                <a:spcPts val="0"/>
              </a:spcBef>
              <a:spcAft>
                <a:spcPts val="400"/>
              </a:spcAft>
              <a:buFont typeface="Nunito"/>
              <a:buChar char="•"/>
            </a:pPr>
            <a:r>
              <a:rPr sz="1100" b="0" i="0">
                <a:solidFill>
                  <a:srgbClr val="1F2A33"/>
                </a:solidFill>
                <a:latin typeface="Nunito"/>
              </a:rPr>
              <a:t>Sort with spill: insufficient memory grant</a:t>
            </a:r>
          </a:p>
          <a:p>
            <a:pPr marL="164592" indent="-164592">
              <a:lnSpc>
                <a:spcPct val="105000"/>
              </a:lnSpc>
              <a:spcBef>
                <a:spcPts val="0"/>
              </a:spcBef>
              <a:spcAft>
                <a:spcPts val="400"/>
              </a:spcAft>
              <a:buFont typeface="Nunito"/>
              <a:buChar char="•"/>
            </a:pPr>
            <a:r>
              <a:rPr sz="1100" b="0" i="0">
                <a:solidFill>
                  <a:srgbClr val="1F2A33"/>
                </a:solidFill>
                <a:latin typeface="Nunito"/>
              </a:rPr>
              <a:t>Implicit conversion: data type mismatch kills index seeks</a:t>
            </a:r>
          </a:p>
        </p:txBody>
      </p:sp>
      <p:sp>
        <p:nvSpPr>
          <p:cNvPr id="10" name="Rounded Rectangle 9"/>
          <p:cNvSpPr/>
          <p:nvPr/>
        </p:nvSpPr>
        <p:spPr>
          <a:xfrm>
            <a:off x="6227064" y="1417320"/>
            <a:ext cx="5413248"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36792" y="1417320"/>
            <a:ext cx="5193792" cy="54864"/>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581912"/>
            <a:ext cx="5010912" cy="292608"/>
          </a:xfrm>
          <a:prstGeom prst="rect">
            <a:avLst/>
          </a:prstGeom>
          <a:noFill/>
        </p:spPr>
        <p:txBody>
          <a:bodyPr wrap="square" lIns="0" rIns="0" tIns="0" bIns="0">
            <a:spAutoFit/>
          </a:bodyPr>
          <a:lstStyle/>
          <a:p>
            <a:pPr>
              <a:spcBef>
                <a:spcPts val="0"/>
              </a:spcBef>
              <a:spcAft>
                <a:spcPts val="0"/>
              </a:spcAft>
            </a:pPr>
            <a:r>
              <a:rPr sz="1600" b="1" i="0">
                <a:solidFill>
                  <a:srgbClr val="1F2A33"/>
                </a:solidFill>
                <a:latin typeface="Bricolage Grotesque"/>
              </a:rPr>
              <a:t>🗄  Key DMVs for Performance</a:t>
            </a:r>
          </a:p>
        </p:txBody>
      </p:sp>
      <p:sp>
        <p:nvSpPr>
          <p:cNvPr id="13" name="TextBox 12"/>
          <p:cNvSpPr txBox="1"/>
          <p:nvPr/>
        </p:nvSpPr>
        <p:spPr>
          <a:xfrm>
            <a:off x="6428232" y="1947672"/>
            <a:ext cx="5010912" cy="4224528"/>
          </a:xfrm>
          <a:prstGeom prst="rect">
            <a:avLst/>
          </a:prstGeom>
          <a:noFill/>
        </p:spPr>
        <p:txBody>
          <a:bodyPr wrap="square" lIns="0" rIns="0" tIns="0" bIns="0">
            <a:spAutoFit/>
          </a:bodyPr>
          <a:lstStyle/>
          <a:p>
            <a:pPr>
              <a:lnSpc>
                <a:spcPct val="100000"/>
              </a:lnSpc>
              <a:spcBef>
                <a:spcPts val="0"/>
              </a:spcBef>
              <a:spcAft>
                <a:spcPts val="100"/>
              </a:spcAft>
              <a:buNone/>
            </a:pPr>
            <a:r>
              <a:rPr sz="1200" b="1" i="0">
                <a:solidFill>
                  <a:srgbClr val="3D768E"/>
                </a:solidFill>
                <a:latin typeface="JetBrains Mono"/>
              </a:rPr>
              <a:t>sys.dm_exec_query_stats</a:t>
            </a:r>
          </a:p>
          <a:p>
            <a:pPr>
              <a:lnSpc>
                <a:spcPct val="105000"/>
              </a:lnSpc>
              <a:spcBef>
                <a:spcPts val="0"/>
              </a:spcBef>
              <a:spcAft>
                <a:spcPts val="600"/>
              </a:spcAft>
              <a:buNone/>
            </a:pPr>
            <a:r>
              <a:rPr sz="1050" b="0" i="0">
                <a:solidFill>
                  <a:srgbClr val="1F2A33"/>
                </a:solidFill>
                <a:latin typeface="Nunito"/>
              </a:rPr>
              <a:t>Cumulative CPU, reads, writes, execution counts per query plan</a:t>
            </a:r>
          </a:p>
          <a:p>
            <a:pPr>
              <a:lnSpc>
                <a:spcPct val="100000"/>
              </a:lnSpc>
              <a:spcBef>
                <a:spcPts val="0"/>
              </a:spcBef>
              <a:spcAft>
                <a:spcPts val="100"/>
              </a:spcAft>
              <a:buNone/>
            </a:pPr>
            <a:r>
              <a:rPr sz="1200" b="1" i="0">
                <a:solidFill>
                  <a:srgbClr val="3D768E"/>
                </a:solidFill>
                <a:latin typeface="JetBrains Mono"/>
              </a:rPr>
              <a:t>sys.dm_exec_requests</a:t>
            </a:r>
          </a:p>
          <a:p>
            <a:pPr>
              <a:lnSpc>
                <a:spcPct val="105000"/>
              </a:lnSpc>
              <a:spcBef>
                <a:spcPts val="0"/>
              </a:spcBef>
              <a:spcAft>
                <a:spcPts val="600"/>
              </a:spcAft>
              <a:buNone/>
            </a:pPr>
            <a:r>
              <a:rPr sz="1050" b="0" i="0">
                <a:solidFill>
                  <a:srgbClr val="1F2A33"/>
                </a:solidFill>
                <a:latin typeface="Nunito"/>
              </a:rPr>
              <a:t>Currently executing requests with wait types and blocking info</a:t>
            </a:r>
          </a:p>
          <a:p>
            <a:pPr>
              <a:lnSpc>
                <a:spcPct val="100000"/>
              </a:lnSpc>
              <a:spcBef>
                <a:spcPts val="0"/>
              </a:spcBef>
              <a:spcAft>
                <a:spcPts val="100"/>
              </a:spcAft>
              <a:buNone/>
            </a:pPr>
            <a:r>
              <a:rPr sz="1200" b="1" i="0">
                <a:solidFill>
                  <a:srgbClr val="3D768E"/>
                </a:solidFill>
                <a:latin typeface="JetBrains Mono"/>
              </a:rPr>
              <a:t>sys.dm_db_index_usage_stats</a:t>
            </a:r>
          </a:p>
          <a:p>
            <a:pPr>
              <a:lnSpc>
                <a:spcPct val="105000"/>
              </a:lnSpc>
              <a:spcBef>
                <a:spcPts val="0"/>
              </a:spcBef>
              <a:spcAft>
                <a:spcPts val="600"/>
              </a:spcAft>
              <a:buNone/>
            </a:pPr>
            <a:r>
              <a:rPr sz="1050" b="0" i="0">
                <a:solidFill>
                  <a:srgbClr val="1F2A33"/>
                </a:solidFill>
                <a:latin typeface="Nunito"/>
              </a:rPr>
              <a:t>Seeks, scans, lookups, updates per index since restart</a:t>
            </a:r>
          </a:p>
          <a:p>
            <a:pPr>
              <a:lnSpc>
                <a:spcPct val="100000"/>
              </a:lnSpc>
              <a:spcBef>
                <a:spcPts val="0"/>
              </a:spcBef>
              <a:spcAft>
                <a:spcPts val="100"/>
              </a:spcAft>
              <a:buNone/>
            </a:pPr>
            <a:r>
              <a:rPr sz="1200" b="1" i="0">
                <a:solidFill>
                  <a:srgbClr val="3D768E"/>
                </a:solidFill>
                <a:latin typeface="JetBrains Mono"/>
              </a:rPr>
              <a:t>sys.dm_db_missing_index_*</a:t>
            </a:r>
          </a:p>
          <a:p>
            <a:pPr>
              <a:lnSpc>
                <a:spcPct val="105000"/>
              </a:lnSpc>
              <a:spcBef>
                <a:spcPts val="0"/>
              </a:spcBef>
              <a:spcAft>
                <a:spcPts val="600"/>
              </a:spcAft>
              <a:buNone/>
            </a:pPr>
            <a:r>
              <a:rPr sz="1050" b="0" i="0">
                <a:solidFill>
                  <a:srgbClr val="1F2A33"/>
                </a:solidFill>
                <a:latin typeface="Nunito"/>
              </a:rPr>
              <a:t>Optimizer-suggested missing indexes with estimated impact</a:t>
            </a:r>
          </a:p>
          <a:p>
            <a:pPr>
              <a:lnSpc>
                <a:spcPct val="100000"/>
              </a:lnSpc>
              <a:spcBef>
                <a:spcPts val="0"/>
              </a:spcBef>
              <a:spcAft>
                <a:spcPts val="100"/>
              </a:spcAft>
              <a:buNone/>
            </a:pPr>
            <a:r>
              <a:rPr sz="1200" b="1" i="0">
                <a:solidFill>
                  <a:srgbClr val="3D768E"/>
                </a:solidFill>
                <a:latin typeface="JetBrains Mono"/>
              </a:rPr>
              <a:t>sys.dm_os_wait_stats</a:t>
            </a:r>
          </a:p>
          <a:p>
            <a:pPr>
              <a:lnSpc>
                <a:spcPct val="105000"/>
              </a:lnSpc>
              <a:spcBef>
                <a:spcPts val="0"/>
              </a:spcBef>
              <a:spcAft>
                <a:spcPts val="600"/>
              </a:spcAft>
              <a:buNone/>
            </a:pPr>
            <a:r>
              <a:rPr sz="1050" b="0" i="0">
                <a:solidFill>
                  <a:srgbClr val="1F2A33"/>
                </a:solidFill>
                <a:latin typeface="Nunito"/>
              </a:rPr>
              <a:t>Aggregate wait types across instance: identify bottlenecks</a:t>
            </a:r>
          </a:p>
          <a:p>
            <a:pPr>
              <a:lnSpc>
                <a:spcPct val="100000"/>
              </a:lnSpc>
              <a:spcBef>
                <a:spcPts val="0"/>
              </a:spcBef>
              <a:spcAft>
                <a:spcPts val="100"/>
              </a:spcAft>
              <a:buNone/>
            </a:pPr>
            <a:r>
              <a:rPr sz="1200" b="1" i="0">
                <a:solidFill>
                  <a:srgbClr val="3D768E"/>
                </a:solidFill>
                <a:latin typeface="JetBrains Mono"/>
              </a:rPr>
              <a:t>sys.dm_tran_locks</a:t>
            </a:r>
          </a:p>
          <a:p>
            <a:pPr>
              <a:lnSpc>
                <a:spcPct val="105000"/>
              </a:lnSpc>
              <a:spcBef>
                <a:spcPts val="0"/>
              </a:spcBef>
              <a:spcAft>
                <a:spcPts val="600"/>
              </a:spcAft>
              <a:buNone/>
            </a:pPr>
            <a:r>
              <a:rPr sz="1050" b="0" i="0">
                <a:solidFill>
                  <a:srgbClr val="1F2A33"/>
                </a:solidFill>
                <a:latin typeface="Nunito"/>
              </a:rPr>
              <a:t>Active locks, lock modes, and resources being locked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2</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14</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Query Store &amp; Query Performance Insight</a:t>
            </a:r>
          </a:p>
        </p:txBody>
      </p:sp>
      <p:sp>
        <p:nvSpPr>
          <p:cNvPr id="5" name="Rounded Rectangle 4"/>
          <p:cNvSpPr/>
          <p:nvPr/>
        </p:nvSpPr>
        <p:spPr>
          <a:xfrm>
            <a:off x="548640" y="841248"/>
            <a:ext cx="658368" cy="73152"/>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Track historical query performance, detect regressions, and force optimal execution plans.</a:t>
            </a:r>
          </a:p>
        </p:txBody>
      </p:sp>
      <p:sp>
        <p:nvSpPr>
          <p:cNvPr id="7" name="Rounded Rectangle 6"/>
          <p:cNvSpPr/>
          <p:nvPr/>
        </p:nvSpPr>
        <p:spPr>
          <a:xfrm>
            <a:off x="548640" y="1417320"/>
            <a:ext cx="5413248"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5193792" cy="54864"/>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5010912" cy="292608"/>
          </a:xfrm>
          <a:prstGeom prst="rect">
            <a:avLst/>
          </a:prstGeom>
          <a:noFill/>
        </p:spPr>
        <p:txBody>
          <a:bodyPr wrap="square" lIns="0" rIns="0" tIns="0" bIns="0">
            <a:spAutoFit/>
          </a:bodyPr>
          <a:lstStyle/>
          <a:p>
            <a:pPr>
              <a:spcBef>
                <a:spcPts val="0"/>
              </a:spcBef>
              <a:spcAft>
                <a:spcPts val="0"/>
              </a:spcAft>
            </a:pPr>
            <a:r>
              <a:rPr sz="1600" b="1" i="0">
                <a:solidFill>
                  <a:srgbClr val="1F2A33"/>
                </a:solidFill>
                <a:latin typeface="Bricolage Grotesque"/>
              </a:rPr>
              <a:t>Query Store</a:t>
            </a:r>
          </a:p>
        </p:txBody>
      </p:sp>
      <p:sp>
        <p:nvSpPr>
          <p:cNvPr id="10" name="TextBox 9"/>
          <p:cNvSpPr txBox="1"/>
          <p:nvPr/>
        </p:nvSpPr>
        <p:spPr>
          <a:xfrm>
            <a:off x="749808" y="1947672"/>
            <a:ext cx="5010912" cy="4224528"/>
          </a:xfrm>
          <a:prstGeom prst="rect">
            <a:avLst/>
          </a:prstGeom>
          <a:noFill/>
        </p:spPr>
        <p:txBody>
          <a:bodyPr wrap="square" lIns="0" rIns="0" tIns="0" bIns="0">
            <a:spAutoFit/>
          </a:bodyPr>
          <a:lstStyle/>
          <a:p>
            <a:pPr>
              <a:lnSpc>
                <a:spcPct val="100000"/>
              </a:lnSpc>
              <a:spcBef>
                <a:spcPts val="0"/>
              </a:spcBef>
              <a:spcAft>
                <a:spcPts val="100"/>
              </a:spcAft>
              <a:buNone/>
            </a:pPr>
            <a:r>
              <a:rPr sz="1150" b="1" i="0">
                <a:solidFill>
                  <a:srgbClr val="3BB283"/>
                </a:solidFill>
                <a:latin typeface="Nunito"/>
              </a:rPr>
              <a:t>Automatic Capture:</a:t>
            </a:r>
          </a:p>
          <a:p>
            <a:pPr>
              <a:lnSpc>
                <a:spcPct val="105000"/>
              </a:lnSpc>
              <a:spcBef>
                <a:spcPts val="0"/>
              </a:spcBef>
              <a:spcAft>
                <a:spcPts val="500"/>
              </a:spcAft>
              <a:buNone/>
            </a:pPr>
            <a:r>
              <a:rPr sz="1000" b="0" i="0">
                <a:solidFill>
                  <a:srgbClr val="1F2A33"/>
                </a:solidFill>
                <a:latin typeface="Nunito"/>
              </a:rPr>
              <a:t>Stores query text, execution plans, and runtime statistics inside the database</a:t>
            </a:r>
          </a:p>
          <a:p>
            <a:pPr>
              <a:lnSpc>
                <a:spcPct val="100000"/>
              </a:lnSpc>
              <a:spcBef>
                <a:spcPts val="0"/>
              </a:spcBef>
              <a:spcAft>
                <a:spcPts val="100"/>
              </a:spcAft>
              <a:buNone/>
            </a:pPr>
            <a:r>
              <a:rPr sz="1150" b="1" i="0">
                <a:solidFill>
                  <a:srgbClr val="3BB283"/>
                </a:solidFill>
                <a:latin typeface="Nunito"/>
              </a:rPr>
              <a:t>Plan History:</a:t>
            </a:r>
          </a:p>
          <a:p>
            <a:pPr>
              <a:lnSpc>
                <a:spcPct val="105000"/>
              </a:lnSpc>
              <a:spcBef>
                <a:spcPts val="0"/>
              </a:spcBef>
              <a:spcAft>
                <a:spcPts val="500"/>
              </a:spcAft>
              <a:buNone/>
            </a:pPr>
            <a:r>
              <a:rPr sz="1000" b="0" i="0">
                <a:solidFill>
                  <a:srgbClr val="1F2A33"/>
                </a:solidFill>
                <a:latin typeface="Nunito"/>
              </a:rPr>
              <a:t>Tracks all execution plans for each query over time, enabling regression detection</a:t>
            </a:r>
          </a:p>
          <a:p>
            <a:pPr>
              <a:lnSpc>
                <a:spcPct val="100000"/>
              </a:lnSpc>
              <a:spcBef>
                <a:spcPts val="0"/>
              </a:spcBef>
              <a:spcAft>
                <a:spcPts val="100"/>
              </a:spcAft>
              <a:buNone/>
            </a:pPr>
            <a:r>
              <a:rPr sz="1150" b="1" i="0">
                <a:solidFill>
                  <a:srgbClr val="3BB283"/>
                </a:solidFill>
                <a:latin typeface="Nunito"/>
              </a:rPr>
              <a:t>Plan Forcing:</a:t>
            </a:r>
          </a:p>
          <a:p>
            <a:pPr>
              <a:lnSpc>
                <a:spcPct val="105000"/>
              </a:lnSpc>
              <a:spcBef>
                <a:spcPts val="0"/>
              </a:spcBef>
              <a:spcAft>
                <a:spcPts val="500"/>
              </a:spcAft>
              <a:buNone/>
            </a:pPr>
            <a:r>
              <a:rPr sz="1000" b="0" i="0">
                <a:solidFill>
                  <a:srgbClr val="1F2A33"/>
                </a:solidFill>
                <a:latin typeface="Nunito"/>
              </a:rPr>
              <a:t>Force the optimizer to use a known-good plan: sp_query_store_force_plan</a:t>
            </a:r>
          </a:p>
          <a:p>
            <a:pPr>
              <a:lnSpc>
                <a:spcPct val="100000"/>
              </a:lnSpc>
              <a:spcBef>
                <a:spcPts val="0"/>
              </a:spcBef>
              <a:spcAft>
                <a:spcPts val="100"/>
              </a:spcAft>
              <a:buNone/>
            </a:pPr>
            <a:r>
              <a:rPr sz="1150" b="1" i="0">
                <a:solidFill>
                  <a:srgbClr val="3BB283"/>
                </a:solidFill>
                <a:latin typeface="Nunito"/>
              </a:rPr>
              <a:t>Regressed Queries:</a:t>
            </a:r>
          </a:p>
          <a:p>
            <a:pPr>
              <a:lnSpc>
                <a:spcPct val="105000"/>
              </a:lnSpc>
              <a:spcBef>
                <a:spcPts val="0"/>
              </a:spcBef>
              <a:spcAft>
                <a:spcPts val="500"/>
              </a:spcAft>
              <a:buNone/>
            </a:pPr>
            <a:r>
              <a:rPr sz="1000" b="0" i="0">
                <a:solidFill>
                  <a:srgbClr val="1F2A33"/>
                </a:solidFill>
                <a:latin typeface="Nunito"/>
              </a:rPr>
              <a:t>Built-in reports identify queries whose performance has degraded</a:t>
            </a:r>
          </a:p>
          <a:p>
            <a:pPr>
              <a:lnSpc>
                <a:spcPct val="100000"/>
              </a:lnSpc>
              <a:spcBef>
                <a:spcPts val="0"/>
              </a:spcBef>
              <a:spcAft>
                <a:spcPts val="100"/>
              </a:spcAft>
              <a:buNone/>
            </a:pPr>
            <a:r>
              <a:rPr sz="1150" b="1" i="0">
                <a:solidFill>
                  <a:srgbClr val="3BB283"/>
                </a:solidFill>
                <a:latin typeface="Nunito"/>
              </a:rPr>
              <a:t>Wait Statistics:</a:t>
            </a:r>
          </a:p>
          <a:p>
            <a:pPr>
              <a:lnSpc>
                <a:spcPct val="105000"/>
              </a:lnSpc>
              <a:spcBef>
                <a:spcPts val="0"/>
              </a:spcBef>
              <a:spcAft>
                <a:spcPts val="500"/>
              </a:spcAft>
              <a:buNone/>
            </a:pPr>
            <a:r>
              <a:rPr sz="1000" b="0" i="0">
                <a:solidFill>
                  <a:srgbClr val="1F2A33"/>
                </a:solidFill>
                <a:latin typeface="Nunito"/>
              </a:rPr>
              <a:t>Query-level wait stats show exactly what each query is waiting on</a:t>
            </a:r>
          </a:p>
          <a:p>
            <a:pPr>
              <a:lnSpc>
                <a:spcPct val="100000"/>
              </a:lnSpc>
              <a:spcBef>
                <a:spcPts val="0"/>
              </a:spcBef>
              <a:spcAft>
                <a:spcPts val="100"/>
              </a:spcAft>
              <a:buNone/>
            </a:pPr>
            <a:r>
              <a:rPr sz="1150" b="1" i="0">
                <a:solidFill>
                  <a:srgbClr val="3BB283"/>
                </a:solidFill>
                <a:latin typeface="Nunito"/>
              </a:rPr>
              <a:t>Automatic Tuning:</a:t>
            </a:r>
          </a:p>
          <a:p>
            <a:pPr>
              <a:lnSpc>
                <a:spcPct val="105000"/>
              </a:lnSpc>
              <a:spcBef>
                <a:spcPts val="0"/>
              </a:spcBef>
              <a:spcAft>
                <a:spcPts val="500"/>
              </a:spcAft>
              <a:buNone/>
            </a:pPr>
            <a:r>
              <a:rPr sz="1000" b="0" i="0">
                <a:solidFill>
                  <a:srgbClr val="1F2A33"/>
                </a:solidFill>
                <a:latin typeface="Nunito"/>
              </a:rPr>
              <a:t>SQL Server automatically forces last known good plan on regression</a:t>
            </a:r>
          </a:p>
          <a:p>
            <a:pPr>
              <a:lnSpc>
                <a:spcPct val="100000"/>
              </a:lnSpc>
              <a:spcBef>
                <a:spcPts val="0"/>
              </a:spcBef>
              <a:spcAft>
                <a:spcPts val="100"/>
              </a:spcAft>
              <a:buNone/>
            </a:pPr>
            <a:r>
              <a:rPr sz="1150" b="1" i="0">
                <a:solidFill>
                  <a:srgbClr val="3BB283"/>
                </a:solidFill>
                <a:latin typeface="Nunito"/>
              </a:rPr>
              <a:t>Custom Capture Policy:</a:t>
            </a:r>
          </a:p>
          <a:p>
            <a:pPr>
              <a:lnSpc>
                <a:spcPct val="105000"/>
              </a:lnSpc>
              <a:spcBef>
                <a:spcPts val="0"/>
              </a:spcBef>
              <a:spcAft>
                <a:spcPts val="500"/>
              </a:spcAft>
              <a:buNone/>
            </a:pPr>
            <a:r>
              <a:rPr sz="1000" b="0" i="0">
                <a:solidFill>
                  <a:srgbClr val="1F2A33"/>
                </a:solidFill>
                <a:latin typeface="Nunito"/>
              </a:rPr>
              <a:t>Filter by execution count, CPU threshold, or stale query cleanup interval</a:t>
            </a:r>
          </a:p>
        </p:txBody>
      </p:sp>
      <p:sp>
        <p:nvSpPr>
          <p:cNvPr id="11" name="Rounded Rectangle 10"/>
          <p:cNvSpPr/>
          <p:nvPr/>
        </p:nvSpPr>
        <p:spPr>
          <a:xfrm>
            <a:off x="6227064" y="1417320"/>
            <a:ext cx="5413248"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36792" y="1417320"/>
            <a:ext cx="5193792" cy="54864"/>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581912"/>
            <a:ext cx="5010912" cy="292608"/>
          </a:xfrm>
          <a:prstGeom prst="rect">
            <a:avLst/>
          </a:prstGeom>
          <a:noFill/>
        </p:spPr>
        <p:txBody>
          <a:bodyPr wrap="square" lIns="0" rIns="0" tIns="0" bIns="0">
            <a:spAutoFit/>
          </a:bodyPr>
          <a:lstStyle/>
          <a:p>
            <a:pPr>
              <a:spcBef>
                <a:spcPts val="0"/>
              </a:spcBef>
              <a:spcAft>
                <a:spcPts val="0"/>
              </a:spcAft>
            </a:pPr>
            <a:r>
              <a:rPr sz="1600" b="1" i="0">
                <a:solidFill>
                  <a:srgbClr val="1F2A33"/>
                </a:solidFill>
                <a:latin typeface="Bricolage Grotesque"/>
              </a:rPr>
              <a:t>Query Performance Insight</a:t>
            </a:r>
          </a:p>
        </p:txBody>
      </p:sp>
      <p:sp>
        <p:nvSpPr>
          <p:cNvPr id="14" name="TextBox 13"/>
          <p:cNvSpPr txBox="1"/>
          <p:nvPr/>
        </p:nvSpPr>
        <p:spPr>
          <a:xfrm>
            <a:off x="6428232" y="1947672"/>
            <a:ext cx="5010912" cy="4224528"/>
          </a:xfrm>
          <a:prstGeom prst="rect">
            <a:avLst/>
          </a:prstGeom>
          <a:noFill/>
        </p:spPr>
        <p:txBody>
          <a:bodyPr wrap="square" lIns="0" rIns="0" tIns="0" bIns="0">
            <a:spAutoFit/>
          </a:bodyPr>
          <a:lstStyle/>
          <a:p>
            <a:pPr marL="164592" indent="-164592">
              <a:lnSpc>
                <a:spcPct val="106000"/>
              </a:lnSpc>
              <a:spcBef>
                <a:spcPts val="0"/>
              </a:spcBef>
              <a:spcAft>
                <a:spcPts val="1000"/>
              </a:spcAft>
              <a:buFont typeface="Nunito"/>
              <a:buChar char="•"/>
            </a:pPr>
            <a:r>
              <a:rPr sz="1250" b="0" i="0">
                <a:solidFill>
                  <a:srgbClr val="1F2A33"/>
                </a:solidFill>
                <a:latin typeface="Nunito"/>
              </a:rPr>
              <a:t>Azure portal dashboard for Azure SQL Database</a:t>
            </a:r>
          </a:p>
          <a:p>
            <a:pPr marL="164592" indent="-164592">
              <a:lnSpc>
                <a:spcPct val="106000"/>
              </a:lnSpc>
              <a:spcBef>
                <a:spcPts val="0"/>
              </a:spcBef>
              <a:spcAft>
                <a:spcPts val="1000"/>
              </a:spcAft>
              <a:buFont typeface="Nunito"/>
              <a:buChar char="•"/>
            </a:pPr>
            <a:r>
              <a:rPr sz="1250" b="0" i="0">
                <a:solidFill>
                  <a:srgbClr val="1F2A33"/>
                </a:solidFill>
                <a:latin typeface="Nunito"/>
              </a:rPr>
              <a:t>Visual top resource-consuming queries</a:t>
            </a:r>
          </a:p>
          <a:p>
            <a:pPr marL="164592" indent="-164592">
              <a:lnSpc>
                <a:spcPct val="106000"/>
              </a:lnSpc>
              <a:spcBef>
                <a:spcPts val="0"/>
              </a:spcBef>
              <a:spcAft>
                <a:spcPts val="1000"/>
              </a:spcAft>
              <a:buFont typeface="Nunito"/>
              <a:buChar char="•"/>
            </a:pPr>
            <a:r>
              <a:rPr sz="1250" b="0" i="0">
                <a:solidFill>
                  <a:srgbClr val="1F2A33"/>
                </a:solidFill>
                <a:latin typeface="Nunito"/>
              </a:rPr>
              <a:t>Interactive time-range filtering</a:t>
            </a:r>
          </a:p>
          <a:p>
            <a:pPr marL="164592" indent="-164592">
              <a:lnSpc>
                <a:spcPct val="106000"/>
              </a:lnSpc>
              <a:spcBef>
                <a:spcPts val="0"/>
              </a:spcBef>
              <a:spcAft>
                <a:spcPts val="1000"/>
              </a:spcAft>
              <a:buFont typeface="Nunito"/>
              <a:buChar char="•"/>
            </a:pPr>
            <a:r>
              <a:rPr sz="1250" b="0" i="0">
                <a:solidFill>
                  <a:srgbClr val="1F2A33"/>
                </a:solidFill>
                <a:latin typeface="Nunito"/>
              </a:rPr>
              <a:t>Drill into individual query history</a:t>
            </a:r>
          </a:p>
          <a:p>
            <a:pPr marL="164592" indent="-164592">
              <a:lnSpc>
                <a:spcPct val="106000"/>
              </a:lnSpc>
              <a:spcBef>
                <a:spcPts val="0"/>
              </a:spcBef>
              <a:spcAft>
                <a:spcPts val="1000"/>
              </a:spcAft>
              <a:buFont typeface="Nunito"/>
              <a:buChar char="•"/>
            </a:pPr>
            <a:r>
              <a:rPr sz="1250" b="0" i="0">
                <a:solidFill>
                  <a:srgbClr val="1F2A33"/>
                </a:solidFill>
                <a:latin typeface="Nunito"/>
              </a:rPr>
              <a:t>Built on Query Store data</a:t>
            </a:r>
          </a:p>
          <a:p>
            <a:pPr marL="164592" indent="-164592">
              <a:lnSpc>
                <a:spcPct val="106000"/>
              </a:lnSpc>
              <a:spcBef>
                <a:spcPts val="0"/>
              </a:spcBef>
              <a:spcAft>
                <a:spcPts val="1000"/>
              </a:spcAft>
              <a:buFont typeface="Nunito"/>
              <a:buChar char="•"/>
            </a:pPr>
            <a:r>
              <a:rPr sz="1250" b="0" i="0">
                <a:solidFill>
                  <a:srgbClr val="1F2A33"/>
                </a:solidFill>
                <a:latin typeface="Nunito"/>
              </a:rPr>
              <a:t>Recommendations for indexes</a:t>
            </a:r>
          </a:p>
          <a:p>
            <a:pPr marL="164592" indent="-164592">
              <a:lnSpc>
                <a:spcPct val="106000"/>
              </a:lnSpc>
              <a:spcBef>
                <a:spcPts val="0"/>
              </a:spcBef>
              <a:spcAft>
                <a:spcPts val="1000"/>
              </a:spcAft>
              <a:buFont typeface="Nunito"/>
              <a:buChar char="•"/>
            </a:pPr>
            <a:r>
              <a:rPr sz="1250" b="0" i="0">
                <a:solidFill>
                  <a:srgbClr val="1F2A33"/>
                </a:solidFill>
                <a:latin typeface="Nunito"/>
              </a:rPr>
              <a:t>CPU, data I/O, and log I/O views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2</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15</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Blocking &amp; Deadlocks</a:t>
            </a:r>
          </a:p>
        </p:txBody>
      </p:sp>
      <p:sp>
        <p:nvSpPr>
          <p:cNvPr id="5" name="Rounded Rectangle 4"/>
          <p:cNvSpPr/>
          <p:nvPr/>
        </p:nvSpPr>
        <p:spPr>
          <a:xfrm>
            <a:off x="548640" y="841248"/>
            <a:ext cx="658368" cy="73152"/>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Identify and resolve concurrency problems that impact application throughput.</a:t>
            </a:r>
          </a:p>
        </p:txBody>
      </p:sp>
      <p:sp>
        <p:nvSpPr>
          <p:cNvPr id="7" name="Rounded Rectangle 6"/>
          <p:cNvSpPr/>
          <p:nvPr/>
        </p:nvSpPr>
        <p:spPr>
          <a:xfrm>
            <a:off x="548640" y="1417320"/>
            <a:ext cx="5413248"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5193792" cy="54864"/>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5047488" cy="4526280"/>
          </a:xfrm>
          <a:prstGeom prst="rect">
            <a:avLst/>
          </a:prstGeom>
          <a:noFill/>
        </p:spPr>
        <p:txBody>
          <a:bodyPr wrap="square" lIns="0" rIns="0" tIns="0" bIns="0">
            <a:spAutoFit/>
          </a:bodyPr>
          <a:lstStyle/>
          <a:p>
            <a:pPr>
              <a:spcBef>
                <a:spcPts val="0"/>
              </a:spcBef>
              <a:spcAft>
                <a:spcPts val="0"/>
              </a:spcAft>
            </a:pPr>
            <a:r>
              <a:rPr sz="1500" b="1" i="0">
                <a:solidFill>
                  <a:srgbClr val="1F2A33"/>
                </a:solidFill>
                <a:latin typeface="Bricolage Grotesque"/>
              </a:rPr>
              <a:t>📚  Blocking</a:t>
            </a:r>
          </a:p>
          <a:p>
            <a:pPr>
              <a:spcBef>
                <a:spcPts val="1000"/>
              </a:spcBef>
              <a:spcAft>
                <a:spcPts val="400"/>
              </a:spcAft>
              <a:buNone/>
            </a:pPr>
            <a:r>
              <a:rPr sz="1200" b="1" i="0">
                <a:solidFill>
                  <a:srgbClr val="3D768E"/>
                </a:solidFill>
                <a:latin typeface="Nunito"/>
              </a:rPr>
              <a:t>Detection</a:t>
            </a:r>
          </a:p>
          <a:p>
            <a:pPr marL="164592" indent="-164592">
              <a:lnSpc>
                <a:spcPct val="105000"/>
              </a:lnSpc>
              <a:spcBef>
                <a:spcPts val="0"/>
              </a:spcBef>
              <a:spcAft>
                <a:spcPts val="400"/>
              </a:spcAft>
              <a:buFont typeface="Nunito"/>
              <a:buChar char="•"/>
            </a:pPr>
            <a:r>
              <a:rPr sz="1100" b="0" i="0">
                <a:solidFill>
                  <a:srgbClr val="1F2A33"/>
                </a:solidFill>
                <a:latin typeface="Nunito"/>
              </a:rPr>
              <a:t>sys.dm_exec_requests: check blocking_session_id</a:t>
            </a:r>
          </a:p>
          <a:p>
            <a:pPr marL="164592" indent="-164592">
              <a:lnSpc>
                <a:spcPct val="105000"/>
              </a:lnSpc>
              <a:spcBef>
                <a:spcPts val="0"/>
              </a:spcBef>
              <a:spcAft>
                <a:spcPts val="400"/>
              </a:spcAft>
              <a:buFont typeface="Nunito"/>
              <a:buChar char="•"/>
            </a:pPr>
            <a:r>
              <a:rPr sz="1100" b="0" i="0">
                <a:solidFill>
                  <a:srgbClr val="1F2A33"/>
                </a:solidFill>
                <a:latin typeface="Nunito"/>
              </a:rPr>
              <a:t>sys.dm_tran_locks: view lock modes and resources</a:t>
            </a:r>
          </a:p>
          <a:p>
            <a:pPr marL="164592" indent="-164592">
              <a:lnSpc>
                <a:spcPct val="105000"/>
              </a:lnSpc>
              <a:spcBef>
                <a:spcPts val="0"/>
              </a:spcBef>
              <a:spcAft>
                <a:spcPts val="400"/>
              </a:spcAft>
              <a:buFont typeface="Nunito"/>
              <a:buChar char="•"/>
            </a:pPr>
            <a:r>
              <a:rPr sz="1100" b="0" i="0">
                <a:solidFill>
                  <a:srgbClr val="1F2A33"/>
                </a:solidFill>
                <a:latin typeface="Nunito"/>
              </a:rPr>
              <a:t>sp_who2 / Activity Monitor for quick blocking chains</a:t>
            </a:r>
          </a:p>
          <a:p>
            <a:pPr>
              <a:spcBef>
                <a:spcPts val="1000"/>
              </a:spcBef>
              <a:spcAft>
                <a:spcPts val="400"/>
              </a:spcAft>
              <a:buNone/>
            </a:pPr>
            <a:r>
              <a:rPr sz="1200" b="1" i="0">
                <a:solidFill>
                  <a:srgbClr val="3D768E"/>
                </a:solidFill>
                <a:latin typeface="Nunito"/>
              </a:rPr>
              <a:t>Resolution Strategies</a:t>
            </a:r>
          </a:p>
          <a:p>
            <a:pPr marL="164592" indent="-164592">
              <a:lnSpc>
                <a:spcPct val="105000"/>
              </a:lnSpc>
              <a:spcBef>
                <a:spcPts val="0"/>
              </a:spcBef>
              <a:spcAft>
                <a:spcPts val="400"/>
              </a:spcAft>
              <a:buFont typeface="Nunito"/>
              <a:buChar char="•"/>
            </a:pPr>
            <a:r>
              <a:rPr sz="1100" b="0" i="0">
                <a:solidFill>
                  <a:srgbClr val="1F2A33"/>
                </a:solidFill>
                <a:latin typeface="Nunito"/>
              </a:rPr>
              <a:t>Keep transactions short: minimize lock hold time</a:t>
            </a:r>
          </a:p>
          <a:p>
            <a:pPr marL="164592" indent="-164592">
              <a:lnSpc>
                <a:spcPct val="105000"/>
              </a:lnSpc>
              <a:spcBef>
                <a:spcPts val="0"/>
              </a:spcBef>
              <a:spcAft>
                <a:spcPts val="400"/>
              </a:spcAft>
              <a:buFont typeface="Nunito"/>
              <a:buChar char="•"/>
            </a:pPr>
            <a:r>
              <a:rPr sz="1100" b="0" i="0">
                <a:solidFill>
                  <a:srgbClr val="1F2A33"/>
                </a:solidFill>
                <a:latin typeface="Nunito"/>
              </a:rPr>
              <a:t>Use READ COMMITTED SNAPSHOT to eliminate reader-writer blocking</a:t>
            </a:r>
          </a:p>
          <a:p>
            <a:pPr marL="164592" indent="-164592">
              <a:lnSpc>
                <a:spcPct val="105000"/>
              </a:lnSpc>
              <a:spcBef>
                <a:spcPts val="0"/>
              </a:spcBef>
              <a:spcAft>
                <a:spcPts val="400"/>
              </a:spcAft>
              <a:buFont typeface="Nunito"/>
              <a:buChar char="•"/>
            </a:pPr>
            <a:r>
              <a:rPr sz="1100" b="0" i="0">
                <a:solidFill>
                  <a:srgbClr val="1F2A33"/>
                </a:solidFill>
                <a:latin typeface="Nunito"/>
              </a:rPr>
              <a:t>Add appropriate indexes to reduce lock duration</a:t>
            </a:r>
          </a:p>
          <a:p>
            <a:pPr marL="164592" indent="-164592">
              <a:lnSpc>
                <a:spcPct val="105000"/>
              </a:lnSpc>
              <a:spcBef>
                <a:spcPts val="0"/>
              </a:spcBef>
              <a:spcAft>
                <a:spcPts val="400"/>
              </a:spcAft>
              <a:buFont typeface="Nunito"/>
              <a:buChar char="•"/>
            </a:pPr>
            <a:r>
              <a:rPr sz="1100" b="0" i="0">
                <a:solidFill>
                  <a:srgbClr val="1F2A33"/>
                </a:solidFill>
                <a:latin typeface="Nunito"/>
              </a:rPr>
              <a:t>Use NOLOCK hint only for monitoring (risk dirty reads)</a:t>
            </a:r>
          </a:p>
          <a:p>
            <a:pPr marL="164592" indent="-164592">
              <a:lnSpc>
                <a:spcPct val="105000"/>
              </a:lnSpc>
              <a:spcBef>
                <a:spcPts val="0"/>
              </a:spcBef>
              <a:spcAft>
                <a:spcPts val="400"/>
              </a:spcAft>
              <a:buFont typeface="Nunito"/>
              <a:buChar char="•"/>
            </a:pPr>
            <a:r>
              <a:rPr sz="1100" b="0" i="0">
                <a:solidFill>
                  <a:srgbClr val="1F2A33"/>
                </a:solidFill>
                <a:latin typeface="Nunito"/>
              </a:rPr>
              <a:t>Configure lock timeout: SET LOCK_TIMEOUT</a:t>
            </a:r>
          </a:p>
        </p:txBody>
      </p:sp>
      <p:sp>
        <p:nvSpPr>
          <p:cNvPr id="10" name="Rounded Rectangle 9"/>
          <p:cNvSpPr/>
          <p:nvPr/>
        </p:nvSpPr>
        <p:spPr>
          <a:xfrm>
            <a:off x="6227064" y="1417320"/>
            <a:ext cx="5413248" cy="4892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36792" y="1417320"/>
            <a:ext cx="5193792" cy="54864"/>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18504" y="1581912"/>
            <a:ext cx="5047488" cy="4526280"/>
          </a:xfrm>
          <a:prstGeom prst="rect">
            <a:avLst/>
          </a:prstGeom>
          <a:noFill/>
        </p:spPr>
        <p:txBody>
          <a:bodyPr wrap="square" lIns="0" rIns="0" tIns="0" bIns="0">
            <a:spAutoFit/>
          </a:bodyPr>
          <a:lstStyle/>
          <a:p>
            <a:pPr>
              <a:spcBef>
                <a:spcPts val="0"/>
              </a:spcBef>
              <a:spcAft>
                <a:spcPts val="0"/>
              </a:spcAft>
            </a:pPr>
            <a:r>
              <a:rPr sz="1500" b="1" i="0">
                <a:solidFill>
                  <a:srgbClr val="1F2A33"/>
                </a:solidFill>
                <a:latin typeface="Bricolage Grotesque"/>
              </a:rPr>
              <a:t>⇄  Deadlocks</a:t>
            </a:r>
          </a:p>
          <a:p>
            <a:pPr>
              <a:spcBef>
                <a:spcPts val="1000"/>
              </a:spcBef>
              <a:spcAft>
                <a:spcPts val="400"/>
              </a:spcAft>
              <a:buNone/>
            </a:pPr>
            <a:r>
              <a:rPr sz="1200" b="1" i="0">
                <a:solidFill>
                  <a:srgbClr val="DD5D5D"/>
                </a:solidFill>
                <a:latin typeface="Nunito"/>
              </a:rPr>
              <a:t>How Deadlocks Occur</a:t>
            </a:r>
          </a:p>
          <a:p>
            <a:pPr marL="164592" indent="-164592">
              <a:lnSpc>
                <a:spcPct val="105000"/>
              </a:lnSpc>
              <a:spcBef>
                <a:spcPts val="0"/>
              </a:spcBef>
              <a:spcAft>
                <a:spcPts val="400"/>
              </a:spcAft>
              <a:buFont typeface="Nunito"/>
              <a:buChar char="•"/>
            </a:pPr>
            <a:r>
              <a:rPr sz="1100" b="0" i="0">
                <a:solidFill>
                  <a:srgbClr val="1F2A33"/>
                </a:solidFill>
                <a:latin typeface="Nunito"/>
              </a:rPr>
              <a:t>Two+ transactions each hold a lock the other needs</a:t>
            </a:r>
          </a:p>
          <a:p>
            <a:pPr marL="164592" indent="-164592">
              <a:lnSpc>
                <a:spcPct val="105000"/>
              </a:lnSpc>
              <a:spcBef>
                <a:spcPts val="0"/>
              </a:spcBef>
              <a:spcAft>
                <a:spcPts val="400"/>
              </a:spcAft>
              <a:buFont typeface="Nunito"/>
              <a:buChar char="•"/>
            </a:pPr>
            <a:r>
              <a:rPr sz="1100" b="0" i="0">
                <a:solidFill>
                  <a:srgbClr val="1F2A33"/>
                </a:solidFill>
                <a:latin typeface="Nunito"/>
              </a:rPr>
              <a:t>SQL Server detects cycle and kills one (the victim)</a:t>
            </a:r>
          </a:p>
          <a:p>
            <a:pPr>
              <a:spcBef>
                <a:spcPts val="1000"/>
              </a:spcBef>
              <a:spcAft>
                <a:spcPts val="400"/>
              </a:spcAft>
              <a:buNone/>
            </a:pPr>
            <a:r>
              <a:rPr sz="1200" b="1" i="0">
                <a:solidFill>
                  <a:srgbClr val="DD5D5D"/>
                </a:solidFill>
                <a:latin typeface="Nunito"/>
              </a:rPr>
              <a:t>Diagnosis</a:t>
            </a:r>
          </a:p>
          <a:p>
            <a:pPr marL="164592" indent="-164592">
              <a:lnSpc>
                <a:spcPct val="105000"/>
              </a:lnSpc>
              <a:spcBef>
                <a:spcPts val="0"/>
              </a:spcBef>
              <a:spcAft>
                <a:spcPts val="400"/>
              </a:spcAft>
              <a:buFont typeface="Nunito"/>
              <a:buChar char="•"/>
            </a:pPr>
            <a:r>
              <a:rPr sz="1100" b="0" i="0">
                <a:solidFill>
                  <a:srgbClr val="1F2A33"/>
                </a:solidFill>
                <a:latin typeface="Nunito"/>
              </a:rPr>
              <a:t>Extended Events: system_health captures deadlock graphs</a:t>
            </a:r>
          </a:p>
          <a:p>
            <a:pPr marL="164592" indent="-164592">
              <a:lnSpc>
                <a:spcPct val="105000"/>
              </a:lnSpc>
              <a:spcBef>
                <a:spcPts val="0"/>
              </a:spcBef>
              <a:spcAft>
                <a:spcPts val="400"/>
              </a:spcAft>
              <a:buFont typeface="Nunito"/>
              <a:buChar char="•"/>
            </a:pPr>
            <a:r>
              <a:rPr sz="1100" b="0" i="0">
                <a:solidFill>
                  <a:srgbClr val="1F2A33"/>
                </a:solidFill>
                <a:latin typeface="Nunito"/>
              </a:rPr>
              <a:t>Deadlock graph XML: processes, resources, and victim</a:t>
            </a:r>
          </a:p>
          <a:p>
            <a:pPr marL="164592" indent="-164592">
              <a:lnSpc>
                <a:spcPct val="105000"/>
              </a:lnSpc>
              <a:spcBef>
                <a:spcPts val="0"/>
              </a:spcBef>
              <a:spcAft>
                <a:spcPts val="400"/>
              </a:spcAft>
              <a:buFont typeface="Nunito"/>
              <a:buChar char="•"/>
            </a:pPr>
            <a:r>
              <a:rPr sz="1100" b="0" i="0">
                <a:solidFill>
                  <a:srgbClr val="1F2A33"/>
                </a:solidFill>
                <a:latin typeface="Nunito"/>
              </a:rPr>
              <a:t>Trace flag 1222: deadlock info in error log</a:t>
            </a:r>
          </a:p>
          <a:p>
            <a:pPr>
              <a:spcBef>
                <a:spcPts val="1000"/>
              </a:spcBef>
              <a:spcAft>
                <a:spcPts val="400"/>
              </a:spcAft>
              <a:buNone/>
            </a:pPr>
            <a:r>
              <a:rPr sz="1200" b="1" i="0">
                <a:solidFill>
                  <a:srgbClr val="DD5D5D"/>
                </a:solidFill>
                <a:latin typeface="Nunito"/>
              </a:rPr>
              <a:t>Prevention</a:t>
            </a:r>
          </a:p>
          <a:p>
            <a:pPr marL="164592" indent="-164592">
              <a:lnSpc>
                <a:spcPct val="105000"/>
              </a:lnSpc>
              <a:spcBef>
                <a:spcPts val="0"/>
              </a:spcBef>
              <a:spcAft>
                <a:spcPts val="400"/>
              </a:spcAft>
              <a:buFont typeface="Nunito"/>
              <a:buChar char="•"/>
            </a:pPr>
            <a:r>
              <a:rPr sz="1100" b="0" i="0">
                <a:solidFill>
                  <a:srgbClr val="1F2A33"/>
                </a:solidFill>
                <a:latin typeface="Nunito"/>
              </a:rPr>
              <a:t>Access objects in same order across all transactions</a:t>
            </a:r>
          </a:p>
          <a:p>
            <a:pPr marL="164592" indent="-164592">
              <a:lnSpc>
                <a:spcPct val="105000"/>
              </a:lnSpc>
              <a:spcBef>
                <a:spcPts val="0"/>
              </a:spcBef>
              <a:spcAft>
                <a:spcPts val="400"/>
              </a:spcAft>
              <a:buFont typeface="Nunito"/>
              <a:buChar char="•"/>
            </a:pPr>
            <a:r>
              <a:rPr sz="1100" b="0" i="0">
                <a:solidFill>
                  <a:srgbClr val="1F2A33"/>
                </a:solidFill>
                <a:latin typeface="Nunito"/>
              </a:rPr>
              <a:t>Keep transactions short and at lowest isolation needed</a:t>
            </a:r>
          </a:p>
          <a:p>
            <a:pPr marL="164592" indent="-164592">
              <a:lnSpc>
                <a:spcPct val="105000"/>
              </a:lnSpc>
              <a:spcBef>
                <a:spcPts val="0"/>
              </a:spcBef>
              <a:spcAft>
                <a:spcPts val="400"/>
              </a:spcAft>
              <a:buFont typeface="Nunito"/>
              <a:buChar char="•"/>
            </a:pPr>
            <a:r>
              <a:rPr sz="1100" b="0" i="0">
                <a:solidFill>
                  <a:srgbClr val="1F2A33"/>
                </a:solidFill>
                <a:latin typeface="Nunito"/>
              </a:rPr>
              <a:t>Use SNAPSHOT isolation to avoid lock-based conflicts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1D24"/>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1C2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1A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tretch>
            <a:fillRect/>
          </a:stretch>
        </p:blipFill>
        <p:spPr>
          <a:xfrm>
            <a:off x="777240" y="1965960"/>
            <a:ext cx="1691640" cy="1691640"/>
          </a:xfrm>
          <a:prstGeom prst="rect">
            <a:avLst/>
          </a:prstGeom>
        </p:spPr>
      </p:pic>
      <p:sp>
        <p:nvSpPr>
          <p:cNvPr id="5" name="TextBox 4"/>
          <p:cNvSpPr txBox="1"/>
          <p:nvPr/>
        </p:nvSpPr>
        <p:spPr>
          <a:xfrm>
            <a:off x="2880360" y="1481328"/>
            <a:ext cx="8503920" cy="457200"/>
          </a:xfrm>
          <a:prstGeom prst="rect">
            <a:avLst/>
          </a:prstGeom>
          <a:noFill/>
        </p:spPr>
        <p:txBody>
          <a:bodyPr wrap="square" lIns="0" rIns="0" tIns="0" bIns="0">
            <a:spAutoFit/>
          </a:bodyPr>
          <a:lstStyle/>
          <a:p>
            <a:pPr>
              <a:spcBef>
                <a:spcPts val="0"/>
              </a:spcBef>
              <a:spcAft>
                <a:spcPts val="0"/>
              </a:spcAft>
            </a:pPr>
            <a:r>
              <a:rPr sz="1800" b="1" i="0">
                <a:solidFill>
                  <a:srgbClr val="F2A8BC"/>
                </a:solidFill>
                <a:latin typeface="Bricolage Grotesque"/>
              </a:rPr>
              <a:t>Module 3</a:t>
            </a:r>
          </a:p>
        </p:txBody>
      </p:sp>
      <p:sp>
        <p:nvSpPr>
          <p:cNvPr id="6" name="TextBox 5"/>
          <p:cNvSpPr txBox="1"/>
          <p:nvPr/>
        </p:nvSpPr>
        <p:spPr>
          <a:xfrm>
            <a:off x="2880360" y="1956816"/>
            <a:ext cx="8778240" cy="1920240"/>
          </a:xfrm>
          <a:prstGeom prst="rect">
            <a:avLst/>
          </a:prstGeom>
          <a:noFill/>
        </p:spPr>
        <p:txBody>
          <a:bodyPr wrap="square" lIns="0" rIns="0" tIns="0" bIns="0">
            <a:spAutoFit/>
          </a:bodyPr>
          <a:lstStyle/>
          <a:p>
            <a:pPr>
              <a:lnSpc>
                <a:spcPct val="102000"/>
              </a:lnSpc>
              <a:spcBef>
                <a:spcPts val="0"/>
              </a:spcBef>
              <a:spcAft>
                <a:spcPts val="0"/>
              </a:spcAft>
            </a:pPr>
            <a:r>
              <a:rPr sz="4400" b="1" i="0">
                <a:solidFill>
                  <a:srgbClr val="F6F2EA"/>
                </a:solidFill>
                <a:latin typeface="Bricolage Grotesque"/>
              </a:rPr>
              <a:t>Implement CI/CD with</a:t>
            </a:r>
          </a:p>
          <a:p>
            <a:pPr>
              <a:lnSpc>
                <a:spcPct val="102000"/>
              </a:lnSpc>
              <a:spcBef>
                <a:spcPts val="0"/>
              </a:spcBef>
              <a:spcAft>
                <a:spcPts val="0"/>
              </a:spcAft>
            </a:pPr>
            <a:r>
              <a:rPr sz="4400" b="1" i="0">
                <a:solidFill>
                  <a:srgbClr val="F6F2EA"/>
                </a:solidFill>
                <a:latin typeface="Bricolage Grotesque"/>
              </a:rPr>
              <a:t>SQL Database Projects</a:t>
            </a:r>
          </a:p>
        </p:txBody>
      </p:sp>
      <p:sp>
        <p:nvSpPr>
          <p:cNvPr id="7" name="TextBox 6"/>
          <p:cNvSpPr txBox="1"/>
          <p:nvPr/>
        </p:nvSpPr>
        <p:spPr>
          <a:xfrm>
            <a:off x="2880360" y="3602736"/>
            <a:ext cx="8412480" cy="1188720"/>
          </a:xfrm>
          <a:prstGeom prst="rect">
            <a:avLst/>
          </a:prstGeom>
          <a:noFill/>
        </p:spPr>
        <p:txBody>
          <a:bodyPr wrap="square" lIns="0" rIns="0" tIns="0" bIns="0">
            <a:spAutoFit/>
          </a:bodyPr>
          <a:lstStyle/>
          <a:p>
            <a:pPr>
              <a:lnSpc>
                <a:spcPct val="115000"/>
              </a:lnSpc>
              <a:spcBef>
                <a:spcPts val="0"/>
              </a:spcBef>
              <a:spcAft>
                <a:spcPts val="0"/>
              </a:spcAft>
            </a:pPr>
            <a:r>
              <a:rPr sz="1500" b="0" i="0">
                <a:solidFill>
                  <a:srgbClr val="C5BFB1"/>
                </a:solidFill>
                <a:latin typeface="Nunito"/>
              </a:rPr>
              <a:t>Implement CI/CD for SQL Database Projects with source control, branching, schema drift detection, automated pipelines, and testing strategies.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3</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17</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SQL Database Projects &amp; Source Control</a:t>
            </a:r>
          </a:p>
        </p:txBody>
      </p:sp>
      <p:sp>
        <p:nvSpPr>
          <p:cNvPr id="5" name="Rounded Rectangle 4"/>
          <p:cNvSpPr/>
          <p:nvPr/>
        </p:nvSpPr>
        <p:spPr>
          <a:xfrm>
            <a:off x="548640" y="841248"/>
            <a:ext cx="658368" cy="73152"/>
          </a:xfrm>
          <a:prstGeom prst="roundRect">
            <a:avLst>
              <a:gd name="adj" fmla="val 50000"/>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Manage your database schema as code with declarative, version-controlled SQL projects.</a:t>
            </a:r>
          </a:p>
        </p:txBody>
      </p:sp>
      <p:sp>
        <p:nvSpPr>
          <p:cNvPr id="7" name="Rounded Rectangle 6"/>
          <p:cNvSpPr/>
          <p:nvPr/>
        </p:nvSpPr>
        <p:spPr>
          <a:xfrm>
            <a:off x="548640" y="1417320"/>
            <a:ext cx="5413248" cy="28346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5193792" cy="54864"/>
          </a:xfrm>
          <a:prstGeom prst="roundRect">
            <a:avLst>
              <a:gd name="adj" fmla="val 50000"/>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5010912" cy="292608"/>
          </a:xfrm>
          <a:prstGeom prst="rect">
            <a:avLst/>
          </a:prstGeom>
          <a:noFill/>
        </p:spPr>
        <p:txBody>
          <a:bodyPr wrap="square" lIns="0" rIns="0" tIns="0" bIns="0">
            <a:spAutoFit/>
          </a:bodyPr>
          <a:lstStyle/>
          <a:p>
            <a:pPr>
              <a:spcBef>
                <a:spcPts val="0"/>
              </a:spcBef>
              <a:spcAft>
                <a:spcPts val="0"/>
              </a:spcAft>
            </a:pPr>
            <a:r>
              <a:rPr sz="1550" b="1" i="0">
                <a:solidFill>
                  <a:srgbClr val="1F2A33"/>
                </a:solidFill>
                <a:latin typeface="Bricolage Grotesque"/>
              </a:rPr>
              <a:t>📁  SQL Database Projects</a:t>
            </a:r>
          </a:p>
        </p:txBody>
      </p:sp>
      <p:sp>
        <p:nvSpPr>
          <p:cNvPr id="10" name="TextBox 9"/>
          <p:cNvSpPr txBox="1"/>
          <p:nvPr/>
        </p:nvSpPr>
        <p:spPr>
          <a:xfrm>
            <a:off x="749808" y="1947672"/>
            <a:ext cx="5010912" cy="2167128"/>
          </a:xfrm>
          <a:prstGeom prst="rect">
            <a:avLst/>
          </a:prstGeom>
          <a:noFill/>
        </p:spPr>
        <p:txBody>
          <a:bodyPr wrap="square" lIns="0" rIns="0" tIns="0" bIns="0">
            <a:spAutoFit/>
          </a:bodyPr>
          <a:lstStyle/>
          <a:p>
            <a:pPr marL="164592" indent="-164592">
              <a:lnSpc>
                <a:spcPct val="106000"/>
              </a:lnSpc>
              <a:spcBef>
                <a:spcPts val="0"/>
              </a:spcBef>
              <a:spcAft>
                <a:spcPts val="800"/>
              </a:spcAft>
              <a:buFont typeface="Nunito"/>
              <a:buChar char="•"/>
            </a:pPr>
            <a:r>
              <a:rPr sz="1200" b="0" i="0">
                <a:solidFill>
                  <a:srgbClr val="1F2A33"/>
                </a:solidFill>
                <a:latin typeface="Nunito"/>
              </a:rPr>
              <a:t>Declarative model: each .sql file defines desired state of an object</a:t>
            </a:r>
          </a:p>
          <a:p>
            <a:pPr marL="164592" indent="-164592">
              <a:lnSpc>
                <a:spcPct val="106000"/>
              </a:lnSpc>
              <a:spcBef>
                <a:spcPts val="0"/>
              </a:spcBef>
              <a:spcAft>
                <a:spcPts val="800"/>
              </a:spcAft>
              <a:buFont typeface="Nunito"/>
              <a:buChar char="•"/>
            </a:pPr>
            <a:r>
              <a:rPr sz="1200" b="0" i="0">
                <a:solidFill>
                  <a:srgbClr val="1F2A33"/>
                </a:solidFill>
                <a:latin typeface="Nunito"/>
              </a:rPr>
              <a:t>Build produces a DACPAC (data-tier application package)</a:t>
            </a:r>
          </a:p>
          <a:p>
            <a:pPr marL="164592" indent="-164592">
              <a:lnSpc>
                <a:spcPct val="106000"/>
              </a:lnSpc>
              <a:spcBef>
                <a:spcPts val="0"/>
              </a:spcBef>
              <a:spcAft>
                <a:spcPts val="800"/>
              </a:spcAft>
              <a:buFont typeface="Nunito"/>
              <a:buChar char="•"/>
            </a:pPr>
            <a:r>
              <a:rPr sz="1200" b="0" i="0">
                <a:solidFill>
                  <a:srgbClr val="1F2A33"/>
                </a:solidFill>
                <a:latin typeface="Nunito"/>
              </a:rPr>
              <a:t>Deployment compares DACPAC to target and generates change scripts</a:t>
            </a:r>
          </a:p>
          <a:p>
            <a:pPr marL="164592" indent="-164592">
              <a:lnSpc>
                <a:spcPct val="106000"/>
              </a:lnSpc>
              <a:spcBef>
                <a:spcPts val="0"/>
              </a:spcBef>
              <a:spcAft>
                <a:spcPts val="800"/>
              </a:spcAft>
              <a:buFont typeface="Nunito"/>
              <a:buChar char="•"/>
            </a:pPr>
            <a:r>
              <a:rPr sz="1200" b="0" i="0">
                <a:solidFill>
                  <a:srgbClr val="1F2A33"/>
                </a:solidFill>
                <a:latin typeface="Nunito"/>
              </a:rPr>
              <a:t>SDK-style project format (.sqlproj) for cross-platform tooling</a:t>
            </a:r>
          </a:p>
          <a:p>
            <a:pPr marL="164592" indent="-164592">
              <a:lnSpc>
                <a:spcPct val="106000"/>
              </a:lnSpc>
              <a:spcBef>
                <a:spcPts val="0"/>
              </a:spcBef>
              <a:spcAft>
                <a:spcPts val="800"/>
              </a:spcAft>
              <a:buFont typeface="Nunito"/>
              <a:buChar char="•"/>
            </a:pPr>
            <a:r>
              <a:rPr sz="1200" b="0" i="0">
                <a:solidFill>
                  <a:srgbClr val="1F2A33"/>
                </a:solidFill>
                <a:latin typeface="Nunito"/>
              </a:rPr>
              <a:t>Works in VS Code, Visual Studio, and Azure Data Studio</a:t>
            </a:r>
          </a:p>
        </p:txBody>
      </p:sp>
      <p:sp>
        <p:nvSpPr>
          <p:cNvPr id="11" name="Rounded Rectangle 10"/>
          <p:cNvSpPr/>
          <p:nvPr/>
        </p:nvSpPr>
        <p:spPr>
          <a:xfrm>
            <a:off x="6227064" y="1417320"/>
            <a:ext cx="5413248" cy="28346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36792" y="1417320"/>
            <a:ext cx="5193792" cy="54864"/>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581912"/>
            <a:ext cx="5010912" cy="292608"/>
          </a:xfrm>
          <a:prstGeom prst="rect">
            <a:avLst/>
          </a:prstGeom>
          <a:noFill/>
        </p:spPr>
        <p:txBody>
          <a:bodyPr wrap="square" lIns="0" rIns="0" tIns="0" bIns="0">
            <a:spAutoFit/>
          </a:bodyPr>
          <a:lstStyle/>
          <a:p>
            <a:pPr>
              <a:spcBef>
                <a:spcPts val="0"/>
              </a:spcBef>
              <a:spcAft>
                <a:spcPts val="0"/>
              </a:spcAft>
            </a:pPr>
            <a:r>
              <a:rPr sz="1550" b="1" i="0">
                <a:solidFill>
                  <a:srgbClr val="1F2A33"/>
                </a:solidFill>
                <a:latin typeface="Bricolage Grotesque"/>
              </a:rPr>
              <a:t>🌿  Source Control &amp; Branching</a:t>
            </a:r>
          </a:p>
        </p:txBody>
      </p:sp>
      <p:sp>
        <p:nvSpPr>
          <p:cNvPr id="14" name="TextBox 13"/>
          <p:cNvSpPr txBox="1"/>
          <p:nvPr/>
        </p:nvSpPr>
        <p:spPr>
          <a:xfrm>
            <a:off x="6428232" y="1947672"/>
            <a:ext cx="5010912" cy="2167128"/>
          </a:xfrm>
          <a:prstGeom prst="rect">
            <a:avLst/>
          </a:prstGeom>
          <a:noFill/>
        </p:spPr>
        <p:txBody>
          <a:bodyPr wrap="square" lIns="0" rIns="0" tIns="0" bIns="0">
            <a:spAutoFit/>
          </a:bodyPr>
          <a:lstStyle/>
          <a:p>
            <a:pPr marL="164592" indent="-164592">
              <a:lnSpc>
                <a:spcPct val="106000"/>
              </a:lnSpc>
              <a:spcBef>
                <a:spcPts val="0"/>
              </a:spcBef>
              <a:spcAft>
                <a:spcPts val="800"/>
              </a:spcAft>
              <a:buFont typeface="Nunito"/>
              <a:buChar char="•"/>
            </a:pPr>
            <a:r>
              <a:rPr sz="1200" b="0" i="0">
                <a:solidFill>
                  <a:srgbClr val="1F2A33"/>
                </a:solidFill>
                <a:latin typeface="Nunito"/>
              </a:rPr>
              <a:t>Git-based version control for every schema change</a:t>
            </a:r>
          </a:p>
          <a:p>
            <a:pPr marL="164592" indent="-164592">
              <a:lnSpc>
                <a:spcPct val="106000"/>
              </a:lnSpc>
              <a:spcBef>
                <a:spcPts val="0"/>
              </a:spcBef>
              <a:spcAft>
                <a:spcPts val="800"/>
              </a:spcAft>
              <a:buFont typeface="Nunito"/>
              <a:buChar char="•"/>
            </a:pPr>
            <a:r>
              <a:rPr sz="1200" b="0" i="0">
                <a:solidFill>
                  <a:srgbClr val="1F2A33"/>
                </a:solidFill>
                <a:latin typeface="Nunito"/>
              </a:rPr>
              <a:t>Feature branches for isolated development</a:t>
            </a:r>
          </a:p>
          <a:p>
            <a:pPr marL="164592" indent="-164592">
              <a:lnSpc>
                <a:spcPct val="106000"/>
              </a:lnSpc>
              <a:spcBef>
                <a:spcPts val="0"/>
              </a:spcBef>
              <a:spcAft>
                <a:spcPts val="800"/>
              </a:spcAft>
              <a:buFont typeface="Nunito"/>
              <a:buChar char="•"/>
            </a:pPr>
            <a:r>
              <a:rPr sz="1200" b="0" i="0">
                <a:solidFill>
                  <a:srgbClr val="1F2A33"/>
                </a:solidFill>
                <a:latin typeface="Nunito"/>
              </a:rPr>
              <a:t>Pull requests with schema diff review before merge</a:t>
            </a:r>
          </a:p>
          <a:p>
            <a:pPr marL="164592" indent="-164592">
              <a:lnSpc>
                <a:spcPct val="106000"/>
              </a:lnSpc>
              <a:spcBef>
                <a:spcPts val="0"/>
              </a:spcBef>
              <a:spcAft>
                <a:spcPts val="800"/>
              </a:spcAft>
              <a:buFont typeface="Nunito"/>
              <a:buChar char="•"/>
            </a:pPr>
            <a:r>
              <a:rPr sz="1200" b="0" i="0">
                <a:solidFill>
                  <a:srgbClr val="1F2A33"/>
                </a:solidFill>
                <a:latin typeface="Nunito"/>
              </a:rPr>
              <a:t>Schema comparison to sync project with live database</a:t>
            </a:r>
          </a:p>
          <a:p>
            <a:pPr marL="164592" indent="-164592">
              <a:lnSpc>
                <a:spcPct val="106000"/>
              </a:lnSpc>
              <a:spcBef>
                <a:spcPts val="0"/>
              </a:spcBef>
              <a:spcAft>
                <a:spcPts val="800"/>
              </a:spcAft>
              <a:buFont typeface="Nunito"/>
              <a:buChar char="•"/>
            </a:pPr>
            <a:r>
              <a:rPr sz="1200" b="0" i="0">
                <a:solidFill>
                  <a:srgbClr val="1F2A33"/>
                </a:solidFill>
                <a:latin typeface="Nunito"/>
              </a:rPr>
              <a:t>Branching strategy: main &gt; develop &gt; feature/hotfix</a:t>
            </a:r>
          </a:p>
        </p:txBody>
      </p:sp>
      <p:sp>
        <p:nvSpPr>
          <p:cNvPr id="15" name="Rounded Rectangle 14"/>
          <p:cNvSpPr/>
          <p:nvPr/>
        </p:nvSpPr>
        <p:spPr>
          <a:xfrm>
            <a:off x="548640" y="4434840"/>
            <a:ext cx="11091672" cy="1874519"/>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8368" y="4434840"/>
            <a:ext cx="10872216" cy="54864"/>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599432"/>
            <a:ext cx="10689336" cy="1572767"/>
          </a:xfrm>
          <a:prstGeom prst="rect">
            <a:avLst/>
          </a:prstGeom>
          <a:noFill/>
        </p:spPr>
        <p:txBody>
          <a:bodyPr wrap="square" lIns="0" rIns="0" tIns="0" bIns="0">
            <a:spAutoFit/>
          </a:bodyPr>
          <a:lstStyle/>
          <a:p>
            <a:pPr>
              <a:lnSpc>
                <a:spcPct val="100000"/>
              </a:lnSpc>
              <a:spcBef>
                <a:spcPts val="0"/>
              </a:spcBef>
              <a:spcAft>
                <a:spcPts val="100"/>
              </a:spcAft>
              <a:buNone/>
            </a:pPr>
            <a:r>
              <a:rPr sz="1550" b="1" i="0">
                <a:solidFill>
                  <a:srgbClr val="3BB283"/>
                </a:solidFill>
                <a:latin typeface="Nunito"/>
              </a:rPr>
              <a:t>🔄  Schema Drift Detection</a:t>
            </a:r>
          </a:p>
          <a:p>
            <a:pPr>
              <a:lnSpc>
                <a:spcPct val="105000"/>
              </a:lnSpc>
              <a:spcBef>
                <a:spcPts val="0"/>
              </a:spcBef>
              <a:spcAft>
                <a:spcPts val="800"/>
              </a:spcAft>
              <a:buNone/>
            </a:pPr>
            <a:r>
              <a:rPr sz="1200" b="0" i="0">
                <a:solidFill>
                  <a:srgbClr val="1F2A33"/>
                </a:solidFill>
                <a:latin typeface="Nunito"/>
              </a:rPr>
              <a:t>Schema drift occurs when direct changes are made to production outside the SQL project (ad-hoc ALTER statements, manual portal changes). Detect drift by comparing the project model against the live database. Use schema comparison tools to identify untracked changes and decide whether to incorporate them into the project or revert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3</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18</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Automated Pipelines &amp; Testing</a:t>
            </a:r>
          </a:p>
        </p:txBody>
      </p:sp>
      <p:sp>
        <p:nvSpPr>
          <p:cNvPr id="5" name="Rounded Rectangle 4"/>
          <p:cNvSpPr/>
          <p:nvPr/>
        </p:nvSpPr>
        <p:spPr>
          <a:xfrm>
            <a:off x="548640" y="841248"/>
            <a:ext cx="658368" cy="73152"/>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Build, validate, test, and deploy database changes through automated CI/CD pipelines.</a:t>
            </a:r>
          </a:p>
        </p:txBody>
      </p:sp>
      <p:sp>
        <p:nvSpPr>
          <p:cNvPr id="7" name="Rounded Rectangle 6"/>
          <p:cNvSpPr/>
          <p:nvPr/>
        </p:nvSpPr>
        <p:spPr>
          <a:xfrm>
            <a:off x="548640" y="1417320"/>
            <a:ext cx="2651760" cy="1691640"/>
          </a:xfrm>
          <a:prstGeom prst="roundRect">
            <a:avLst>
              <a:gd name="adj" fmla="val 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55064" y="1554480"/>
            <a:ext cx="438912" cy="438912"/>
          </a:xfrm>
          <a:prstGeom prst="ellipse">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54480"/>
            <a:ext cx="2651760" cy="438912"/>
          </a:xfrm>
          <a:prstGeom prst="rect">
            <a:avLst/>
          </a:prstGeom>
          <a:noFill/>
        </p:spPr>
        <p:txBody>
          <a:bodyPr wrap="square" lIns="0" rIns="0" tIns="0" bIns="0" anchor="ctr">
            <a:spAutoFit/>
          </a:bodyPr>
          <a:lstStyle/>
          <a:p>
            <a:pPr algn="ctr">
              <a:spcBef>
                <a:spcPts val="0"/>
              </a:spcBef>
              <a:spcAft>
                <a:spcPts val="0"/>
              </a:spcAft>
            </a:pPr>
            <a:r>
              <a:rPr sz="1600" b="1" i="0">
                <a:solidFill>
                  <a:srgbClr val="F6F2EA"/>
                </a:solidFill>
                <a:latin typeface="Bricolage Grotesque"/>
              </a:rPr>
              <a:t>1</a:t>
            </a:r>
          </a:p>
        </p:txBody>
      </p:sp>
      <p:sp>
        <p:nvSpPr>
          <p:cNvPr id="10" name="TextBox 9"/>
          <p:cNvSpPr txBox="1"/>
          <p:nvPr/>
        </p:nvSpPr>
        <p:spPr>
          <a:xfrm>
            <a:off x="685800" y="2075688"/>
            <a:ext cx="2377440" cy="960120"/>
          </a:xfrm>
          <a:prstGeom prst="rect">
            <a:avLst/>
          </a:prstGeom>
          <a:noFill/>
        </p:spPr>
        <p:txBody>
          <a:bodyPr wrap="square" lIns="0" rIns="0" tIns="0" bIns="0">
            <a:spAutoFit/>
          </a:bodyPr>
          <a:lstStyle/>
          <a:p>
            <a:pPr algn="ctr">
              <a:spcBef>
                <a:spcPts val="0"/>
              </a:spcBef>
              <a:spcAft>
                <a:spcPts val="300"/>
              </a:spcAft>
            </a:pPr>
            <a:r>
              <a:rPr sz="1400" b="1" i="0">
                <a:solidFill>
                  <a:srgbClr val="1F2A33"/>
                </a:solidFill>
                <a:latin typeface="Bricolage Grotesque"/>
              </a:rPr>
              <a:t>Build</a:t>
            </a:r>
          </a:p>
          <a:p>
            <a:pPr algn="ctr">
              <a:lnSpc>
                <a:spcPct val="105000"/>
              </a:lnSpc>
              <a:spcBef>
                <a:spcPts val="0"/>
              </a:spcBef>
              <a:spcAft>
                <a:spcPts val="0"/>
              </a:spcAft>
            </a:pPr>
            <a:r>
              <a:rPr sz="950" b="0" i="0">
                <a:solidFill>
                  <a:srgbClr val="5A6B76"/>
                </a:solidFill>
                <a:latin typeface="Nunito"/>
              </a:rPr>
              <a:t>Compile .sqlproj to DACPAC, validate schema references</a:t>
            </a:r>
          </a:p>
        </p:txBody>
      </p:sp>
      <p:sp>
        <p:nvSpPr>
          <p:cNvPr id="11" name="Rounded Rectangle 10"/>
          <p:cNvSpPr/>
          <p:nvPr/>
        </p:nvSpPr>
        <p:spPr>
          <a:xfrm>
            <a:off x="3332988" y="1417320"/>
            <a:ext cx="2651760" cy="1691640"/>
          </a:xfrm>
          <a:prstGeom prst="roundRect">
            <a:avLst>
              <a:gd name="adj" fmla="val 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39412" y="1554480"/>
            <a:ext cx="438912" cy="438912"/>
          </a:xfrm>
          <a:prstGeom prst="ellipse">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2988" y="1554480"/>
            <a:ext cx="2651760" cy="438912"/>
          </a:xfrm>
          <a:prstGeom prst="rect">
            <a:avLst/>
          </a:prstGeom>
          <a:noFill/>
        </p:spPr>
        <p:txBody>
          <a:bodyPr wrap="square" lIns="0" rIns="0" tIns="0" bIns="0" anchor="ctr">
            <a:spAutoFit/>
          </a:bodyPr>
          <a:lstStyle/>
          <a:p>
            <a:pPr algn="ctr">
              <a:spcBef>
                <a:spcPts val="0"/>
              </a:spcBef>
              <a:spcAft>
                <a:spcPts val="0"/>
              </a:spcAft>
            </a:pPr>
            <a:r>
              <a:rPr sz="1600" b="1" i="0">
                <a:solidFill>
                  <a:srgbClr val="F6F2EA"/>
                </a:solidFill>
                <a:latin typeface="Bricolage Grotesque"/>
              </a:rPr>
              <a:t>2</a:t>
            </a:r>
          </a:p>
        </p:txBody>
      </p:sp>
      <p:sp>
        <p:nvSpPr>
          <p:cNvPr id="14" name="TextBox 13"/>
          <p:cNvSpPr txBox="1"/>
          <p:nvPr/>
        </p:nvSpPr>
        <p:spPr>
          <a:xfrm>
            <a:off x="3470148" y="2075688"/>
            <a:ext cx="2377440" cy="960120"/>
          </a:xfrm>
          <a:prstGeom prst="rect">
            <a:avLst/>
          </a:prstGeom>
          <a:noFill/>
        </p:spPr>
        <p:txBody>
          <a:bodyPr wrap="square" lIns="0" rIns="0" tIns="0" bIns="0">
            <a:spAutoFit/>
          </a:bodyPr>
          <a:lstStyle/>
          <a:p>
            <a:pPr algn="ctr">
              <a:spcBef>
                <a:spcPts val="0"/>
              </a:spcBef>
              <a:spcAft>
                <a:spcPts val="300"/>
              </a:spcAft>
            </a:pPr>
            <a:r>
              <a:rPr sz="1400" b="1" i="0">
                <a:solidFill>
                  <a:srgbClr val="1F2A33"/>
                </a:solidFill>
                <a:latin typeface="Bricolage Grotesque"/>
              </a:rPr>
              <a:t>Validate</a:t>
            </a:r>
          </a:p>
          <a:p>
            <a:pPr algn="ctr">
              <a:lnSpc>
                <a:spcPct val="105000"/>
              </a:lnSpc>
              <a:spcBef>
                <a:spcPts val="0"/>
              </a:spcBef>
              <a:spcAft>
                <a:spcPts val="0"/>
              </a:spcAft>
            </a:pPr>
            <a:r>
              <a:rPr sz="950" b="0" i="0">
                <a:solidFill>
                  <a:srgbClr val="5A6B76"/>
                </a:solidFill>
                <a:latin typeface="Nunito"/>
              </a:rPr>
              <a:t>Schema compare against target, review change script</a:t>
            </a:r>
          </a:p>
        </p:txBody>
      </p:sp>
      <p:sp>
        <p:nvSpPr>
          <p:cNvPr id="15" name="Rounded Rectangle 14"/>
          <p:cNvSpPr/>
          <p:nvPr/>
        </p:nvSpPr>
        <p:spPr>
          <a:xfrm>
            <a:off x="6117336" y="1417320"/>
            <a:ext cx="2651760" cy="1691640"/>
          </a:xfrm>
          <a:prstGeom prst="roundRect">
            <a:avLst>
              <a:gd name="adj" fmla="val 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23760" y="1554480"/>
            <a:ext cx="438912" cy="438912"/>
          </a:xfrm>
          <a:prstGeom prst="ellipse">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17336" y="1554480"/>
            <a:ext cx="2651760" cy="438912"/>
          </a:xfrm>
          <a:prstGeom prst="rect">
            <a:avLst/>
          </a:prstGeom>
          <a:noFill/>
        </p:spPr>
        <p:txBody>
          <a:bodyPr wrap="square" lIns="0" rIns="0" tIns="0" bIns="0" anchor="ctr">
            <a:spAutoFit/>
          </a:bodyPr>
          <a:lstStyle/>
          <a:p>
            <a:pPr algn="ctr">
              <a:spcBef>
                <a:spcPts val="0"/>
              </a:spcBef>
              <a:spcAft>
                <a:spcPts val="0"/>
              </a:spcAft>
            </a:pPr>
            <a:r>
              <a:rPr sz="1600" b="1" i="0">
                <a:solidFill>
                  <a:srgbClr val="F6F2EA"/>
                </a:solidFill>
                <a:latin typeface="Bricolage Grotesque"/>
              </a:rPr>
              <a:t>3</a:t>
            </a:r>
          </a:p>
        </p:txBody>
      </p:sp>
      <p:sp>
        <p:nvSpPr>
          <p:cNvPr id="18" name="TextBox 17"/>
          <p:cNvSpPr txBox="1"/>
          <p:nvPr/>
        </p:nvSpPr>
        <p:spPr>
          <a:xfrm>
            <a:off x="6254496" y="2075688"/>
            <a:ext cx="2377440" cy="960120"/>
          </a:xfrm>
          <a:prstGeom prst="rect">
            <a:avLst/>
          </a:prstGeom>
          <a:noFill/>
        </p:spPr>
        <p:txBody>
          <a:bodyPr wrap="square" lIns="0" rIns="0" tIns="0" bIns="0">
            <a:spAutoFit/>
          </a:bodyPr>
          <a:lstStyle/>
          <a:p>
            <a:pPr algn="ctr">
              <a:spcBef>
                <a:spcPts val="0"/>
              </a:spcBef>
              <a:spcAft>
                <a:spcPts val="300"/>
              </a:spcAft>
            </a:pPr>
            <a:r>
              <a:rPr sz="1400" b="1" i="0">
                <a:solidFill>
                  <a:srgbClr val="1F2A33"/>
                </a:solidFill>
                <a:latin typeface="Bricolage Grotesque"/>
              </a:rPr>
              <a:t>Test</a:t>
            </a:r>
          </a:p>
          <a:p>
            <a:pPr algn="ctr">
              <a:lnSpc>
                <a:spcPct val="105000"/>
              </a:lnSpc>
              <a:spcBef>
                <a:spcPts val="0"/>
              </a:spcBef>
              <a:spcAft>
                <a:spcPts val="0"/>
              </a:spcAft>
            </a:pPr>
            <a:r>
              <a:rPr sz="950" b="0" i="0">
                <a:solidFill>
                  <a:srgbClr val="5A6B76"/>
                </a:solidFill>
                <a:latin typeface="Nunito"/>
              </a:rPr>
              <a:t>Run tSQLt unit tests, integration tests on ephemeral DB</a:t>
            </a:r>
          </a:p>
        </p:txBody>
      </p:sp>
      <p:sp>
        <p:nvSpPr>
          <p:cNvPr id="19" name="Rounded Rectangle 18"/>
          <p:cNvSpPr/>
          <p:nvPr/>
        </p:nvSpPr>
        <p:spPr>
          <a:xfrm>
            <a:off x="8901684" y="1417320"/>
            <a:ext cx="2651760" cy="1691640"/>
          </a:xfrm>
          <a:prstGeom prst="roundRect">
            <a:avLst>
              <a:gd name="adj" fmla="val 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008108" y="1554480"/>
            <a:ext cx="438912" cy="438912"/>
          </a:xfrm>
          <a:prstGeom prst="ellipse">
            <a:avLst/>
          </a:prstGeom>
          <a:solidFill>
            <a:srgbClr val="F2A8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01684" y="1554480"/>
            <a:ext cx="2651760" cy="438912"/>
          </a:xfrm>
          <a:prstGeom prst="rect">
            <a:avLst/>
          </a:prstGeom>
          <a:noFill/>
        </p:spPr>
        <p:txBody>
          <a:bodyPr wrap="square" lIns="0" rIns="0" tIns="0" bIns="0" anchor="ctr">
            <a:spAutoFit/>
          </a:bodyPr>
          <a:lstStyle/>
          <a:p>
            <a:pPr algn="ctr">
              <a:spcBef>
                <a:spcPts val="0"/>
              </a:spcBef>
              <a:spcAft>
                <a:spcPts val="0"/>
              </a:spcAft>
            </a:pPr>
            <a:r>
              <a:rPr sz="1600" b="1" i="0">
                <a:solidFill>
                  <a:srgbClr val="F6F2EA"/>
                </a:solidFill>
                <a:latin typeface="Bricolage Grotesque"/>
              </a:rPr>
              <a:t>4</a:t>
            </a:r>
          </a:p>
        </p:txBody>
      </p:sp>
      <p:sp>
        <p:nvSpPr>
          <p:cNvPr id="22" name="TextBox 21"/>
          <p:cNvSpPr txBox="1"/>
          <p:nvPr/>
        </p:nvSpPr>
        <p:spPr>
          <a:xfrm>
            <a:off x="9038844" y="2075688"/>
            <a:ext cx="2377440" cy="960120"/>
          </a:xfrm>
          <a:prstGeom prst="rect">
            <a:avLst/>
          </a:prstGeom>
          <a:noFill/>
        </p:spPr>
        <p:txBody>
          <a:bodyPr wrap="square" lIns="0" rIns="0" tIns="0" bIns="0">
            <a:spAutoFit/>
          </a:bodyPr>
          <a:lstStyle/>
          <a:p>
            <a:pPr algn="ctr">
              <a:spcBef>
                <a:spcPts val="0"/>
              </a:spcBef>
              <a:spcAft>
                <a:spcPts val="300"/>
              </a:spcAft>
            </a:pPr>
            <a:r>
              <a:rPr sz="1400" b="1" i="0">
                <a:solidFill>
                  <a:srgbClr val="1F2A33"/>
                </a:solidFill>
                <a:latin typeface="Bricolage Grotesque"/>
              </a:rPr>
              <a:t>Deploy</a:t>
            </a:r>
          </a:p>
          <a:p>
            <a:pPr algn="ctr">
              <a:lnSpc>
                <a:spcPct val="105000"/>
              </a:lnSpc>
              <a:spcBef>
                <a:spcPts val="0"/>
              </a:spcBef>
              <a:spcAft>
                <a:spcPts val="0"/>
              </a:spcAft>
            </a:pPr>
            <a:r>
              <a:rPr sz="950" b="0" i="0">
                <a:solidFill>
                  <a:srgbClr val="5A6B76"/>
                </a:solidFill>
                <a:latin typeface="Nunito"/>
              </a:rPr>
              <a:t>SqlPackage publish to target with pre/post scripts</a:t>
            </a:r>
          </a:p>
        </p:txBody>
      </p:sp>
      <p:sp>
        <p:nvSpPr>
          <p:cNvPr id="23" name="Rounded Rectangle 22"/>
          <p:cNvSpPr/>
          <p:nvPr/>
        </p:nvSpPr>
        <p:spPr>
          <a:xfrm>
            <a:off x="548640" y="3429000"/>
            <a:ext cx="5413248" cy="288036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8368" y="3429000"/>
            <a:ext cx="5193792" cy="54864"/>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593592"/>
            <a:ext cx="5010912" cy="292608"/>
          </a:xfrm>
          <a:prstGeom prst="rect">
            <a:avLst/>
          </a:prstGeom>
          <a:noFill/>
        </p:spPr>
        <p:txBody>
          <a:bodyPr wrap="square" lIns="0" rIns="0" tIns="0" bIns="0">
            <a:spAutoFit/>
          </a:bodyPr>
          <a:lstStyle/>
          <a:p>
            <a:pPr>
              <a:spcBef>
                <a:spcPts val="0"/>
              </a:spcBef>
              <a:spcAft>
                <a:spcPts val="0"/>
              </a:spcAft>
            </a:pPr>
            <a:r>
              <a:rPr sz="1450" b="1" i="0">
                <a:solidFill>
                  <a:srgbClr val="1F2A33"/>
                </a:solidFill>
                <a:latin typeface="Bricolage Grotesque"/>
              </a:rPr>
              <a:t>Testing Strategies</a:t>
            </a:r>
          </a:p>
        </p:txBody>
      </p:sp>
      <p:sp>
        <p:nvSpPr>
          <p:cNvPr id="26" name="TextBox 25"/>
          <p:cNvSpPr txBox="1"/>
          <p:nvPr/>
        </p:nvSpPr>
        <p:spPr>
          <a:xfrm>
            <a:off x="749808" y="3959352"/>
            <a:ext cx="5010912" cy="2212848"/>
          </a:xfrm>
          <a:prstGeom prst="rect">
            <a:avLst/>
          </a:prstGeom>
          <a:noFill/>
        </p:spPr>
        <p:txBody>
          <a:bodyPr wrap="square" lIns="0" rIns="0" tIns="0" bIns="0">
            <a:spAutoFit/>
          </a:bodyPr>
          <a:lstStyle/>
          <a:p>
            <a:pPr marL="164592" indent="-164592">
              <a:lnSpc>
                <a:spcPct val="106000"/>
              </a:lnSpc>
              <a:spcBef>
                <a:spcPts val="0"/>
              </a:spcBef>
              <a:spcAft>
                <a:spcPts val="800"/>
              </a:spcAft>
              <a:buFont typeface="Nunito"/>
              <a:buChar char="•"/>
            </a:pPr>
            <a:r>
              <a:rPr sz="1100" b="0" i="0">
                <a:solidFill>
                  <a:srgbClr val="1F2A33"/>
                </a:solidFill>
                <a:latin typeface="Nunito"/>
              </a:rPr>
              <a:t>tSQLt framework for T-SQL unit tests inside the database</a:t>
            </a:r>
          </a:p>
          <a:p>
            <a:pPr marL="164592" indent="-164592">
              <a:lnSpc>
                <a:spcPct val="106000"/>
              </a:lnSpc>
              <a:spcBef>
                <a:spcPts val="0"/>
              </a:spcBef>
              <a:spcAft>
                <a:spcPts val="800"/>
              </a:spcAft>
              <a:buFont typeface="Nunito"/>
              <a:buChar char="•"/>
            </a:pPr>
            <a:r>
              <a:rPr sz="1100" b="0" i="0">
                <a:solidFill>
                  <a:srgbClr val="1F2A33"/>
                </a:solidFill>
                <a:latin typeface="Nunito"/>
              </a:rPr>
              <a:t>Pre-deployment validation: review generated change scripts</a:t>
            </a:r>
          </a:p>
          <a:p>
            <a:pPr marL="164592" indent="-164592">
              <a:lnSpc>
                <a:spcPct val="106000"/>
              </a:lnSpc>
              <a:spcBef>
                <a:spcPts val="0"/>
              </a:spcBef>
              <a:spcAft>
                <a:spcPts val="800"/>
              </a:spcAft>
              <a:buFont typeface="Nunito"/>
              <a:buChar char="•"/>
            </a:pPr>
            <a:r>
              <a:rPr sz="1100" b="0" i="0">
                <a:solidFill>
                  <a:srgbClr val="1F2A33"/>
                </a:solidFill>
                <a:latin typeface="Nunito"/>
              </a:rPr>
              <a:t>Post-deployment smoke tests: verify objects and data integrity</a:t>
            </a:r>
          </a:p>
          <a:p>
            <a:pPr marL="164592" indent="-164592">
              <a:lnSpc>
                <a:spcPct val="106000"/>
              </a:lnSpc>
              <a:spcBef>
                <a:spcPts val="0"/>
              </a:spcBef>
              <a:spcAft>
                <a:spcPts val="800"/>
              </a:spcAft>
              <a:buFont typeface="Nunito"/>
              <a:buChar char="•"/>
            </a:pPr>
            <a:r>
              <a:rPr sz="1100" b="0" i="0">
                <a:solidFill>
                  <a:srgbClr val="1F2A33"/>
                </a:solidFill>
                <a:latin typeface="Nunito"/>
              </a:rPr>
              <a:t>Ephemeral databases: spin up test instances, deploy, test, tear down</a:t>
            </a:r>
          </a:p>
          <a:p>
            <a:pPr marL="164592" indent="-164592">
              <a:lnSpc>
                <a:spcPct val="106000"/>
              </a:lnSpc>
              <a:spcBef>
                <a:spcPts val="0"/>
              </a:spcBef>
              <a:spcAft>
                <a:spcPts val="800"/>
              </a:spcAft>
              <a:buFont typeface="Nunito"/>
              <a:buChar char="•"/>
            </a:pPr>
            <a:r>
              <a:rPr sz="1100" b="0" i="0">
                <a:solidFill>
                  <a:srgbClr val="1F2A33"/>
                </a:solidFill>
                <a:latin typeface="Nunito"/>
              </a:rPr>
              <a:t>Data-driven tests: constraints, referential integrity, computed columns</a:t>
            </a:r>
          </a:p>
        </p:txBody>
      </p:sp>
      <p:sp>
        <p:nvSpPr>
          <p:cNvPr id="27" name="Rounded Rectangle 26"/>
          <p:cNvSpPr/>
          <p:nvPr/>
        </p:nvSpPr>
        <p:spPr>
          <a:xfrm>
            <a:off x="6227064" y="3429000"/>
            <a:ext cx="5413248" cy="288036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36792" y="3429000"/>
            <a:ext cx="5193792" cy="54864"/>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8232" y="3593592"/>
            <a:ext cx="5010912" cy="292608"/>
          </a:xfrm>
          <a:prstGeom prst="rect">
            <a:avLst/>
          </a:prstGeom>
          <a:noFill/>
        </p:spPr>
        <p:txBody>
          <a:bodyPr wrap="square" lIns="0" rIns="0" tIns="0" bIns="0">
            <a:spAutoFit/>
          </a:bodyPr>
          <a:lstStyle/>
          <a:p>
            <a:pPr>
              <a:spcBef>
                <a:spcPts val="0"/>
              </a:spcBef>
              <a:spcAft>
                <a:spcPts val="0"/>
              </a:spcAft>
            </a:pPr>
            <a:r>
              <a:rPr sz="1450" b="1" i="0">
                <a:solidFill>
                  <a:srgbClr val="1F2A33"/>
                </a:solidFill>
                <a:latin typeface="Bricolage Grotesque"/>
              </a:rPr>
              <a:t>Platform Support</a:t>
            </a:r>
          </a:p>
        </p:txBody>
      </p:sp>
      <p:sp>
        <p:nvSpPr>
          <p:cNvPr id="30" name="TextBox 29"/>
          <p:cNvSpPr txBox="1"/>
          <p:nvPr/>
        </p:nvSpPr>
        <p:spPr>
          <a:xfrm>
            <a:off x="6428232" y="3959352"/>
            <a:ext cx="5010912" cy="2212848"/>
          </a:xfrm>
          <a:prstGeom prst="rect">
            <a:avLst/>
          </a:prstGeom>
          <a:noFill/>
        </p:spPr>
        <p:txBody>
          <a:bodyPr wrap="square" lIns="0" rIns="0" tIns="0" bIns="0">
            <a:spAutoFit/>
          </a:bodyPr>
          <a:lstStyle/>
          <a:p>
            <a:pPr marL="164592" indent="-164592">
              <a:lnSpc>
                <a:spcPct val="106000"/>
              </a:lnSpc>
              <a:spcBef>
                <a:spcPts val="0"/>
              </a:spcBef>
              <a:spcAft>
                <a:spcPts val="800"/>
              </a:spcAft>
              <a:buFont typeface="Nunito"/>
              <a:buChar char="•"/>
            </a:pPr>
            <a:r>
              <a:rPr sz="1100" b="0" i="0">
                <a:solidFill>
                  <a:srgbClr val="1F2A33"/>
                </a:solidFill>
                <a:latin typeface="Nunito"/>
              </a:rPr>
              <a:t>GitHub Actions: dotnet build + SqlPackage in CI workflows</a:t>
            </a:r>
          </a:p>
          <a:p>
            <a:pPr marL="164592" indent="-164592">
              <a:lnSpc>
                <a:spcPct val="106000"/>
              </a:lnSpc>
              <a:spcBef>
                <a:spcPts val="0"/>
              </a:spcBef>
              <a:spcAft>
                <a:spcPts val="800"/>
              </a:spcAft>
              <a:buFont typeface="Nunito"/>
              <a:buChar char="•"/>
            </a:pPr>
            <a:r>
              <a:rPr sz="1100" b="0" i="0">
                <a:solidFill>
                  <a:srgbClr val="1F2A33"/>
                </a:solidFill>
                <a:latin typeface="Nunito"/>
              </a:rPr>
              <a:t>Azure DevOps: Azure SQL Database deployment task</a:t>
            </a:r>
          </a:p>
          <a:p>
            <a:pPr marL="164592" indent="-164592">
              <a:lnSpc>
                <a:spcPct val="106000"/>
              </a:lnSpc>
              <a:spcBef>
                <a:spcPts val="0"/>
              </a:spcBef>
              <a:spcAft>
                <a:spcPts val="800"/>
              </a:spcAft>
              <a:buFont typeface="Nunito"/>
              <a:buChar char="•"/>
            </a:pPr>
            <a:r>
              <a:rPr sz="1100" b="0" i="0">
                <a:solidFill>
                  <a:srgbClr val="1F2A33"/>
                </a:solidFill>
                <a:latin typeface="Nunito"/>
              </a:rPr>
              <a:t>SqlPackage CLI: cross-platform publish, extract, export, import</a:t>
            </a:r>
          </a:p>
          <a:p>
            <a:pPr marL="164592" indent="-164592">
              <a:lnSpc>
                <a:spcPct val="106000"/>
              </a:lnSpc>
              <a:spcBef>
                <a:spcPts val="0"/>
              </a:spcBef>
              <a:spcAft>
                <a:spcPts val="800"/>
              </a:spcAft>
              <a:buFont typeface="Nunito"/>
              <a:buChar char="•"/>
            </a:pPr>
            <a:r>
              <a:rPr sz="1100" b="0" i="0">
                <a:solidFill>
                  <a:srgbClr val="1F2A33"/>
                </a:solidFill>
                <a:latin typeface="Nunito"/>
              </a:rPr>
              <a:t>Pre/post-deployment scripts for data migration and seeding</a:t>
            </a:r>
          </a:p>
          <a:p>
            <a:pPr marL="164592" indent="-164592">
              <a:lnSpc>
                <a:spcPct val="106000"/>
              </a:lnSpc>
              <a:spcBef>
                <a:spcPts val="0"/>
              </a:spcBef>
              <a:spcAft>
                <a:spcPts val="800"/>
              </a:spcAft>
              <a:buFont typeface="Nunito"/>
              <a:buChar char="•"/>
            </a:pPr>
            <a:r>
              <a:rPr sz="1100" b="0" i="0">
                <a:solidFill>
                  <a:srgbClr val="1F2A33"/>
                </a:solidFill>
                <a:latin typeface="Nunito"/>
              </a:rPr>
              <a:t>SQLCMD variables for environment-specific connection strings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61D24"/>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1C2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1A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tretch>
            <a:fillRect/>
          </a:stretch>
        </p:blipFill>
        <p:spPr>
          <a:xfrm>
            <a:off x="777240" y="1965960"/>
            <a:ext cx="1691640" cy="1691640"/>
          </a:xfrm>
          <a:prstGeom prst="rect">
            <a:avLst/>
          </a:prstGeom>
        </p:spPr>
      </p:pic>
      <p:sp>
        <p:nvSpPr>
          <p:cNvPr id="5" name="TextBox 4"/>
          <p:cNvSpPr txBox="1"/>
          <p:nvPr/>
        </p:nvSpPr>
        <p:spPr>
          <a:xfrm>
            <a:off x="2880360" y="1481328"/>
            <a:ext cx="8503920" cy="457200"/>
          </a:xfrm>
          <a:prstGeom prst="rect">
            <a:avLst/>
          </a:prstGeom>
          <a:noFill/>
        </p:spPr>
        <p:txBody>
          <a:bodyPr wrap="square" lIns="0" rIns="0" tIns="0" bIns="0">
            <a:spAutoFit/>
          </a:bodyPr>
          <a:lstStyle/>
          <a:p>
            <a:pPr>
              <a:spcBef>
                <a:spcPts val="0"/>
              </a:spcBef>
              <a:spcAft>
                <a:spcPts val="0"/>
              </a:spcAft>
            </a:pPr>
            <a:r>
              <a:rPr sz="1800" b="1" i="0">
                <a:solidFill>
                  <a:srgbClr val="FC8903"/>
                </a:solidFill>
                <a:latin typeface="Bricolage Grotesque"/>
              </a:rPr>
              <a:t>Module 4</a:t>
            </a:r>
          </a:p>
        </p:txBody>
      </p:sp>
      <p:sp>
        <p:nvSpPr>
          <p:cNvPr id="6" name="TextBox 5"/>
          <p:cNvSpPr txBox="1"/>
          <p:nvPr/>
        </p:nvSpPr>
        <p:spPr>
          <a:xfrm>
            <a:off x="2880360" y="1956816"/>
            <a:ext cx="8778240" cy="1920240"/>
          </a:xfrm>
          <a:prstGeom prst="rect">
            <a:avLst/>
          </a:prstGeom>
          <a:noFill/>
        </p:spPr>
        <p:txBody>
          <a:bodyPr wrap="square" lIns="0" rIns="0" tIns="0" bIns="0">
            <a:spAutoFit/>
          </a:bodyPr>
          <a:lstStyle/>
          <a:p>
            <a:pPr>
              <a:lnSpc>
                <a:spcPct val="102000"/>
              </a:lnSpc>
              <a:spcBef>
                <a:spcPts val="0"/>
              </a:spcBef>
              <a:spcAft>
                <a:spcPts val="0"/>
              </a:spcAft>
            </a:pPr>
            <a:r>
              <a:rPr sz="4400" b="1" i="0">
                <a:solidFill>
                  <a:srgbClr val="F6F2EA"/>
                </a:solidFill>
                <a:latin typeface="Bricolage Grotesque"/>
              </a:rPr>
              <a:t>Integrate SQL Solutions</a:t>
            </a:r>
          </a:p>
          <a:p>
            <a:pPr>
              <a:lnSpc>
                <a:spcPct val="102000"/>
              </a:lnSpc>
              <a:spcBef>
                <a:spcPts val="0"/>
              </a:spcBef>
              <a:spcAft>
                <a:spcPts val="0"/>
              </a:spcAft>
            </a:pPr>
            <a:r>
              <a:rPr sz="4400" b="1" i="0">
                <a:solidFill>
                  <a:srgbClr val="F6F2EA"/>
                </a:solidFill>
                <a:latin typeface="Bricolage Grotesque"/>
              </a:rPr>
              <a:t>with Azure Services</a:t>
            </a:r>
          </a:p>
        </p:txBody>
      </p:sp>
      <p:sp>
        <p:nvSpPr>
          <p:cNvPr id="7" name="TextBox 6"/>
          <p:cNvSpPr txBox="1"/>
          <p:nvPr/>
        </p:nvSpPr>
        <p:spPr>
          <a:xfrm>
            <a:off x="2880360" y="3602736"/>
            <a:ext cx="8412480" cy="1188720"/>
          </a:xfrm>
          <a:prstGeom prst="rect">
            <a:avLst/>
          </a:prstGeom>
          <a:noFill/>
        </p:spPr>
        <p:txBody>
          <a:bodyPr wrap="square" lIns="0" rIns="0" tIns="0" bIns="0">
            <a:spAutoFit/>
          </a:bodyPr>
          <a:lstStyle/>
          <a:p>
            <a:pPr>
              <a:lnSpc>
                <a:spcPct val="115000"/>
              </a:lnSpc>
              <a:spcBef>
                <a:spcPts val="0"/>
              </a:spcBef>
              <a:spcAft>
                <a:spcPts val="0"/>
              </a:spcAft>
            </a:pPr>
            <a:r>
              <a:rPr sz="1500" b="0" i="0">
                <a:solidFill>
                  <a:srgbClr val="C5BFB1"/>
                </a:solidFill>
                <a:latin typeface="Nunito"/>
              </a:rPr>
              <a:t>Create REST and GraphQL APIs with Data API Builder, deploy to Azure hosting services, and implement monitoring and event-driven patterns.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4</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20</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Data API Builder: REST &amp; GraphQL APIs</a:t>
            </a:r>
          </a:p>
        </p:txBody>
      </p:sp>
      <p:sp>
        <p:nvSpPr>
          <p:cNvPr id="5" name="Rounded Rectangle 4"/>
          <p:cNvSpPr/>
          <p:nvPr/>
        </p:nvSpPr>
        <p:spPr>
          <a:xfrm>
            <a:off x="548640" y="841248"/>
            <a:ext cx="658368" cy="73152"/>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Generate secure, production-ready APIs from your database schema with zero application code.</a:t>
            </a:r>
          </a:p>
        </p:txBody>
      </p:sp>
      <p:sp>
        <p:nvSpPr>
          <p:cNvPr id="7" name="Rounded Rectangle 6"/>
          <p:cNvSpPr/>
          <p:nvPr/>
        </p:nvSpPr>
        <p:spPr>
          <a:xfrm>
            <a:off x="548640" y="1417320"/>
            <a:ext cx="5413248" cy="2606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5193792" cy="54864"/>
          </a:xfrm>
          <a:prstGeom prst="roundRect">
            <a:avLst>
              <a:gd name="adj" fmla="val 50000"/>
            </a:avLst>
          </a:prstGeom>
          <a:solidFill>
            <a:srgbClr val="FC89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5010912" cy="292608"/>
          </a:xfrm>
          <a:prstGeom prst="rect">
            <a:avLst/>
          </a:prstGeom>
          <a:noFill/>
        </p:spPr>
        <p:txBody>
          <a:bodyPr wrap="square" lIns="0" rIns="0" tIns="0" bIns="0">
            <a:spAutoFit/>
          </a:bodyPr>
          <a:lstStyle/>
          <a:p>
            <a:pPr>
              <a:spcBef>
                <a:spcPts val="0"/>
              </a:spcBef>
              <a:spcAft>
                <a:spcPts val="0"/>
              </a:spcAft>
            </a:pPr>
            <a:r>
              <a:rPr sz="1500" b="1" i="0">
                <a:solidFill>
                  <a:srgbClr val="1F2A33"/>
                </a:solidFill>
                <a:latin typeface="Bricolage Grotesque"/>
              </a:rPr>
              <a:t>Core Capabilities</a:t>
            </a:r>
          </a:p>
        </p:txBody>
      </p:sp>
      <p:sp>
        <p:nvSpPr>
          <p:cNvPr id="10" name="TextBox 9"/>
          <p:cNvSpPr txBox="1"/>
          <p:nvPr/>
        </p:nvSpPr>
        <p:spPr>
          <a:xfrm>
            <a:off x="749808" y="1947672"/>
            <a:ext cx="5010912" cy="1938528"/>
          </a:xfrm>
          <a:prstGeom prst="rect">
            <a:avLst/>
          </a:prstGeom>
          <a:noFill/>
        </p:spPr>
        <p:txBody>
          <a:bodyPr wrap="square" lIns="0" rIns="0" tIns="0" bIns="0">
            <a:spAutoFit/>
          </a:bodyPr>
          <a:lstStyle/>
          <a:p>
            <a:pPr marL="164592" indent="-164592">
              <a:lnSpc>
                <a:spcPct val="106000"/>
              </a:lnSpc>
              <a:spcBef>
                <a:spcPts val="0"/>
              </a:spcBef>
              <a:spcAft>
                <a:spcPts val="600"/>
              </a:spcAft>
              <a:buFont typeface="Nunito"/>
              <a:buChar char="•"/>
            </a:pPr>
            <a:r>
              <a:rPr sz="1050" b="0" i="0">
                <a:solidFill>
                  <a:srgbClr val="1F2A33"/>
                </a:solidFill>
                <a:latin typeface="Nunito"/>
              </a:rPr>
              <a:t>Auto REST and GraphQL endpoint generation from tables, views, stored procs</a:t>
            </a:r>
          </a:p>
          <a:p>
            <a:pPr marL="164592" indent="-164592">
              <a:lnSpc>
                <a:spcPct val="106000"/>
              </a:lnSpc>
              <a:spcBef>
                <a:spcPts val="0"/>
              </a:spcBef>
              <a:spcAft>
                <a:spcPts val="600"/>
              </a:spcAft>
              <a:buFont typeface="Nunito"/>
              <a:buChar char="•"/>
            </a:pPr>
            <a:r>
              <a:rPr sz="1050" b="0" i="0">
                <a:solidFill>
                  <a:srgbClr val="1F2A33"/>
                </a:solidFill>
                <a:latin typeface="Nunito"/>
              </a:rPr>
              <a:t>Configuration-driven JSON config defines entities, permissions, relationships</a:t>
            </a:r>
          </a:p>
          <a:p>
            <a:pPr marL="164592" indent="-164592">
              <a:lnSpc>
                <a:spcPct val="106000"/>
              </a:lnSpc>
              <a:spcBef>
                <a:spcPts val="0"/>
              </a:spcBef>
              <a:spcAft>
                <a:spcPts val="600"/>
              </a:spcAft>
              <a:buFont typeface="Nunito"/>
              <a:buChar char="•"/>
            </a:pPr>
            <a:r>
              <a:rPr sz="1050" b="0" i="0">
                <a:solidFill>
                  <a:srgbClr val="1F2A33"/>
                </a:solidFill>
                <a:latin typeface="Nunito"/>
              </a:rPr>
              <a:t>Built-in authentication with Microsoft Entra ID and EasyAuth</a:t>
            </a:r>
          </a:p>
          <a:p>
            <a:pPr marL="164592" indent="-164592">
              <a:lnSpc>
                <a:spcPct val="106000"/>
              </a:lnSpc>
              <a:spcBef>
                <a:spcPts val="0"/>
              </a:spcBef>
              <a:spcAft>
                <a:spcPts val="600"/>
              </a:spcAft>
              <a:buFont typeface="Nunito"/>
              <a:buChar char="•"/>
            </a:pPr>
            <a:r>
              <a:rPr sz="1050" b="0" i="0">
                <a:solidFill>
                  <a:srgbClr val="1F2A33"/>
                </a:solidFill>
                <a:latin typeface="Nunito"/>
              </a:rPr>
              <a:t>Role-based authorization at entity and field level</a:t>
            </a:r>
          </a:p>
          <a:p>
            <a:pPr marL="164592" indent="-164592">
              <a:lnSpc>
                <a:spcPct val="106000"/>
              </a:lnSpc>
              <a:spcBef>
                <a:spcPts val="0"/>
              </a:spcBef>
              <a:spcAft>
                <a:spcPts val="600"/>
              </a:spcAft>
              <a:buFont typeface="Nunito"/>
              <a:buChar char="•"/>
            </a:pPr>
            <a:r>
              <a:rPr sz="1050" b="0" i="0">
                <a:solidFill>
                  <a:srgbClr val="1F2A33"/>
                </a:solidFill>
                <a:latin typeface="Nunito"/>
              </a:rPr>
              <a:t>Supports SQL Server, Azure SQL, Cosmos DB, MySQL, PostgreSQL</a:t>
            </a:r>
          </a:p>
          <a:p>
            <a:pPr marL="164592" indent="-164592">
              <a:lnSpc>
                <a:spcPct val="106000"/>
              </a:lnSpc>
              <a:spcBef>
                <a:spcPts val="0"/>
              </a:spcBef>
              <a:spcAft>
                <a:spcPts val="600"/>
              </a:spcAft>
              <a:buFont typeface="Nunito"/>
              <a:buChar char="•"/>
            </a:pPr>
            <a:r>
              <a:rPr sz="1050" b="0" i="0">
                <a:solidFill>
                  <a:srgbClr val="1F2A33"/>
                </a:solidFill>
                <a:latin typeface="Nunito"/>
              </a:rPr>
              <a:t>Pagination, filtering, sorting, and field selection out of the box</a:t>
            </a:r>
          </a:p>
        </p:txBody>
      </p:sp>
      <p:sp>
        <p:nvSpPr>
          <p:cNvPr id="11" name="Rounded Rectangle 10"/>
          <p:cNvSpPr/>
          <p:nvPr/>
        </p:nvSpPr>
        <p:spPr>
          <a:xfrm>
            <a:off x="6227064" y="1417320"/>
            <a:ext cx="5413248" cy="26060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36792" y="1417320"/>
            <a:ext cx="5193792" cy="54864"/>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581912"/>
            <a:ext cx="5010912" cy="292608"/>
          </a:xfrm>
          <a:prstGeom prst="rect">
            <a:avLst/>
          </a:prstGeom>
          <a:noFill/>
        </p:spPr>
        <p:txBody>
          <a:bodyPr wrap="square" lIns="0" rIns="0" tIns="0" bIns="0">
            <a:spAutoFit/>
          </a:bodyPr>
          <a:lstStyle/>
          <a:p>
            <a:pPr>
              <a:spcBef>
                <a:spcPts val="0"/>
              </a:spcBef>
              <a:spcAft>
                <a:spcPts val="0"/>
              </a:spcAft>
            </a:pPr>
            <a:r>
              <a:rPr sz="1500" b="1" i="0">
                <a:solidFill>
                  <a:srgbClr val="1F2A33"/>
                </a:solidFill>
                <a:latin typeface="Bricolage Grotesque"/>
              </a:rPr>
              <a:t>Deployment Options</a:t>
            </a:r>
          </a:p>
        </p:txBody>
      </p:sp>
      <p:sp>
        <p:nvSpPr>
          <p:cNvPr id="14" name="TextBox 13"/>
          <p:cNvSpPr txBox="1"/>
          <p:nvPr/>
        </p:nvSpPr>
        <p:spPr>
          <a:xfrm>
            <a:off x="6428232" y="1947672"/>
            <a:ext cx="5010912" cy="1938528"/>
          </a:xfrm>
          <a:prstGeom prst="rect">
            <a:avLst/>
          </a:prstGeom>
          <a:noFill/>
        </p:spPr>
        <p:txBody>
          <a:bodyPr wrap="square" lIns="0" rIns="0" tIns="0" bIns="0">
            <a:spAutoFit/>
          </a:bodyPr>
          <a:lstStyle/>
          <a:p>
            <a:pPr marL="164592" indent="-164592">
              <a:lnSpc>
                <a:spcPct val="106000"/>
              </a:lnSpc>
              <a:spcBef>
                <a:spcPts val="0"/>
              </a:spcBef>
              <a:spcAft>
                <a:spcPts val="600"/>
              </a:spcAft>
              <a:buFont typeface="Nunito"/>
              <a:buChar char="•"/>
            </a:pPr>
            <a:r>
              <a:rPr sz="1050" b="0" i="0">
                <a:solidFill>
                  <a:srgbClr val="1F2A33"/>
                </a:solidFill>
                <a:latin typeface="Nunito"/>
              </a:rPr>
              <a:t>Azure Static Web Apps (built-in database connections)</a:t>
            </a:r>
          </a:p>
          <a:p>
            <a:pPr marL="164592" indent="-164592">
              <a:lnSpc>
                <a:spcPct val="106000"/>
              </a:lnSpc>
              <a:spcBef>
                <a:spcPts val="0"/>
              </a:spcBef>
              <a:spcAft>
                <a:spcPts val="600"/>
              </a:spcAft>
              <a:buFont typeface="Nunito"/>
              <a:buChar char="•"/>
            </a:pPr>
            <a:r>
              <a:rPr sz="1050" b="0" i="0">
                <a:solidFill>
                  <a:srgbClr val="1F2A33"/>
                </a:solidFill>
                <a:latin typeface="Nunito"/>
              </a:rPr>
              <a:t>Azure Container Apps for containerized deployment</a:t>
            </a:r>
          </a:p>
          <a:p>
            <a:pPr marL="164592" indent="-164592">
              <a:lnSpc>
                <a:spcPct val="106000"/>
              </a:lnSpc>
              <a:spcBef>
                <a:spcPts val="0"/>
              </a:spcBef>
              <a:spcAft>
                <a:spcPts val="600"/>
              </a:spcAft>
              <a:buFont typeface="Nunito"/>
              <a:buChar char="•"/>
            </a:pPr>
            <a:r>
              <a:rPr sz="1050" b="0" i="0">
                <a:solidFill>
                  <a:srgbClr val="1F2A33"/>
                </a:solidFill>
                <a:latin typeface="Nunito"/>
              </a:rPr>
              <a:t>Azure App Service for traditional web hosting</a:t>
            </a:r>
          </a:p>
          <a:p>
            <a:pPr marL="164592" indent="-164592">
              <a:lnSpc>
                <a:spcPct val="106000"/>
              </a:lnSpc>
              <a:spcBef>
                <a:spcPts val="0"/>
              </a:spcBef>
              <a:spcAft>
                <a:spcPts val="600"/>
              </a:spcAft>
              <a:buFont typeface="Nunito"/>
              <a:buChar char="•"/>
            </a:pPr>
            <a:r>
              <a:rPr sz="1050" b="0" i="0">
                <a:solidFill>
                  <a:srgbClr val="1F2A33"/>
                </a:solidFill>
                <a:latin typeface="Nunito"/>
              </a:rPr>
              <a:t>Local development with DAB CLI (dab start)</a:t>
            </a:r>
          </a:p>
          <a:p>
            <a:pPr marL="164592" indent="-164592">
              <a:lnSpc>
                <a:spcPct val="106000"/>
              </a:lnSpc>
              <a:spcBef>
                <a:spcPts val="0"/>
              </a:spcBef>
              <a:spcAft>
                <a:spcPts val="600"/>
              </a:spcAft>
              <a:buFont typeface="Nunito"/>
              <a:buChar char="•"/>
            </a:pPr>
            <a:r>
              <a:rPr sz="1050" b="0" i="0">
                <a:solidFill>
                  <a:srgbClr val="1F2A33"/>
                </a:solidFill>
                <a:latin typeface="Nunito"/>
              </a:rPr>
              <a:t>Docker container for consistent dev/prod parity</a:t>
            </a:r>
          </a:p>
          <a:p>
            <a:pPr marL="164592" indent="-164592">
              <a:lnSpc>
                <a:spcPct val="106000"/>
              </a:lnSpc>
              <a:spcBef>
                <a:spcPts val="0"/>
              </a:spcBef>
              <a:spcAft>
                <a:spcPts val="600"/>
              </a:spcAft>
              <a:buFont typeface="Nunito"/>
              <a:buChar char="•"/>
            </a:pPr>
            <a:r>
              <a:rPr sz="1050" b="0" i="0">
                <a:solidFill>
                  <a:srgbClr val="1F2A33"/>
                </a:solidFill>
                <a:latin typeface="Nunito"/>
              </a:rPr>
              <a:t>Azure API Management for advanced gateway features</a:t>
            </a:r>
          </a:p>
        </p:txBody>
      </p:sp>
      <p:sp>
        <p:nvSpPr>
          <p:cNvPr id="15" name="Rounded Rectangle 14"/>
          <p:cNvSpPr/>
          <p:nvPr/>
        </p:nvSpPr>
        <p:spPr>
          <a:xfrm>
            <a:off x="548640" y="4206240"/>
            <a:ext cx="11091672" cy="210312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8368" y="4206240"/>
            <a:ext cx="10872216" cy="54864"/>
          </a:xfrm>
          <a:prstGeom prst="roundRect">
            <a:avLst>
              <a:gd name="adj" fmla="val 50000"/>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370832"/>
            <a:ext cx="10689336" cy="292608"/>
          </a:xfrm>
          <a:prstGeom prst="rect">
            <a:avLst/>
          </a:prstGeom>
          <a:noFill/>
        </p:spPr>
        <p:txBody>
          <a:bodyPr wrap="square" lIns="0" rIns="0" tIns="0" bIns="0">
            <a:spAutoFit/>
          </a:bodyPr>
          <a:lstStyle/>
          <a:p>
            <a:pPr>
              <a:spcBef>
                <a:spcPts val="0"/>
              </a:spcBef>
              <a:spcAft>
                <a:spcPts val="0"/>
              </a:spcAft>
            </a:pPr>
            <a:r>
              <a:rPr sz="1500" b="1" i="0">
                <a:solidFill>
                  <a:srgbClr val="1F2A33"/>
                </a:solidFill>
                <a:latin typeface="Bricolage Grotesque"/>
              </a:rPr>
              <a:t>Security &amp; Performance Features</a:t>
            </a:r>
          </a:p>
        </p:txBody>
      </p:sp>
      <p:sp>
        <p:nvSpPr>
          <p:cNvPr id="18" name="TextBox 17"/>
          <p:cNvSpPr txBox="1"/>
          <p:nvPr/>
        </p:nvSpPr>
        <p:spPr>
          <a:xfrm>
            <a:off x="749808" y="4736592"/>
            <a:ext cx="10689336" cy="1435608"/>
          </a:xfrm>
          <a:prstGeom prst="rect">
            <a:avLst/>
          </a:prstGeom>
          <a:noFill/>
        </p:spPr>
        <p:txBody>
          <a:bodyPr wrap="square" lIns="0" rIns="0" tIns="0" bIns="0">
            <a:spAutoFit/>
          </a:bodyPr>
          <a:lstStyle/>
          <a:p>
            <a:pPr>
              <a:lnSpc>
                <a:spcPct val="100000"/>
              </a:lnSpc>
              <a:spcBef>
                <a:spcPts val="0"/>
              </a:spcBef>
              <a:spcAft>
                <a:spcPts val="100"/>
              </a:spcAft>
              <a:buNone/>
            </a:pPr>
            <a:r>
              <a:rPr sz="1200" b="1" i="0">
                <a:solidFill>
                  <a:srgbClr val="3BB283"/>
                </a:solidFill>
                <a:latin typeface="Nunito"/>
              </a:rPr>
              <a:t>Response Caching:</a:t>
            </a:r>
          </a:p>
          <a:p>
            <a:pPr>
              <a:lnSpc>
                <a:spcPct val="105000"/>
              </a:lnSpc>
              <a:spcBef>
                <a:spcPts val="0"/>
              </a:spcBef>
              <a:spcAft>
                <a:spcPts val="600"/>
              </a:spcAft>
              <a:buNone/>
            </a:pPr>
            <a:r>
              <a:rPr sz="1150" b="0" i="0">
                <a:solidFill>
                  <a:srgbClr val="1F2A33"/>
                </a:solidFill>
                <a:latin typeface="Nunito"/>
              </a:rPr>
              <a:t>Configurable per-entity cache TTL to reduce database load</a:t>
            </a:r>
          </a:p>
          <a:p>
            <a:pPr>
              <a:lnSpc>
                <a:spcPct val="100000"/>
              </a:lnSpc>
              <a:spcBef>
                <a:spcPts val="0"/>
              </a:spcBef>
              <a:spcAft>
                <a:spcPts val="100"/>
              </a:spcAft>
              <a:buNone/>
            </a:pPr>
            <a:r>
              <a:rPr sz="1200" b="1" i="0">
                <a:solidFill>
                  <a:srgbClr val="3BB283"/>
                </a:solidFill>
                <a:latin typeface="Nunito"/>
              </a:rPr>
              <a:t>Cross-Origin (CORS):</a:t>
            </a:r>
          </a:p>
          <a:p>
            <a:pPr>
              <a:lnSpc>
                <a:spcPct val="105000"/>
              </a:lnSpc>
              <a:spcBef>
                <a:spcPts val="0"/>
              </a:spcBef>
              <a:spcAft>
                <a:spcPts val="600"/>
              </a:spcAft>
              <a:buNone/>
            </a:pPr>
            <a:r>
              <a:rPr sz="1150" b="0" i="0">
                <a:solidFill>
                  <a:srgbClr val="1F2A33"/>
                </a:solidFill>
                <a:latin typeface="Nunito"/>
              </a:rPr>
              <a:t>Configurable allowed origins for browser-based API access</a:t>
            </a:r>
          </a:p>
          <a:p>
            <a:pPr>
              <a:lnSpc>
                <a:spcPct val="100000"/>
              </a:lnSpc>
              <a:spcBef>
                <a:spcPts val="0"/>
              </a:spcBef>
              <a:spcAft>
                <a:spcPts val="100"/>
              </a:spcAft>
              <a:buNone/>
            </a:pPr>
            <a:r>
              <a:rPr sz="1200" b="1" i="0">
                <a:solidFill>
                  <a:srgbClr val="3BB283"/>
                </a:solidFill>
                <a:latin typeface="Nunito"/>
              </a:rPr>
              <a:t>GraphQL Depth Limiting:</a:t>
            </a:r>
          </a:p>
          <a:p>
            <a:pPr>
              <a:lnSpc>
                <a:spcPct val="105000"/>
              </a:lnSpc>
              <a:spcBef>
                <a:spcPts val="0"/>
              </a:spcBef>
              <a:spcAft>
                <a:spcPts val="600"/>
              </a:spcAft>
              <a:buNone/>
            </a:pPr>
            <a:r>
              <a:rPr sz="1150" b="0" i="0">
                <a:solidFill>
                  <a:srgbClr val="1F2A33"/>
                </a:solidFill>
                <a:latin typeface="Nunito"/>
              </a:rPr>
              <a:t>Query depth limits prevent abuse and excessive resource consumption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4</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21</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Monitoring &amp; Event-Driven Patterns</a:t>
            </a:r>
          </a:p>
        </p:txBody>
      </p:sp>
      <p:sp>
        <p:nvSpPr>
          <p:cNvPr id="5" name="Rounded Rectangle 4"/>
          <p:cNvSpPr/>
          <p:nvPr/>
        </p:nvSpPr>
        <p:spPr>
          <a:xfrm>
            <a:off x="548640" y="841248"/>
            <a:ext cx="658368" cy="7315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60120"/>
            <a:ext cx="11091672" cy="320040"/>
          </a:xfrm>
          <a:prstGeom prst="rect">
            <a:avLst/>
          </a:prstGeom>
          <a:noFill/>
        </p:spPr>
        <p:txBody>
          <a:bodyPr wrap="square" lIns="0" rIns="0" tIns="0" bIns="0">
            <a:spAutoFit/>
          </a:bodyPr>
          <a:lstStyle/>
          <a:p>
            <a:pPr>
              <a:spcBef>
                <a:spcPts val="0"/>
              </a:spcBef>
              <a:spcAft>
                <a:spcPts val="0"/>
              </a:spcAft>
            </a:pPr>
            <a:r>
              <a:rPr sz="1250" b="0" i="0">
                <a:solidFill>
                  <a:srgbClr val="5A6B76"/>
                </a:solidFill>
                <a:latin typeface="Nunito"/>
              </a:rPr>
              <a:t>Implement observability and react to data changes with Azure-native integration patterns.</a:t>
            </a:r>
          </a:p>
        </p:txBody>
      </p:sp>
      <p:sp>
        <p:nvSpPr>
          <p:cNvPr id="7" name="Rounded Rectangle 6"/>
          <p:cNvSpPr/>
          <p:nvPr/>
        </p:nvSpPr>
        <p:spPr>
          <a:xfrm>
            <a:off x="548640" y="1417320"/>
            <a:ext cx="5413248" cy="23774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17320"/>
            <a:ext cx="5193792" cy="54864"/>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81912"/>
            <a:ext cx="5010912" cy="292608"/>
          </a:xfrm>
          <a:prstGeom prst="rect">
            <a:avLst/>
          </a:prstGeom>
          <a:noFill/>
        </p:spPr>
        <p:txBody>
          <a:bodyPr wrap="square" lIns="0" rIns="0" tIns="0" bIns="0">
            <a:spAutoFit/>
          </a:bodyPr>
          <a:lstStyle/>
          <a:p>
            <a:pPr>
              <a:spcBef>
                <a:spcPts val="0"/>
              </a:spcBef>
              <a:spcAft>
                <a:spcPts val="0"/>
              </a:spcAft>
            </a:pPr>
            <a:r>
              <a:rPr sz="1450" b="1" i="0">
                <a:solidFill>
                  <a:srgbClr val="1F2A33"/>
                </a:solidFill>
                <a:latin typeface="Bricolage Grotesque"/>
              </a:rPr>
              <a:t>📊  Azure Monitor &amp; Diagnostics</a:t>
            </a:r>
          </a:p>
        </p:txBody>
      </p:sp>
      <p:sp>
        <p:nvSpPr>
          <p:cNvPr id="10" name="TextBox 9"/>
          <p:cNvSpPr txBox="1"/>
          <p:nvPr/>
        </p:nvSpPr>
        <p:spPr>
          <a:xfrm>
            <a:off x="749808" y="1947672"/>
            <a:ext cx="5010912" cy="1709928"/>
          </a:xfrm>
          <a:prstGeom prst="rect">
            <a:avLst/>
          </a:prstGeom>
          <a:noFill/>
        </p:spPr>
        <p:txBody>
          <a:bodyPr wrap="square" lIns="0" rIns="0" tIns="0" bIns="0">
            <a:spAutoFit/>
          </a:bodyPr>
          <a:lstStyle/>
          <a:p>
            <a:pPr marL="164592" indent="-164592">
              <a:lnSpc>
                <a:spcPct val="106000"/>
              </a:lnSpc>
              <a:spcBef>
                <a:spcPts val="0"/>
              </a:spcBef>
              <a:spcAft>
                <a:spcPts val="800"/>
              </a:spcAft>
              <a:buFont typeface="Nunito"/>
              <a:buChar char="•"/>
            </a:pPr>
            <a:r>
              <a:rPr sz="1100" b="0" i="0">
                <a:solidFill>
                  <a:srgbClr val="1F2A33"/>
                </a:solidFill>
                <a:latin typeface="Nunito"/>
              </a:rPr>
              <a:t>Azure Monitor metrics: CPU%, DTU%, storage, connections, deadlocks</a:t>
            </a:r>
          </a:p>
          <a:p>
            <a:pPr marL="164592" indent="-164592">
              <a:lnSpc>
                <a:spcPct val="106000"/>
              </a:lnSpc>
              <a:spcBef>
                <a:spcPts val="0"/>
              </a:spcBef>
              <a:spcAft>
                <a:spcPts val="800"/>
              </a:spcAft>
              <a:buFont typeface="Nunito"/>
              <a:buChar char="•"/>
            </a:pPr>
            <a:r>
              <a:rPr sz="1100" b="0" i="0">
                <a:solidFill>
                  <a:srgbClr val="1F2A33"/>
                </a:solidFill>
                <a:latin typeface="Nunito"/>
              </a:rPr>
              <a:t>Diagnostic settings: stream to Log Analytics, Event Hubs, or Storage</a:t>
            </a:r>
          </a:p>
          <a:p>
            <a:pPr marL="164592" indent="-164592">
              <a:lnSpc>
                <a:spcPct val="106000"/>
              </a:lnSpc>
              <a:spcBef>
                <a:spcPts val="0"/>
              </a:spcBef>
              <a:spcAft>
                <a:spcPts val="800"/>
              </a:spcAft>
              <a:buFont typeface="Nunito"/>
              <a:buChar char="•"/>
            </a:pPr>
            <a:r>
              <a:rPr sz="1100" b="0" i="0">
                <a:solidFill>
                  <a:srgbClr val="1F2A33"/>
                </a:solidFill>
                <a:latin typeface="Nunito"/>
              </a:rPr>
              <a:t>KQL queries in Log Analytics for deep performance analysis</a:t>
            </a:r>
          </a:p>
          <a:p>
            <a:pPr marL="164592" indent="-164592">
              <a:lnSpc>
                <a:spcPct val="106000"/>
              </a:lnSpc>
              <a:spcBef>
                <a:spcPts val="0"/>
              </a:spcBef>
              <a:spcAft>
                <a:spcPts val="800"/>
              </a:spcAft>
              <a:buFont typeface="Nunito"/>
              <a:buChar char="•"/>
            </a:pPr>
            <a:r>
              <a:rPr sz="1100" b="0" i="0">
                <a:solidFill>
                  <a:srgbClr val="1F2A33"/>
                </a:solidFill>
                <a:latin typeface="Nunito"/>
              </a:rPr>
              <a:t>Alert rules: trigger notifications on threshold breaches</a:t>
            </a:r>
          </a:p>
          <a:p>
            <a:pPr marL="164592" indent="-164592">
              <a:lnSpc>
                <a:spcPct val="106000"/>
              </a:lnSpc>
              <a:spcBef>
                <a:spcPts val="0"/>
              </a:spcBef>
              <a:spcAft>
                <a:spcPts val="800"/>
              </a:spcAft>
              <a:buFont typeface="Nunito"/>
              <a:buChar char="•"/>
            </a:pPr>
            <a:r>
              <a:rPr sz="1100" b="0" i="0">
                <a:solidFill>
                  <a:srgbClr val="1F2A33"/>
                </a:solidFill>
                <a:latin typeface="Nunito"/>
              </a:rPr>
              <a:t>Intelligent Insights: AI-detected performance anomalies</a:t>
            </a:r>
          </a:p>
        </p:txBody>
      </p:sp>
      <p:sp>
        <p:nvSpPr>
          <p:cNvPr id="11" name="Rounded Rectangle 10"/>
          <p:cNvSpPr/>
          <p:nvPr/>
        </p:nvSpPr>
        <p:spPr>
          <a:xfrm>
            <a:off x="6227064" y="1417320"/>
            <a:ext cx="5413248" cy="2377440"/>
          </a:xfrm>
          <a:prstGeom prst="roundRect">
            <a:avLst>
              <a:gd name="adj" fmla="val 45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36792" y="1417320"/>
            <a:ext cx="5193792" cy="54864"/>
          </a:xfrm>
          <a:prstGeom prst="roundRect">
            <a:avLst>
              <a:gd name="adj" fmla="val 50000"/>
            </a:avLst>
          </a:prstGeom>
          <a:solidFill>
            <a:srgbClr val="DD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581912"/>
            <a:ext cx="5010912" cy="292608"/>
          </a:xfrm>
          <a:prstGeom prst="rect">
            <a:avLst/>
          </a:prstGeom>
          <a:noFill/>
        </p:spPr>
        <p:txBody>
          <a:bodyPr wrap="square" lIns="0" rIns="0" tIns="0" bIns="0">
            <a:spAutoFit/>
          </a:bodyPr>
          <a:lstStyle/>
          <a:p>
            <a:pPr>
              <a:spcBef>
                <a:spcPts val="0"/>
              </a:spcBef>
              <a:spcAft>
                <a:spcPts val="0"/>
              </a:spcAft>
            </a:pPr>
            <a:r>
              <a:rPr sz="1450" b="1" i="0">
                <a:solidFill>
                  <a:srgbClr val="1F2A33"/>
                </a:solidFill>
                <a:latin typeface="Bricolage Grotesque"/>
              </a:rPr>
              <a:t>🔔  Event-Driven Change Patterns</a:t>
            </a:r>
          </a:p>
        </p:txBody>
      </p:sp>
      <p:sp>
        <p:nvSpPr>
          <p:cNvPr id="14" name="TextBox 13"/>
          <p:cNvSpPr txBox="1"/>
          <p:nvPr/>
        </p:nvSpPr>
        <p:spPr>
          <a:xfrm>
            <a:off x="6428232" y="1947672"/>
            <a:ext cx="5010912" cy="1709928"/>
          </a:xfrm>
          <a:prstGeom prst="rect">
            <a:avLst/>
          </a:prstGeom>
          <a:noFill/>
        </p:spPr>
        <p:txBody>
          <a:bodyPr wrap="square" lIns="0" rIns="0" tIns="0" bIns="0">
            <a:spAutoFit/>
          </a:bodyPr>
          <a:lstStyle/>
          <a:p>
            <a:pPr marL="164592" indent="-164592">
              <a:lnSpc>
                <a:spcPct val="106000"/>
              </a:lnSpc>
              <a:spcBef>
                <a:spcPts val="0"/>
              </a:spcBef>
              <a:spcAft>
                <a:spcPts val="800"/>
              </a:spcAft>
              <a:buFont typeface="Nunito"/>
              <a:buChar char="•"/>
            </a:pPr>
            <a:r>
              <a:rPr sz="1100" b="0" i="0">
                <a:solidFill>
                  <a:srgbClr val="1F2A33"/>
                </a:solidFill>
                <a:latin typeface="Nunito"/>
              </a:rPr>
              <a:t>Change Data Capture (CDC): track row-level changes to tables</a:t>
            </a:r>
          </a:p>
          <a:p>
            <a:pPr marL="164592" indent="-164592">
              <a:lnSpc>
                <a:spcPct val="106000"/>
              </a:lnSpc>
              <a:spcBef>
                <a:spcPts val="0"/>
              </a:spcBef>
              <a:spcAft>
                <a:spcPts val="800"/>
              </a:spcAft>
              <a:buFont typeface="Nunito"/>
              <a:buChar char="•"/>
            </a:pPr>
            <a:r>
              <a:rPr sz="1100" b="0" i="0">
                <a:solidFill>
                  <a:srgbClr val="1F2A33"/>
                </a:solidFill>
                <a:latin typeface="Nunito"/>
              </a:rPr>
              <a:t>Change Tracking: lightweight change detection for sync scenarios</a:t>
            </a:r>
          </a:p>
          <a:p>
            <a:pPr marL="164592" indent="-164592">
              <a:lnSpc>
                <a:spcPct val="106000"/>
              </a:lnSpc>
              <a:spcBef>
                <a:spcPts val="0"/>
              </a:spcBef>
              <a:spcAft>
                <a:spcPts val="800"/>
              </a:spcAft>
              <a:buFont typeface="Nunito"/>
              <a:buChar char="•"/>
            </a:pPr>
            <a:r>
              <a:rPr sz="1100" b="0" i="0">
                <a:solidFill>
                  <a:srgbClr val="1F2A33"/>
                </a:solidFill>
                <a:latin typeface="Nunito"/>
              </a:rPr>
              <a:t>Azure Functions SQL trigger: react to changes in real-time</a:t>
            </a:r>
          </a:p>
          <a:p>
            <a:pPr marL="164592" indent="-164592">
              <a:lnSpc>
                <a:spcPct val="106000"/>
              </a:lnSpc>
              <a:spcBef>
                <a:spcPts val="0"/>
              </a:spcBef>
              <a:spcAft>
                <a:spcPts val="800"/>
              </a:spcAft>
              <a:buFont typeface="Nunito"/>
              <a:buChar char="•"/>
            </a:pPr>
            <a:r>
              <a:rPr sz="1100" b="0" i="0">
                <a:solidFill>
                  <a:srgbClr val="1F2A33"/>
                </a:solidFill>
                <a:latin typeface="Nunito"/>
              </a:rPr>
              <a:t>Logic Apps: workflow automation from database events</a:t>
            </a:r>
          </a:p>
          <a:p>
            <a:pPr marL="164592" indent="-164592">
              <a:lnSpc>
                <a:spcPct val="106000"/>
              </a:lnSpc>
              <a:spcBef>
                <a:spcPts val="0"/>
              </a:spcBef>
              <a:spcAft>
                <a:spcPts val="800"/>
              </a:spcAft>
              <a:buFont typeface="Nunito"/>
              <a:buChar char="•"/>
            </a:pPr>
            <a:r>
              <a:rPr sz="1100" b="0" i="0">
                <a:solidFill>
                  <a:srgbClr val="1F2A33"/>
                </a:solidFill>
                <a:latin typeface="Nunito"/>
              </a:rPr>
              <a:t>Event Hubs: stream database changes to downstream consumers</a:t>
            </a:r>
          </a:p>
        </p:txBody>
      </p:sp>
      <p:sp>
        <p:nvSpPr>
          <p:cNvPr id="15" name="Rounded Rectangle 14"/>
          <p:cNvSpPr/>
          <p:nvPr/>
        </p:nvSpPr>
        <p:spPr>
          <a:xfrm>
            <a:off x="548640" y="4023360"/>
            <a:ext cx="11091672" cy="2286000"/>
          </a:xfrm>
          <a:prstGeom prst="roundRect">
            <a:avLst>
              <a:gd name="adj" fmla="val 4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8368" y="4023360"/>
            <a:ext cx="10872216" cy="54864"/>
          </a:xfrm>
          <a:prstGeom prst="roundRect">
            <a:avLst>
              <a:gd name="adj" fmla="val 50000"/>
            </a:avLst>
          </a:prstGeom>
          <a:solidFill>
            <a:srgbClr val="3D7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169664"/>
            <a:ext cx="10881360" cy="292608"/>
          </a:xfrm>
          <a:prstGeom prst="rect">
            <a:avLst/>
          </a:prstGeom>
          <a:noFill/>
        </p:spPr>
        <p:txBody>
          <a:bodyPr wrap="square" lIns="0" rIns="0" tIns="0" bIns="0">
            <a:spAutoFit/>
          </a:bodyPr>
          <a:lstStyle/>
          <a:p>
            <a:pPr>
              <a:spcBef>
                <a:spcPts val="0"/>
              </a:spcBef>
              <a:spcAft>
                <a:spcPts val="0"/>
              </a:spcAft>
            </a:pPr>
            <a:r>
              <a:rPr sz="1500" b="1" i="0">
                <a:solidFill>
                  <a:srgbClr val="1F2A33"/>
                </a:solidFill>
                <a:latin typeface="Bricolage Grotesque"/>
              </a:rPr>
              <a:t>Integration Architecture Patterns</a:t>
            </a:r>
          </a:p>
        </p:txBody>
      </p:sp>
      <p:sp>
        <p:nvSpPr>
          <p:cNvPr id="18" name="TextBox 17"/>
          <p:cNvSpPr txBox="1"/>
          <p:nvPr/>
        </p:nvSpPr>
        <p:spPr>
          <a:xfrm>
            <a:off x="749808" y="4590288"/>
            <a:ext cx="5349240" cy="731520"/>
          </a:xfrm>
          <a:prstGeom prst="rect">
            <a:avLst/>
          </a:prstGeom>
          <a:noFill/>
        </p:spPr>
        <p:txBody>
          <a:bodyPr wrap="square" lIns="0" rIns="0" tIns="0" bIns="0">
            <a:spAutoFit/>
          </a:bodyPr>
          <a:lstStyle/>
          <a:p>
            <a:pPr>
              <a:spcBef>
                <a:spcPts val="0"/>
              </a:spcBef>
              <a:spcAft>
                <a:spcPts val="100"/>
              </a:spcAft>
              <a:buNone/>
            </a:pPr>
            <a:r>
              <a:rPr sz="1200" b="1" i="0">
                <a:solidFill>
                  <a:srgbClr val="3D768E"/>
                </a:solidFill>
                <a:latin typeface="JetBrains Mono"/>
              </a:rPr>
              <a:t>sp_invoke_external_rest_endpoint</a:t>
            </a:r>
          </a:p>
          <a:p>
            <a:pPr>
              <a:lnSpc>
                <a:spcPct val="105000"/>
              </a:lnSpc>
              <a:spcBef>
                <a:spcPts val="0"/>
              </a:spcBef>
              <a:spcAft>
                <a:spcPts val="0"/>
              </a:spcAft>
              <a:buNone/>
            </a:pPr>
            <a:r>
              <a:rPr sz="1050" b="0" i="0">
                <a:solidFill>
                  <a:srgbClr val="1F2A33"/>
                </a:solidFill>
                <a:latin typeface="Nunito"/>
              </a:rPr>
              <a:t>Call external REST APIs directly from T-SQL (Azure SQL DB only)</a:t>
            </a:r>
          </a:p>
        </p:txBody>
      </p:sp>
      <p:sp>
        <p:nvSpPr>
          <p:cNvPr id="19" name="TextBox 18"/>
          <p:cNvSpPr txBox="1"/>
          <p:nvPr/>
        </p:nvSpPr>
        <p:spPr>
          <a:xfrm>
            <a:off x="6281928" y="4590288"/>
            <a:ext cx="5349240" cy="731520"/>
          </a:xfrm>
          <a:prstGeom prst="rect">
            <a:avLst/>
          </a:prstGeom>
          <a:noFill/>
        </p:spPr>
        <p:txBody>
          <a:bodyPr wrap="square" lIns="0" rIns="0" tIns="0" bIns="0">
            <a:spAutoFit/>
          </a:bodyPr>
          <a:lstStyle/>
          <a:p>
            <a:pPr>
              <a:spcBef>
                <a:spcPts val="0"/>
              </a:spcBef>
              <a:spcAft>
                <a:spcPts val="100"/>
              </a:spcAft>
              <a:buNone/>
            </a:pPr>
            <a:r>
              <a:rPr sz="1200" b="1" i="0">
                <a:solidFill>
                  <a:srgbClr val="3D768E"/>
                </a:solidFill>
                <a:latin typeface="Nunito"/>
              </a:rPr>
              <a:t>Azure Functions + SQL bindings</a:t>
            </a:r>
          </a:p>
          <a:p>
            <a:pPr>
              <a:lnSpc>
                <a:spcPct val="105000"/>
              </a:lnSpc>
              <a:spcBef>
                <a:spcPts val="0"/>
              </a:spcBef>
              <a:spcAft>
                <a:spcPts val="0"/>
              </a:spcAft>
              <a:buNone/>
            </a:pPr>
            <a:r>
              <a:rPr sz="1050" b="0" i="0">
                <a:solidFill>
                  <a:srgbClr val="1F2A33"/>
                </a:solidFill>
                <a:latin typeface="Nunito"/>
              </a:rPr>
              <a:t>Input/output bindings for serverless database access</a:t>
            </a:r>
          </a:p>
        </p:txBody>
      </p:sp>
      <p:sp>
        <p:nvSpPr>
          <p:cNvPr id="20" name="TextBox 19"/>
          <p:cNvSpPr txBox="1"/>
          <p:nvPr/>
        </p:nvSpPr>
        <p:spPr>
          <a:xfrm>
            <a:off x="749808" y="5367528"/>
            <a:ext cx="5349240" cy="731520"/>
          </a:xfrm>
          <a:prstGeom prst="rect">
            <a:avLst/>
          </a:prstGeom>
          <a:noFill/>
        </p:spPr>
        <p:txBody>
          <a:bodyPr wrap="square" lIns="0" rIns="0" tIns="0" bIns="0">
            <a:spAutoFit/>
          </a:bodyPr>
          <a:lstStyle/>
          <a:p>
            <a:pPr>
              <a:spcBef>
                <a:spcPts val="0"/>
              </a:spcBef>
              <a:spcAft>
                <a:spcPts val="100"/>
              </a:spcAft>
              <a:buNone/>
            </a:pPr>
            <a:r>
              <a:rPr sz="1200" b="1" i="0">
                <a:solidFill>
                  <a:srgbClr val="3D768E"/>
                </a:solidFill>
                <a:latin typeface="Nunito"/>
              </a:rPr>
              <a:t>Logic Apps SQL connector</a:t>
            </a:r>
          </a:p>
          <a:p>
            <a:pPr>
              <a:lnSpc>
                <a:spcPct val="105000"/>
              </a:lnSpc>
              <a:spcBef>
                <a:spcPts val="0"/>
              </a:spcBef>
              <a:spcAft>
                <a:spcPts val="0"/>
              </a:spcAft>
              <a:buNone/>
            </a:pPr>
            <a:r>
              <a:rPr sz="1050" b="0" i="0">
                <a:solidFill>
                  <a:srgbClr val="1F2A33"/>
                </a:solidFill>
                <a:latin typeface="Nunito"/>
              </a:rPr>
              <a:t>Low-code workflow automation with database triggers</a:t>
            </a:r>
          </a:p>
        </p:txBody>
      </p:sp>
      <p:sp>
        <p:nvSpPr>
          <p:cNvPr id="21" name="TextBox 20"/>
          <p:cNvSpPr txBox="1"/>
          <p:nvPr/>
        </p:nvSpPr>
        <p:spPr>
          <a:xfrm>
            <a:off x="6281928" y="5367528"/>
            <a:ext cx="5349240" cy="731520"/>
          </a:xfrm>
          <a:prstGeom prst="rect">
            <a:avLst/>
          </a:prstGeom>
          <a:noFill/>
        </p:spPr>
        <p:txBody>
          <a:bodyPr wrap="square" lIns="0" rIns="0" tIns="0" bIns="0">
            <a:spAutoFit/>
          </a:bodyPr>
          <a:lstStyle/>
          <a:p>
            <a:pPr>
              <a:spcBef>
                <a:spcPts val="0"/>
              </a:spcBef>
              <a:spcAft>
                <a:spcPts val="100"/>
              </a:spcAft>
              <a:buNone/>
            </a:pPr>
            <a:r>
              <a:rPr sz="1200" b="1" i="0">
                <a:solidFill>
                  <a:srgbClr val="3D768E"/>
                </a:solidFill>
                <a:latin typeface="Nunito"/>
              </a:rPr>
              <a:t>Event Grid + Change Events</a:t>
            </a:r>
          </a:p>
          <a:p>
            <a:pPr>
              <a:lnSpc>
                <a:spcPct val="105000"/>
              </a:lnSpc>
              <a:spcBef>
                <a:spcPts val="0"/>
              </a:spcBef>
              <a:spcAft>
                <a:spcPts val="0"/>
              </a:spcAft>
              <a:buNone/>
            </a:pPr>
            <a:r>
              <a:rPr sz="1050" b="0" i="0">
                <a:solidFill>
                  <a:srgbClr val="1F2A33"/>
                </a:solidFill>
                <a:latin typeface="Nunito"/>
              </a:rPr>
              <a:t>Publish database change events for microservice architectures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02920" y="6519672"/>
            <a:ext cx="71120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spc="100">
                <a:solidFill>
                  <a:srgbClr val="6B7780"/>
                </a:solidFill>
                <a:latin typeface="JetBrains Mono"/>
              </a:rPr>
              <a:t>SECURE, OPTIMIZE, &amp; SHIP SQL+AI · MODULE 4</a:t>
            </a:r>
          </a:p>
        </p:txBody>
      </p:sp>
      <p:sp>
        <p:nvSpPr>
          <p:cNvPr id="3" name="TextBox 2"/>
          <p:cNvSpPr txBox="1"/>
          <p:nvPr/>
        </p:nvSpPr>
        <p:spPr>
          <a:xfrm>
            <a:off x="10881360" y="6519672"/>
            <a:ext cx="82296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B7780"/>
                </a:solidFill>
                <a:latin typeface="JetBrains Mono"/>
              </a:rPr>
              <a:t>22</a:t>
            </a:r>
          </a:p>
        </p:txBody>
      </p:sp>
      <p:sp>
        <p:nvSpPr>
          <p:cNvPr id="4" name="TextBox 3"/>
          <p:cNvSpPr txBox="1"/>
          <p:nvPr/>
        </p:nvSpPr>
        <p:spPr>
          <a:xfrm>
            <a:off x="548640" y="292608"/>
            <a:ext cx="11091672" cy="548640"/>
          </a:xfrm>
          <a:prstGeom prst="rect">
            <a:avLst/>
          </a:prstGeom>
          <a:noFill/>
        </p:spPr>
        <p:txBody>
          <a:bodyPr wrap="square" lIns="0" rIns="0" tIns="0" bIns="0">
            <a:spAutoFit/>
          </a:bodyPr>
          <a:lstStyle/>
          <a:p>
            <a:pPr>
              <a:spcBef>
                <a:spcPts val="0"/>
              </a:spcBef>
              <a:spcAft>
                <a:spcPts val="0"/>
              </a:spcAft>
            </a:pPr>
            <a:r>
              <a:rPr sz="3000" b="1" i="0">
                <a:solidFill>
                  <a:srgbClr val="1F2A33"/>
                </a:solidFill>
                <a:latin typeface="Bricolage Grotesque"/>
              </a:rPr>
              <a:t>Key Takeaways</a:t>
            </a:r>
          </a:p>
        </p:txBody>
      </p:sp>
      <p:sp>
        <p:nvSpPr>
          <p:cNvPr id="5" name="Rounded Rectangle 4"/>
          <p:cNvSpPr/>
          <p:nvPr/>
        </p:nvSpPr>
        <p:spPr>
          <a:xfrm>
            <a:off x="548640" y="841248"/>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572000"/>
          </a:xfrm>
          <a:prstGeom prst="rect">
            <a:avLst/>
          </a:prstGeom>
          <a:noFill/>
        </p:spPr>
        <p:txBody>
          <a:bodyPr wrap="square" lIns="0" rIns="0" tIns="0" bIns="0">
            <a:spAutoFit/>
          </a:bodyPr>
          <a:lstStyle/>
          <a:p>
            <a:pPr>
              <a:lnSpc>
                <a:spcPct val="110000"/>
              </a:lnSpc>
              <a:spcBef>
                <a:spcPts val="0"/>
              </a:spcBef>
              <a:spcAft>
                <a:spcPts val="1300"/>
              </a:spcAft>
              <a:buNone/>
            </a:pPr>
            <a:r>
              <a:rPr sz="1500" b="1" i="0">
                <a:solidFill>
                  <a:srgbClr val="3BB283"/>
                </a:solidFill>
                <a:latin typeface="Nunito"/>
              </a:rPr>
              <a:t>✔  </a:t>
            </a:r>
            <a:r>
              <a:rPr sz="1500" b="0" i="0">
                <a:solidFill>
                  <a:srgbClr val="1F2A33"/>
                </a:solidFill>
                <a:latin typeface="Nunito"/>
              </a:rPr>
              <a:t>Always Encrypted protects data even from DBAs; Dynamic Data Masking is obfuscation, not encryption</a:t>
            </a:r>
          </a:p>
          <a:p>
            <a:pPr>
              <a:lnSpc>
                <a:spcPct val="110000"/>
              </a:lnSpc>
              <a:spcBef>
                <a:spcPts val="0"/>
              </a:spcBef>
              <a:spcAft>
                <a:spcPts val="1300"/>
              </a:spcAft>
              <a:buNone/>
            </a:pPr>
            <a:r>
              <a:rPr sz="1500" b="1" i="0">
                <a:solidFill>
                  <a:srgbClr val="3BB283"/>
                </a:solidFill>
                <a:latin typeface="Nunito"/>
              </a:rPr>
              <a:t>✔  </a:t>
            </a:r>
            <a:r>
              <a:rPr sz="1500" b="0" i="0">
                <a:solidFill>
                  <a:srgbClr val="1F2A33"/>
                </a:solidFill>
                <a:latin typeface="Nunito"/>
              </a:rPr>
              <a:t>Row-Level Security filters rows transparently; combine with SESSION_CONTEXT for multi-tenant apps</a:t>
            </a:r>
          </a:p>
          <a:p>
            <a:pPr>
              <a:lnSpc>
                <a:spcPct val="110000"/>
              </a:lnSpc>
              <a:spcBef>
                <a:spcPts val="0"/>
              </a:spcBef>
              <a:spcAft>
                <a:spcPts val="1300"/>
              </a:spcAft>
              <a:buNone/>
            </a:pPr>
            <a:r>
              <a:rPr sz="1500" b="1" i="0">
                <a:solidFill>
                  <a:srgbClr val="3BB283"/>
                </a:solidFill>
                <a:latin typeface="Nunito"/>
              </a:rPr>
              <a:t>✔  </a:t>
            </a:r>
            <a:r>
              <a:rPr sz="1500" b="0" i="0">
                <a:solidFill>
                  <a:srgbClr val="1F2A33"/>
                </a:solidFill>
                <a:latin typeface="Nunito"/>
              </a:rPr>
              <a:t>Passwordless authentication with Managed Identity eliminates credential risks in application code</a:t>
            </a:r>
          </a:p>
          <a:p>
            <a:pPr>
              <a:lnSpc>
                <a:spcPct val="110000"/>
              </a:lnSpc>
              <a:spcBef>
                <a:spcPts val="0"/>
              </a:spcBef>
              <a:spcAft>
                <a:spcPts val="1300"/>
              </a:spcAft>
              <a:buNone/>
            </a:pPr>
            <a:r>
              <a:rPr sz="1500" b="1" i="0">
                <a:solidFill>
                  <a:srgbClr val="3BB283"/>
                </a:solidFill>
                <a:latin typeface="Nunito"/>
              </a:rPr>
              <a:t>✔  </a:t>
            </a:r>
            <a:r>
              <a:rPr sz="1500" b="0" i="0">
                <a:solidFill>
                  <a:srgbClr val="1F2A33"/>
                </a:solidFill>
                <a:latin typeface="Nunito"/>
              </a:rPr>
              <a:t>Choose service tiers based on workload: General Purpose for most, Business Critical for low-latency OLTP</a:t>
            </a:r>
          </a:p>
          <a:p>
            <a:pPr>
              <a:lnSpc>
                <a:spcPct val="110000"/>
              </a:lnSpc>
              <a:spcBef>
                <a:spcPts val="0"/>
              </a:spcBef>
              <a:spcAft>
                <a:spcPts val="1300"/>
              </a:spcAft>
              <a:buNone/>
            </a:pPr>
            <a:r>
              <a:rPr sz="1500" b="1" i="0">
                <a:solidFill>
                  <a:srgbClr val="3BB283"/>
                </a:solidFill>
                <a:latin typeface="Nunito"/>
              </a:rPr>
              <a:t>✔  </a:t>
            </a:r>
            <a:r>
              <a:rPr sz="1500" b="0" i="0">
                <a:solidFill>
                  <a:srgbClr val="1F2A33"/>
                </a:solidFill>
                <a:latin typeface="Nunito"/>
              </a:rPr>
              <a:t>Query Store tracks historical performance and enables automatic plan regression correction</a:t>
            </a:r>
          </a:p>
          <a:p>
            <a:pPr>
              <a:lnSpc>
                <a:spcPct val="110000"/>
              </a:lnSpc>
              <a:spcBef>
                <a:spcPts val="0"/>
              </a:spcBef>
              <a:spcAft>
                <a:spcPts val="1300"/>
              </a:spcAft>
              <a:buNone/>
            </a:pPr>
            <a:r>
              <a:rPr sz="1500" b="1" i="0">
                <a:solidFill>
                  <a:srgbClr val="3BB283"/>
                </a:solidFill>
                <a:latin typeface="Nunito"/>
              </a:rPr>
              <a:t>✔  </a:t>
            </a:r>
            <a:r>
              <a:rPr sz="1500" b="0" i="0">
                <a:solidFill>
                  <a:srgbClr val="1F2A33"/>
                </a:solidFill>
                <a:latin typeface="Nunito"/>
              </a:rPr>
              <a:t>READ COMMITTED SNAPSHOT is the Azure SQL default and eliminates reader-writer blocking</a:t>
            </a:r>
          </a:p>
          <a:p>
            <a:pPr>
              <a:lnSpc>
                <a:spcPct val="110000"/>
              </a:lnSpc>
              <a:spcBef>
                <a:spcPts val="0"/>
              </a:spcBef>
              <a:spcAft>
                <a:spcPts val="1300"/>
              </a:spcAft>
              <a:buNone/>
            </a:pPr>
            <a:r>
              <a:rPr sz="1500" b="1" i="0">
                <a:solidFill>
                  <a:srgbClr val="3BB283"/>
                </a:solidFill>
                <a:latin typeface="Nunito"/>
              </a:rPr>
              <a:t>✔  </a:t>
            </a:r>
            <a:r>
              <a:rPr sz="1500" b="0" i="0">
                <a:solidFill>
                  <a:srgbClr val="1F2A33"/>
                </a:solidFill>
                <a:latin typeface="Nunito"/>
              </a:rPr>
              <a:t>SQL Database Projects bring declarative, source-controlled schema management with CI/CD pipelines</a:t>
            </a:r>
          </a:p>
          <a:p>
            <a:pPr>
              <a:lnSpc>
                <a:spcPct val="110000"/>
              </a:lnSpc>
              <a:spcBef>
                <a:spcPts val="0"/>
              </a:spcBef>
              <a:spcAft>
                <a:spcPts val="1300"/>
              </a:spcAft>
              <a:buNone/>
            </a:pPr>
            <a:r>
              <a:rPr sz="1500" b="1" i="0">
                <a:solidFill>
                  <a:srgbClr val="3BB283"/>
                </a:solidFill>
                <a:latin typeface="Nunito"/>
              </a:rPr>
              <a:t>✔  </a:t>
            </a:r>
            <a:r>
              <a:rPr sz="1500" b="0" i="0">
                <a:solidFill>
                  <a:srgbClr val="1F2A33"/>
                </a:solidFill>
                <a:latin typeface="Nunito"/>
              </a:rPr>
              <a:t>Data API Builder generates secure REST and GraphQL endpoints from your database schema</a:t>
            </a:r>
          </a:p>
          <a:p>
            <a:pPr>
              <a:lnSpc>
                <a:spcPct val="110000"/>
              </a:lnSpc>
              <a:spcBef>
                <a:spcPts val="0"/>
              </a:spcBef>
              <a:spcAft>
                <a:spcPts val="1300"/>
              </a:spcAft>
              <a:buNone/>
            </a:pPr>
            <a:r>
              <a:rPr sz="1500" b="1" i="0">
                <a:solidFill>
                  <a:srgbClr val="3BB283"/>
                </a:solidFill>
                <a:latin typeface="Nunito"/>
              </a:rPr>
              <a:t>✔  </a:t>
            </a:r>
            <a:r>
              <a:rPr sz="1500" b="0" i="0">
                <a:solidFill>
                  <a:srgbClr val="1F2A33"/>
                </a:solidFill>
                <a:latin typeface="Nunito"/>
              </a:rPr>
              <a:t>Azure Monitor, CDC, and Azure Functions SQL trigger enable observability and event-driven architectures</a:t>
            </a:r>
          </a:p>
        </p:txBody>
      </p:sp>
      <p:sp>
        <p:nvSpPr>
          <p:cNvPr id="7" name="TextBox 6"/>
          <p:cNvSpPr txBox="1"/>
          <p:nvPr/>
        </p:nvSpPr>
        <p:spPr>
          <a:xfrm>
            <a:off x="548640" y="5989320"/>
            <a:ext cx="11091672" cy="320040"/>
          </a:xfrm>
          <a:prstGeom prst="rect">
            <a:avLst/>
          </a:prstGeom>
          <a:noFill/>
        </p:spPr>
        <p:txBody>
          <a:bodyPr wrap="square" lIns="0" rIns="0" tIns="0" bIns="0">
            <a:spAutoFit/>
          </a:bodyPr>
          <a:lstStyle/>
          <a:p>
            <a:pPr>
              <a:spcBef>
                <a:spcPts val="0"/>
              </a:spcBef>
              <a:spcAft>
                <a:spcPts val="0"/>
              </a:spcAft>
            </a:pPr>
            <a:r>
              <a:rPr sz="1000" b="0" i="1">
                <a:solidFill>
                  <a:srgbClr val="5A6B76"/>
                </a:solidFill>
                <a:latin typeface="Nunito"/>
              </a:rPr>
              <a:t>Source: learn.microsoft.com/training/paths/secure-optimize-deploy-database-solutions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extBox 1"/>
          <p:cNvSpPr txBox="1"/>
          <p:nvPr/>
        </p:nvSpPr>
        <p:spPr>
          <a:xfrm>
            <a:off x="548640" y="457200"/>
            <a:ext cx="6000000" cy="658368"/>
          </a:xfrm>
          <a:prstGeom prst="rect">
            <a:avLst/>
          </a:prstGeom>
          <a:noFill/>
        </p:spPr>
        <p:txBody>
          <a:bodyPr wrap="square" lIns="0" rIns="0" tIns="0" bIns="0" anchor="t">
            <a:spAutoFit/>
          </a:bodyPr>
          <a:lstStyle/>
          <a:p>
            <a:pPr algn="l">
              <a:lnSpc>
                <a:spcPct val="100000"/>
              </a:lnSpc>
              <a:spcBef>
                <a:spcPts val="0"/>
              </a:spcBef>
              <a:spcAft>
                <a:spcPts val="0"/>
              </a:spcAft>
            </a:pPr>
            <a:r>
              <a:rPr sz="3600" b="1" i="0">
                <a:solidFill>
                  <a:srgbClr val="1F2A33"/>
                </a:solidFill>
                <a:latin typeface="Bricolage Grotesque"/>
              </a:rPr>
              <a:t>References</a:t>
            </a:r>
          </a:p>
        </p:txBody>
      </p:sp>
      <p:sp>
        <p:nvSpPr>
          <p:cNvPr id="3" name="Rounded Rectangle 2"/>
          <p:cNvSpPr/>
          <p:nvPr/>
        </p:nvSpPr>
        <p:spPr>
          <a:xfrm>
            <a:off x="548640" y="1165560"/>
            <a:ext cx="658368" cy="73152"/>
          </a:xfrm>
          <a:prstGeom prst="roundRect">
            <a:avLst>
              <a:gd name="adj" fmla="val 50000"/>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8712"/>
            <a:ext cx="11094415" cy="400000"/>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5A6B76"/>
                </a:solidFill>
                <a:latin typeface="Nunito"/>
              </a:rPr>
              <a:t>Bookmark these — they cover the official exam page and the full video series.</a:t>
            </a:r>
          </a:p>
        </p:txBody>
      </p:sp>
      <p:sp>
        <p:nvSpPr>
          <p:cNvPr id="5" name="Rounded Rectangle 4"/>
          <p:cNvSpPr/>
          <p:nvPr/>
        </p:nvSpPr>
        <p:spPr>
          <a:xfrm>
            <a:off x="548640" y="1968712"/>
            <a:ext cx="11094415" cy="1400000"/>
          </a:xfrm>
          <a:prstGeom prst="roundRect">
            <a:avLst>
              <a:gd name="adj" fmla="val 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394392"/>
            <a:ext cx="548640" cy="548640"/>
          </a:xfrm>
          <a:prstGeom prst="ellipse">
            <a:avLst/>
          </a:prstGeom>
          <a:solidFill>
            <a:srgbClr val="51B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394392"/>
            <a:ext cx="548640" cy="548640"/>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F6F2EA"/>
                </a:solidFill>
                <a:latin typeface="Nunito"/>
              </a:rPr>
              <a:t>01</a:t>
            </a:r>
          </a:p>
        </p:txBody>
      </p:sp>
      <p:sp>
        <p:nvSpPr>
          <p:cNvPr id="8" name="TextBox 7"/>
          <p:cNvSpPr txBox="1"/>
          <p:nvPr/>
        </p:nvSpPr>
        <p:spPr>
          <a:xfrm>
            <a:off x="1508760" y="2188168"/>
            <a:ext cx="9905695" cy="320040"/>
          </a:xfrm>
          <a:prstGeom prst="rect">
            <a:avLst/>
          </a:prstGeom>
          <a:noFill/>
        </p:spPr>
        <p:txBody>
          <a:bodyPr wrap="square" lIns="0" rIns="0" tIns="0" bIns="0" anchor="t">
            <a:spAutoFit/>
          </a:bodyPr>
          <a:lstStyle/>
          <a:p>
            <a:pPr algn="l">
              <a:lnSpc>
                <a:spcPct val="100000"/>
              </a:lnSpc>
              <a:spcBef>
                <a:spcPts val="0"/>
              </a:spcBef>
              <a:spcAft>
                <a:spcPts val="0"/>
              </a:spcAft>
            </a:pPr>
            <a:r>
              <a:rPr sz="1400" b="1" i="0">
                <a:solidFill>
                  <a:srgbClr val="1F2A33"/>
                </a:solidFill>
                <a:latin typeface="Nunito"/>
              </a:rPr>
              <a:t>Official DP-800 certification page</a:t>
            </a:r>
          </a:p>
        </p:txBody>
      </p:sp>
      <p:sp>
        <p:nvSpPr>
          <p:cNvPr id="9" name="TextBox 8"/>
          <p:cNvSpPr txBox="1"/>
          <p:nvPr/>
        </p:nvSpPr>
        <p:spPr>
          <a:xfrm>
            <a:off x="1508760" y="2571580"/>
            <a:ext cx="9905695" cy="700000"/>
          </a:xfrm>
          <a:prstGeom prst="rect">
            <a:avLst/>
          </a:prstGeom>
          <a:noFill/>
        </p:spPr>
        <p:txBody>
          <a:bodyPr wrap="square" lIns="0" rIns="0" tIns="0" bIns="0" anchor="t">
            <a:spAutoFit/>
          </a:bodyPr>
          <a:lstStyle/>
          <a:p>
            <a:pPr algn="l">
              <a:lnSpc>
                <a:spcPct val="100000"/>
              </a:lnSpc>
              <a:spcBef>
                <a:spcPts val="0"/>
              </a:spcBef>
              <a:spcAft>
                <a:spcPts val="0"/>
              </a:spcAft>
            </a:pPr>
            <a:r>
              <a:rPr sz="1100" b="0" i="0" spc="10">
                <a:solidFill>
                  <a:srgbClr val="2E9CBA"/>
                </a:solidFill>
                <a:latin typeface="JetBrains Mono"/>
              </a:rPr>
              <a:t>https://learn.microsoft.com/en-us/credentials/certifications/developing-ai-enabled-database-solutions/?practice-assessment-type=certification</a:t>
            </a:r>
          </a:p>
        </p:txBody>
      </p:sp>
      <p:sp>
        <p:nvSpPr>
          <p:cNvPr id="10" name="Rounded Rectangle 9"/>
          <p:cNvSpPr/>
          <p:nvPr/>
        </p:nvSpPr>
        <p:spPr>
          <a:xfrm>
            <a:off x="548640" y="3618712"/>
            <a:ext cx="11094415" cy="1400000"/>
          </a:xfrm>
          <a:prstGeom prst="roundRect">
            <a:avLst>
              <a:gd name="adj" fmla="val 6000"/>
            </a:avLst>
          </a:prstGeom>
          <a:solidFill>
            <a:srgbClr val="FDFAF3"/>
          </a:solidFill>
          <a:ln w="15875">
            <a:solidFill>
              <a:srgbClr val="E4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4044392"/>
            <a:ext cx="548640" cy="548640"/>
          </a:xfrm>
          <a:prstGeom prst="ellipse">
            <a:avLst/>
          </a:prstGeom>
          <a:solidFill>
            <a:srgbClr val="3BB2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044392"/>
            <a:ext cx="548640" cy="548640"/>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F6F2EA"/>
                </a:solidFill>
                <a:latin typeface="Nunito"/>
              </a:rPr>
              <a:t>02</a:t>
            </a:r>
          </a:p>
        </p:txBody>
      </p:sp>
      <p:sp>
        <p:nvSpPr>
          <p:cNvPr id="13" name="TextBox 12"/>
          <p:cNvSpPr txBox="1"/>
          <p:nvPr/>
        </p:nvSpPr>
        <p:spPr>
          <a:xfrm>
            <a:off x="1508760" y="3838168"/>
            <a:ext cx="9905695" cy="320040"/>
          </a:xfrm>
          <a:prstGeom prst="rect">
            <a:avLst/>
          </a:prstGeom>
          <a:noFill/>
        </p:spPr>
        <p:txBody>
          <a:bodyPr wrap="square" lIns="0" rIns="0" tIns="0" bIns="0" anchor="t">
            <a:spAutoFit/>
          </a:bodyPr>
          <a:lstStyle/>
          <a:p>
            <a:pPr algn="l">
              <a:lnSpc>
                <a:spcPct val="100000"/>
              </a:lnSpc>
              <a:spcBef>
                <a:spcPts val="0"/>
              </a:spcBef>
              <a:spcAft>
                <a:spcPts val="0"/>
              </a:spcAft>
            </a:pPr>
            <a:r>
              <a:rPr sz="1400" b="1" i="0">
                <a:solidFill>
                  <a:srgbClr val="1F2A33"/>
                </a:solidFill>
                <a:latin typeface="Nunito"/>
              </a:rPr>
              <a:t>Community series — Microsoft Reactor (Data Days: The SQL AI Series)</a:t>
            </a:r>
          </a:p>
        </p:txBody>
      </p:sp>
      <p:sp>
        <p:nvSpPr>
          <p:cNvPr id="14" name="TextBox 13"/>
          <p:cNvSpPr txBox="1"/>
          <p:nvPr/>
        </p:nvSpPr>
        <p:spPr>
          <a:xfrm>
            <a:off x="1508760" y="4221580"/>
            <a:ext cx="9905695" cy="700000"/>
          </a:xfrm>
          <a:prstGeom prst="rect">
            <a:avLst/>
          </a:prstGeom>
          <a:noFill/>
        </p:spPr>
        <p:txBody>
          <a:bodyPr wrap="square" lIns="0" rIns="0" tIns="0" bIns="0" anchor="t">
            <a:spAutoFit/>
          </a:bodyPr>
          <a:lstStyle/>
          <a:p>
            <a:pPr algn="l">
              <a:lnSpc>
                <a:spcPct val="100000"/>
              </a:lnSpc>
              <a:spcBef>
                <a:spcPts val="0"/>
              </a:spcBef>
              <a:spcAft>
                <a:spcPts val="0"/>
              </a:spcAft>
            </a:pPr>
            <a:r>
              <a:rPr sz="1100" b="0" i="0" spc="10">
                <a:solidFill>
                  <a:srgbClr val="2E9CBA"/>
                </a:solidFill>
                <a:latin typeface="JetBrains Mono"/>
              </a:rPr>
              <a:t>https://developer.microsoft.com/en-us/reactor/series/S-1683/?wt.mc_id=datadayslive_S-1683_email_reactor</a:t>
            </a:r>
          </a:p>
        </p:txBody>
      </p:sp>
      <p:pic>
        <p:nvPicPr>
          <p:cNvPr id="15" name="Picture 14" descr="captain-corgi-avatar.png"/>
          <p:cNvPicPr>
            <a:picLocks noChangeAspect="1"/>
          </p:cNvPicPr>
          <p:nvPr/>
        </p:nvPicPr>
        <p:blipFill>
          <a:blip r:embed="rId2"/>
          <a:srcRect/>
          <a:stretch>
            <a:fillRect/>
          </a:stretch>
        </p:blipFill>
        <p:spPr>
          <a:xfrm>
            <a:off x="10443055" y="5109360"/>
            <a:ext cx="1200000" cy="1200000"/>
          </a:xfrm>
          <a:prstGeom prst="ellipse">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3D768E"/>
        </a:solidFill>
        <a:effectLst/>
      </p:bgPr>
    </p:bg>
    <p:spTree>
      <p:nvGrpSpPr>
        <p:cNvPr id="1" name=""/>
        <p:cNvGrpSpPr/>
        <p:nvPr/>
      </p:nvGrpSpPr>
      <p:grpSpPr/>
      <p:sp>
        <p:nvSpPr>
          <p:cNvPr id="2" name="Oval 1"/>
          <p:cNvSpPr/>
          <p:nvPr/>
        </p:nvSpPr>
        <p:spPr>
          <a:xfrm>
            <a:off x="8778240" y="-2377440"/>
            <a:ext cx="5852160" cy="5852160"/>
          </a:xfrm>
          <a:prstGeom prst="ellipse">
            <a:avLst/>
          </a:prstGeom>
          <a:solidFill>
            <a:srgbClr val="2C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480560"/>
            <a:ext cx="4937760" cy="4937760"/>
          </a:xfrm>
          <a:prstGeom prst="ellipse">
            <a:avLst/>
          </a:prstGeom>
          <a:solidFill>
            <a:srgbClr val="2C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ptain-corgi-avatar.png"/>
          <p:cNvPicPr>
            <a:picLocks noChangeAspect="1"/>
          </p:cNvPicPr>
          <p:nvPr/>
        </p:nvPicPr>
        <p:blipFill>
          <a:blip r:embed="rId2"/>
          <a:srcRect/>
          <a:stretch>
            <a:fillRect/>
          </a:stretch>
        </p:blipFill>
        <p:spPr>
          <a:xfrm>
            <a:off x="5181447" y="457200"/>
            <a:ext cx="1828800" cy="1828800"/>
          </a:xfrm>
          <a:prstGeom prst="ellipse">
            <a:avLst/>
          </a:prstGeom>
        </p:spPr>
      </p:pic>
      <p:sp>
        <p:nvSpPr>
          <p:cNvPr id="5" name="TextBox 4"/>
          <p:cNvSpPr txBox="1"/>
          <p:nvPr/>
        </p:nvSpPr>
        <p:spPr>
          <a:xfrm>
            <a:off x="1523847" y="2505456"/>
            <a:ext cx="9144000" cy="1645920"/>
          </a:xfrm>
          <a:prstGeom prst="rect">
            <a:avLst/>
          </a:prstGeom>
          <a:noFill/>
        </p:spPr>
        <p:txBody>
          <a:bodyPr wrap="square" lIns="0" rIns="0" tIns="0" bIns="0" anchor="t">
            <a:spAutoFit/>
          </a:bodyPr>
          <a:lstStyle/>
          <a:p>
            <a:pPr algn="ctr">
              <a:lnSpc>
                <a:spcPct val="103000"/>
              </a:lnSpc>
              <a:spcBef>
                <a:spcPts val="0"/>
              </a:spcBef>
              <a:spcAft>
                <a:spcPts val="0"/>
              </a:spcAft>
            </a:pPr>
            <a:r>
              <a:rPr sz="5400" b="1" i="0">
                <a:solidFill>
                  <a:srgbClr val="F6F2EA"/>
                </a:solidFill>
                <a:latin typeface="Bricolage Grotesque"/>
              </a:rPr>
              <a:t>Thank you,</a:t>
            </a:r>
          </a:p>
          <a:p>
            <a:pPr algn="ctr">
              <a:lnSpc>
                <a:spcPct val="103000"/>
              </a:lnSpc>
              <a:spcBef>
                <a:spcPts val="0"/>
              </a:spcBef>
              <a:spcAft>
                <a:spcPts val="0"/>
              </a:spcAft>
            </a:pPr>
            <a:r>
              <a:rPr sz="5400" b="1" i="0">
                <a:solidFill>
                  <a:srgbClr val="FBC00A"/>
                </a:solidFill>
                <a:latin typeface="Bricolage Grotesque"/>
              </a:rPr>
              <a:t>crew!</a:t>
            </a:r>
          </a:p>
        </p:txBody>
      </p:sp>
      <p:sp>
        <p:nvSpPr>
          <p:cNvPr id="6" name="Rounded Rectangle 5"/>
          <p:cNvSpPr/>
          <p:nvPr/>
        </p:nvSpPr>
        <p:spPr>
          <a:xfrm>
            <a:off x="5766663" y="4251376"/>
            <a:ext cx="658368" cy="73152"/>
          </a:xfrm>
          <a:prstGeom prst="roundRect">
            <a:avLst>
              <a:gd name="adj" fmla="val 50000"/>
            </a:avLst>
          </a:prstGeom>
          <a:solidFill>
            <a:srgbClr val="FBC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81047" y="4507408"/>
            <a:ext cx="8229600" cy="700000"/>
          </a:xfrm>
          <a:prstGeom prst="rect">
            <a:avLst/>
          </a:prstGeom>
          <a:noFill/>
        </p:spPr>
        <p:txBody>
          <a:bodyPr wrap="square" lIns="0" rIns="0" tIns="0" bIns="0" anchor="t">
            <a:spAutoFit/>
          </a:bodyPr>
          <a:lstStyle/>
          <a:p>
            <a:pPr algn="ctr">
              <a:lnSpc>
                <a:spcPct val="125000"/>
              </a:lnSpc>
              <a:spcBef>
                <a:spcPts val="0"/>
              </a:spcBef>
              <a:spcAft>
                <a:spcPts val="0"/>
              </a:spcAft>
            </a:pPr>
            <a:r>
              <a:rPr sz="1600" b="0" i="0">
                <a:solidFill>
                  <a:srgbClr val="F0ECE4"/>
                </a:solidFill>
                <a:latin typeface="Nunito"/>
              </a:rPr>
              <a:t>You've got the skills to secure, optimize, and ship production-ready SQL+AI solutions — now go build something great.</a:t>
            </a:r>
          </a:p>
        </p:txBody>
      </p:sp>
      <p:sp>
        <p:nvSpPr>
          <p:cNvPr id="8" name="TextBox 7"/>
          <p:cNvSpPr txBox="1"/>
          <p:nvPr/>
        </p:nvSpPr>
        <p:spPr>
          <a:xfrm>
            <a:off x="1523847" y="6446520"/>
            <a:ext cx="9144000" cy="320040"/>
          </a:xfrm>
          <a:prstGeom prst="rect">
            <a:avLst/>
          </a:prstGeom>
          <a:noFill/>
        </p:spPr>
        <p:txBody>
          <a:bodyPr wrap="square" lIns="0" rIns="0" tIns="0" bIns="0" anchor="t">
            <a:spAutoFit/>
          </a:bodyPr>
          <a:lstStyle/>
          <a:p>
            <a:pPr algn="ctr">
              <a:lnSpc>
                <a:spcPct val="100000"/>
              </a:lnSpc>
              <a:spcBef>
                <a:spcPts val="0"/>
              </a:spcBef>
              <a:spcAft>
                <a:spcPts val="0"/>
              </a:spcAft>
            </a:pPr>
            <a:r>
              <a:rPr sz="1000" b="0" i="0" spc="60">
                <a:solidFill>
                  <a:srgbClr val="9FC3D1"/>
                </a:solidFill>
                <a:latin typeface="JetBrains Mono"/>
              </a:rPr>
              <a:t>captain-corgi-hub · set sail on better software</a:t>
            </a:r>
          </a:p>
        </p:txBody>
      </p:sp>
    </p:spTree>
  </p:cSld>
  <p:clrMapOvr>
    <a:masterClrMapping/>
  </p:clrMapOvr>
</p:sld>
</file>

<file path=ppt/theme/theme1.xml><?xml version="1.0" encoding="utf-8"?>
<a:theme xmlns:a="http://schemas.openxmlformats.org/drawingml/2006/main" name="Office Theme">
  <a:themeElements>
    <a:clrScheme name="Captain Corgi Hub">
      <a:dk1>
        <a:srgbClr val="1F2A33"/>
      </a:dk1>
      <a:lt1>
        <a:srgbClr val="F6F2EA"/>
      </a:lt1>
      <a:dk2>
        <a:srgbClr val="3D768E"/>
      </a:dk2>
      <a:lt2>
        <a:srgbClr val="EFE9DC"/>
      </a:lt2>
      <a:accent1>
        <a:srgbClr val="FC8903"/>
      </a:accent1>
      <a:accent2>
        <a:srgbClr val="E13429"/>
      </a:accent2>
      <a:accent3>
        <a:srgbClr val="FBC00A"/>
      </a:accent3>
      <a:accent4>
        <a:srgbClr val="51BBD7"/>
      </a:accent4>
      <a:accent5>
        <a:srgbClr val="3BB283"/>
      </a:accent5>
      <a:accent6>
        <a:srgbClr val="DD5D5D"/>
      </a:accent6>
      <a:hlink>
        <a:srgbClr val="2E9CBA"/>
      </a:hlink>
      <a:folHlink>
        <a:srgbClr val="E13429"/>
      </a:folHlink>
    </a:clrScheme>
    <a:fontScheme name="Office">
      <a:majorFont>
        <a:latin typeface="Bricolage Grotesqu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uni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