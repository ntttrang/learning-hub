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7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5852160" cy="5852160"/>
          </a:xfrm>
          <a:prstGeom prst="ellipse">
            <a:avLst/>
          </a:prstGeom>
          <a:solidFill>
            <a:srgbClr val="2C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solidFill>
            <a:srgbClr val="2C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931920"/>
            <a:ext cx="2926080" cy="2926080"/>
          </a:xfrm>
          <a:prstGeom prst="ellipse">
            <a:avLst/>
          </a:prstGeom>
          <a:solidFill>
            <a:srgbClr val="4A8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40">
                <a:solidFill>
                  <a:srgbClr val="FBC00A"/>
                </a:solidFill>
                <a:latin typeface="JetBrains Mono"/>
              </a:rPr>
              <a:t>DP-800 · EMBEDDINGS, SEARCH &amp;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3840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Captain Corgi / </a:t>
            </a:r>
            <a:r>
              <a:rPr sz="1100" b="1" i="0" spc="160">
                <a:solidFill>
                  <a:srgbClr val="FBC00A"/>
                </a:solidFill>
                <a:latin typeface="Bricolage Grotesque"/>
              </a:rPr>
              <a:t>HUB</a:t>
            </a:r>
          </a:p>
        </p:txBody>
      </p:sp>
      <p:pic>
        <p:nvPicPr>
          <p:cNvPr id="7" name="Picture 6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88720" y="2606040"/>
            <a:ext cx="2651760" cy="2651760"/>
          </a:xfrm>
          <a:prstGeom prst="ellipse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80" y="2331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6F2EA"/>
                </a:solidFill>
                <a:latin typeface="Bricolage Grotesque"/>
              </a:rPr>
              <a:t>Bring AI to SQL w/Embeddings,</a:t>
            </a:r>
            <a:r>
              <a:rPr sz="4600" b="1" i="0">
                <a:solidFill>
                  <a:srgbClr val="FBC00A"/>
                </a:solidFill>
                <a:latin typeface="Bricolage Grotesque"/>
              </a:rPr>
              <a:t>Search, &amp;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FC3D1"/>
                </a:solidFill>
                <a:latin typeface="JetBrains Mono"/>
              </a:rPr>
              <a:t>captain-corgi-hub · set sail on better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F2A33"/>
                </a:solidFill>
                <a:latin typeface="Bricolage Grotesque"/>
              </a:rPr>
              <a:t>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5840"/>
            <a:ext cx="566928" cy="64008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9224" y="1600200"/>
            <a:ext cx="10890504" cy="68580"/>
          </a:xfrm>
          <a:prstGeom prst="roundRect">
            <a:avLst>
              <a:gd name="adj" fmla="val 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1856232"/>
            <a:ext cx="658368" cy="658368"/>
          </a:xfrm>
          <a:prstGeom prst="ellipse">
            <a:avLst/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856232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6F2EA"/>
                </a:solidFill>
                <a:latin typeface="Bricolage Grotesqu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78308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2E9CBA"/>
                </a:solidFill>
                <a:latin typeface="JetBrains Mono"/>
              </a:rPr>
              <a:t>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103120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A33"/>
                </a:solidFill>
                <a:latin typeface="Bricolage Grotesque"/>
              </a:rPr>
              <a:t>Design &amp; Implement Models &amp; Embeddings with 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44952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" y="3044952"/>
            <a:ext cx="10890504" cy="68580"/>
          </a:xfrm>
          <a:prstGeom prst="roundRect">
            <a:avLst>
              <a:gd name="adj" fmla="val 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8" y="3300984"/>
            <a:ext cx="658368" cy="658368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300984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6F2EA"/>
                </a:solidFill>
                <a:latin typeface="Bricolage Grotesque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227832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289269"/>
                </a:solidFill>
                <a:latin typeface="JetBrains Mono"/>
              </a:rPr>
              <a:t>MODULE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547872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A33"/>
                </a:solidFill>
                <a:latin typeface="Bricolage Grotesque"/>
              </a:rPr>
              <a:t>Design &amp; Implement Intelligent Search with 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89704"/>
            <a:ext cx="11183112" cy="118872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4489704"/>
            <a:ext cx="10890504" cy="68580"/>
          </a:xfrm>
          <a:prstGeom prst="roundRect">
            <a:avLst>
              <a:gd name="adj" fmla="val 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5528" y="4745736"/>
            <a:ext cx="658368" cy="658368"/>
          </a:xfrm>
          <a:prstGeom prst="ellipse">
            <a:avLst/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45736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6F2EA"/>
                </a:solidFill>
                <a:latin typeface="Bricolage Grotesque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672584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20">
                <a:solidFill>
                  <a:srgbClr val="C24545"/>
                </a:solidFill>
                <a:latin typeface="JetBrains Mono"/>
              </a:rPr>
              <a:t>MODULE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992624"/>
            <a:ext cx="9601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F2A33"/>
                </a:solidFill>
                <a:latin typeface="Bricolage Grotesque"/>
              </a:rPr>
              <a:t>Design &amp; Implement RAG with SQL</a:t>
            </a:r>
          </a:p>
        </p:txBody>
      </p:sp>
      <p:pic>
        <p:nvPicPr>
          <p:cNvPr id="22" name="Picture 21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698480" y="5806440"/>
            <a:ext cx="777240" cy="777240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W/EMBEDDINGS, SEARCH, &amp; RAG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1C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4937760" cy="4937760"/>
          </a:xfrm>
          <a:prstGeom prst="ellipse">
            <a:avLst/>
          </a:prstGeom>
          <a:solidFill>
            <a:srgbClr val="1A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7240" y="1965960"/>
            <a:ext cx="1691640" cy="169164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360" y="153619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20">
                <a:solidFill>
                  <a:srgbClr val="51BBD7"/>
                </a:solidFill>
                <a:latin typeface="Bricolage Grotesque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6F2EA"/>
                </a:solidFill>
                <a:latin typeface="Bricolage Grotesque"/>
              </a:rPr>
              <a:t>Design &amp; Implement Models &amp; Embeddings with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6576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BFB1"/>
                </a:solidFill>
                <a:latin typeface="Nunito"/>
              </a:rPr>
              <a:t>External models, chunking strategy, generating &amp; storing, and keeping embeddings fresh.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6E7C86"/>
                </a:solidFill>
                <a:latin typeface="JetBrains Mono"/>
              </a:rPr>
              <a:t>BRING AI TO SQL W/EMBEDDINGS, SEARCH, &amp; RAG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E9CBA"/>
                </a:solidFill>
                <a:latin typeface="JetBrains Mono"/>
              </a:rPr>
              <a:t>MODULE 1 · MODELS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External AI Models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6263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60">
                <a:solidFill>
                  <a:srgbClr val="6B5FD1"/>
                </a:solidFill>
                <a:latin typeface="JetBrains Mono"/>
              </a:rPr>
              <a:t>CREATE EXTERNAL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62636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454F"/>
                </a:solidFill>
                <a:latin typeface="Nunito"/>
              </a:rPr>
              <a:t>Reference AI endpoints directly from Transact-SQL without moving data outside the database. External models create a bridge between your SQL environment and Azure OpenAI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6263640" cy="214884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606040"/>
            <a:ext cx="6263640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761488"/>
            <a:ext cx="6263640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" y="271119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3816" y="271119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71119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606040"/>
            <a:ext cx="53492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external_model.sql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3026664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CREATE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EXTERNAL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MODEL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EmbeddingModel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3299460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WITH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572256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LOCATION =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'https://...azure.com'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845052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,CREDENTIAL = [MyCredential]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117848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,MODEL_TYPE =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390644"/>
            <a:ext cx="5715000" cy="2910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);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92040"/>
            <a:ext cx="6263640" cy="1051560"/>
          </a:xfrm>
          <a:prstGeom prst="roundRect">
            <a:avLst>
              <a:gd name="adj" fmla="val 12000"/>
            </a:avLst>
          </a:prstGeom>
          <a:solidFill>
            <a:srgbClr val="F7E7B9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892040"/>
            <a:ext cx="5751575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Tip: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CREATE EXTERNAL MODEL is the entry point for all AI integration in SQL — know the syntax and when to use each MODEL_TYPE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1417320"/>
            <a:ext cx="4709160" cy="452628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164592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2A33"/>
                </a:solidFill>
                <a:latin typeface="Bricolage Grotesque"/>
              </a:rPr>
              <a:t>Key Concepts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148840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Model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423160"/>
            <a:ext cx="4160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Choose models based on capabilities, latency, cost, and token limits.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172968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Model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447288"/>
            <a:ext cx="4160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EMBEDDINGS for vectors, COMPLETIONS for text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197096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Credential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4471416"/>
            <a:ext cx="4160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Use database-scoped credentials with Managed Identity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5221224"/>
            <a:ext cx="4160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Endpoint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495544"/>
            <a:ext cx="41605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Secure model endpoints using Managed Identity — no secrets in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E9CBA"/>
                </a:solidFill>
                <a:latin typeface="JetBrains Mono"/>
              </a:rPr>
              <a:t>MODULE 1 · MODELS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Designing Embeddings: What to Embed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2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1463040"/>
                <a:gridCol w="6611112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6F2EA"/>
                          </a:solidFill>
                          <a:latin typeface="Nunito"/>
                        </a:rPr>
                        <a:t>Column Type</a:t>
                      </a:r>
                    </a:p>
                  </a:txBody>
                  <a:tcPr marL="109728" marR="91440" marT="36576" marB="36576" anchor="ctr">
                    <a:solidFill>
                      <a:srgbClr val="1F2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6F2EA"/>
                          </a:solidFill>
                          <a:latin typeface="Nunito"/>
                        </a:rPr>
                        <a:t>Embed?</a:t>
                      </a:r>
                    </a:p>
                  </a:txBody>
                  <a:tcPr marL="109728" marR="91440" marT="36576" marB="36576" anchor="ctr">
                    <a:solidFill>
                      <a:srgbClr val="1F2A3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 i="0">
                          <a:solidFill>
                            <a:srgbClr val="F6F2EA"/>
                          </a:solidFill>
                          <a:latin typeface="Nunito"/>
                        </a:rPr>
                        <a:t>Reason</a:t>
                      </a:r>
                    </a:p>
                  </a:txBody>
                  <a:tcPr marL="109728" marR="91440" marT="36576" marB="36576" anchor="ctr">
                    <a:solidFill>
                      <a:srgbClr val="1F2A3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Product description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89269"/>
                          </a:solidFill>
                          <a:latin typeface="Nunito"/>
                        </a:rPr>
                        <a:t>Yes ✓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Rich semantic content users search with natural language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Customer review text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89269"/>
                          </a:solidFill>
                          <a:latin typeface="Nunito"/>
                        </a:rPr>
                        <a:t>Yes ✓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Contains opinions and experiences for semantic search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Technical documentation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89269"/>
                          </a:solidFill>
                          <a:latin typeface="Nunito"/>
                        </a:rPr>
                        <a:t>Yes ✓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Long-form content with searchable concepts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Product name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B8860B"/>
                          </a:solidFill>
                          <a:latin typeface="Nunito"/>
                        </a:rPr>
                        <a:t>Maybe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Short text — useful if combined with description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Price, quantity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E13429"/>
                          </a:solidFill>
                          <a:latin typeface="Nunito"/>
                        </a:rPr>
                        <a:t>No ✕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Numeric — use standard SQL comparison operators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257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1F2A33"/>
                          </a:solidFill>
                          <a:latin typeface="Nunito"/>
                        </a:rPr>
                        <a:t>Status codes, IDs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E13429"/>
                          </a:solidFill>
                          <a:latin typeface="Nunito"/>
                        </a:rPr>
                        <a:t>No ✕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A33"/>
                          </a:solidFill>
                          <a:latin typeface="Nunito"/>
                        </a:rPr>
                        <a:t>Categorical — use exact match, not semantic search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166360"/>
            <a:ext cx="11183112" cy="1234440"/>
          </a:xfrm>
          <a:prstGeom prst="roundRect">
            <a:avLst>
              <a:gd name="adj" fmla="val 12000"/>
            </a:avLst>
          </a:prstGeom>
          <a:solidFill>
            <a:srgbClr val="F7E7B9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5166360"/>
            <a:ext cx="10671048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Tip: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Combine related columns for richer embeddings. Concatenate meaningful fields before embedding: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A5A00"/>
                </a:solidFill>
                <a:latin typeface="JetBrains Mono"/>
              </a:rPr>
              <a:t>SELECT Name + ' | ' + Category + ' | ' + Description AS EmbeddingInput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E9CBA"/>
                </a:solidFill>
                <a:latin typeface="JetBrains Mono"/>
              </a:rPr>
              <a:t>MODULE 1 · MODELS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Chunking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8454F"/>
                </a:solidFill>
                <a:latin typeface="Nunito"/>
              </a:rPr>
              <a:t>Embedding models have token limits (512–8,192 tokens). Long documents must be split into chunks.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617976" cy="141732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73152" cy="1417320"/>
          </a:xfrm>
          <a:prstGeom prst="roundRect">
            <a:avLst>
              <a:gd name="adj" fmla="val 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3206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Fixed-Size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68296"/>
            <a:ext cx="3206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B7780"/>
                </a:solidFill>
                <a:latin typeface="Nunito"/>
              </a:rPr>
              <a:t>Split every N characters/tokens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724912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Simple, predictable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175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01752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May split mid-sentence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1965960"/>
            <a:ext cx="3617976" cy="141732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85488" y="1965960"/>
            <a:ext cx="73152" cy="1417320"/>
          </a:xfrm>
          <a:prstGeom prst="roundRect">
            <a:avLst>
              <a:gd name="adj" fmla="val 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4088" y="2084831"/>
            <a:ext cx="3206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Sentence-Based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4088" y="2368296"/>
            <a:ext cx="3206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B7780"/>
                </a:solidFill>
                <a:latin typeface="Nunito"/>
              </a:rPr>
              <a:t>Split on sentence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4088" y="272491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0120" y="2724912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Preserves 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30175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0120" y="301752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Variable chunk sizes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6" y="1965960"/>
            <a:ext cx="3617976" cy="141732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68056" y="1965960"/>
            <a:ext cx="73152" cy="1417320"/>
          </a:xfrm>
          <a:prstGeom prst="roundRect">
            <a:avLst>
              <a:gd name="adj" fmla="val 0"/>
            </a:avLst>
          </a:prstGeom>
          <a:solidFill>
            <a:srgbClr val="FC89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6656" y="2084831"/>
            <a:ext cx="3206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Paragraph-Based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656" y="2368296"/>
            <a:ext cx="3206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B7780"/>
                </a:solidFill>
                <a:latin typeface="Nunito"/>
              </a:rPr>
              <a:t>Split on paragraph breaks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6656" y="272491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52688" y="2724912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Natural boundaries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6656" y="30175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52688" y="3017520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Paragraphs vary in length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547872"/>
            <a:ext cx="3617976" cy="141732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547872"/>
            <a:ext cx="73152" cy="1417320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666744"/>
            <a:ext cx="3206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Semantic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950208"/>
            <a:ext cx="3206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B7780"/>
                </a:solidFill>
                <a:latin typeface="Nunito"/>
              </a:rPr>
              <a:t>Split where topics change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306824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" y="4306824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Best meaning preservation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9943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4599432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Most complex to implement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85488" y="3547872"/>
            <a:ext cx="3617976" cy="141732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85488" y="3547872"/>
            <a:ext cx="73152" cy="1417320"/>
          </a:xfrm>
          <a:prstGeom prst="roundRect">
            <a:avLst>
              <a:gd name="adj" fmla="val 0"/>
            </a:avLst>
          </a:prstGeom>
          <a:solidFill>
            <a:srgbClr val="FC89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4088" y="3666744"/>
            <a:ext cx="3206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Overlapping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4088" y="3950208"/>
            <a:ext cx="32064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B7780"/>
                </a:solidFill>
                <a:latin typeface="Nunito"/>
              </a:rPr>
              <a:t>Includes text from adjacent chunks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14088" y="4306824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0120" y="4306824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Preserves cross-boundary context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14088" y="4599432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0120" y="4599432"/>
            <a:ext cx="2950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38454F"/>
                </a:solidFill>
                <a:latin typeface="Nunito"/>
              </a:rPr>
              <a:t>More chunks to store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486400"/>
            <a:ext cx="11183112" cy="822960"/>
          </a:xfrm>
          <a:prstGeom prst="roundRect">
            <a:avLst>
              <a:gd name="adj" fmla="val 12000"/>
            </a:avLst>
          </a:prstGeom>
          <a:solidFill>
            <a:srgbClr val="EFE6F7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" y="5486400"/>
            <a:ext cx="1067104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SQL Server 2025: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AI_GENERATE_CHUNKS( SOURCE=@text, CHUNK_TYPE=FIXED, CHUNK_SIZE=500 ) — built-in chunking function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E9CBA"/>
                </a:solidFill>
                <a:latin typeface="JetBrains Mono"/>
              </a:rPr>
              <a:t>MODULE 1 · MODELS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Generating &amp; Storing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2075688" cy="777240"/>
          </a:xfrm>
          <a:prstGeom prst="roundRect">
            <a:avLst>
              <a:gd name="adj" fmla="val 16000"/>
            </a:avLst>
          </a:prstGeom>
          <a:solidFill>
            <a:srgbClr val="6B7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Source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1508760"/>
            <a:ext cx="2011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508760"/>
            <a:ext cx="2075688" cy="777240"/>
          </a:xfrm>
          <a:prstGeom prst="roundRect">
            <a:avLst>
              <a:gd name="adj" fmla="val 1600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25496" y="1508760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Chunk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1508760"/>
            <a:ext cx="2011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56632" y="1508760"/>
            <a:ext cx="2075688" cy="777240"/>
          </a:xfrm>
          <a:prstGeom prst="roundRect">
            <a:avLst>
              <a:gd name="adj" fmla="val 1600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2352" y="1508760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Generate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Embedding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508760"/>
            <a:ext cx="2011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33488" y="1508760"/>
            <a:ext cx="2075688" cy="777240"/>
          </a:xfrm>
          <a:prstGeom prst="roundRect">
            <a:avLst>
              <a:gd name="adj" fmla="val 16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1508760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Store as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9176" y="1508760"/>
            <a:ext cx="20116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0344" y="1508760"/>
            <a:ext cx="2075688" cy="777240"/>
          </a:xfrm>
          <a:prstGeom prst="roundRect">
            <a:avLst>
              <a:gd name="adj" fmla="val 16000"/>
            </a:avLst>
          </a:prstGeom>
          <a:solidFill>
            <a:srgbClr val="FC89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4" y="1508760"/>
            <a:ext cx="19842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Index for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Bricolage Grotesque"/>
              </a:rPr>
              <a:t>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60604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Key T-SQL Functions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632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5FD1"/>
                </a:solidFill>
                <a:latin typeface="JetBrains Mono"/>
              </a:rPr>
              <a:t>AI_GENERATE_EMBEDDINGS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063240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Convert text to vector using external 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72160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5FD1"/>
                </a:solidFill>
                <a:latin typeface="JetBrains Mono"/>
              </a:rPr>
              <a:t>VECTOR(1536)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721608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Native vector data type with dimension size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379976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5FD1"/>
                </a:solidFill>
                <a:latin typeface="JetBrains Mono"/>
              </a:rPr>
              <a:t>VECTOR_DISTANCE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379976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Calculate distance between two vectors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38344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B5FD1"/>
                </a:solidFill>
                <a:latin typeface="JetBrains Mono"/>
              </a:rPr>
              <a:t>AI_GENERATE_CHUNKS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5038344"/>
            <a:ext cx="292607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Split long text into processable chunks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606040"/>
            <a:ext cx="5513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9CBA"/>
                </a:solidFill>
                <a:latin typeface="Bricolage Grotesque"/>
              </a:rPr>
              <a:t>Generate &amp; Store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971800"/>
            <a:ext cx="5513832" cy="278892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72200" y="2971800"/>
            <a:ext cx="551383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72200" y="3127248"/>
            <a:ext cx="551383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36792" y="3076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83096" y="3076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29400" y="3076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2971800"/>
            <a:ext cx="459943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generate_store.sql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8" y="3392424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DECLARE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@emb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VECTOR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50" b="0" i="0">
                <a:solidFill>
                  <a:srgbClr val="FC8903"/>
                </a:solidFill>
                <a:latin typeface="JetBrains Mono"/>
              </a:rPr>
              <a:t>1536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64808" y="3666744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SET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@emb =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3941063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AI_GENERATE_EMBEDDINGS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64808" y="4215383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@text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USE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MODEL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EmbedModel);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4808" y="4489704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4808" y="4764024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UPDATE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Products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5038344"/>
            <a:ext cx="496519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SET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ContentVector = @emb;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E9CBA"/>
                </a:solidFill>
                <a:latin typeface="JetBrains Mono"/>
              </a:rPr>
              <a:t>MODULE 1 · MODELS &amp;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Embedding Maintenance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38454F"/>
                </a:solidFill>
                <a:latin typeface="Nunito"/>
              </a:rPr>
              <a:t>Embeddings must stay aligned with source data — stale embeddings return wrong search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490972" cy="196596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90972" cy="64008"/>
          </a:xfrm>
          <a:prstGeom prst="roundRect">
            <a:avLst>
              <a:gd name="adj" fmla="val 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148840"/>
            <a:ext cx="49789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3"/>
                </a:solidFill>
                <a:latin typeface="Bricolage Grotesque"/>
              </a:rPr>
              <a:t>Trigger-Based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68880"/>
            <a:ext cx="49789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Automatically regenerate embeddings when source data changes via DML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36391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3136391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Always current, no lag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44728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447288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Adds latency to writes; external API calls in triggers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965960"/>
            <a:ext cx="5490972" cy="196596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5059" y="1965960"/>
            <a:ext cx="5490972" cy="64008"/>
          </a:xfrm>
          <a:prstGeom prst="roundRect">
            <a:avLst>
              <a:gd name="adj" fmla="val 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1092" y="2148840"/>
            <a:ext cx="49789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3"/>
                </a:solidFill>
                <a:latin typeface="Bricolage Grotesque"/>
              </a:rPr>
              <a:t>Batch Refresh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1092" y="2468880"/>
            <a:ext cx="49789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Periodically regenerate embeddings using scheduled jobs or stored procedures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1092" y="3136391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7124" y="3136391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Lower write overhead; batches API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344728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7124" y="3447288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Stale window between refreshes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33087"/>
            <a:ext cx="5490972" cy="196596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920" y="4133087"/>
            <a:ext cx="5490972" cy="64008"/>
          </a:xfrm>
          <a:prstGeom prst="roundRect">
            <a:avLst>
              <a:gd name="adj" fmla="val 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315968"/>
            <a:ext cx="49789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3"/>
                </a:solidFill>
                <a:latin typeface="Bricolage Grotesque"/>
              </a:rPr>
              <a:t>Change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4636007"/>
            <a:ext cx="49789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Use SQL Change Tracking to identify modified rows, then selectively regenerate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3035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" y="5303520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Efficient — only updates changed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61441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" y="5614416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Requires Change Tracking setup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059" y="4133087"/>
            <a:ext cx="5490972" cy="196596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195059" y="4133087"/>
            <a:ext cx="5490972" cy="64008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1092" y="4315968"/>
            <a:ext cx="49789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33"/>
                </a:solidFill>
                <a:latin typeface="Bricolage Grotesque"/>
              </a:rPr>
              <a:t>Lazy / On-Demand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1092" y="4636007"/>
            <a:ext cx="49789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Regenerate embeddings when data is next accessed or queried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1092" y="53035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7124" y="5303520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Minimal background processing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1092" y="5614416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7124" y="5614416"/>
            <a:ext cx="47228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38454F"/>
                </a:solidFill>
                <a:latin typeface="Nunito"/>
              </a:rPr>
              <a:t>First query after change is slower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472184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CREATE EXTERNAL MODEL connects SQL to Azure OpenAI — use Managed Identity for secure, passwordless access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30552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Only embed columns with semantic meaning — not IDs, numbers, or status codes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88920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34056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Chunking strategy depends on content type — smaller chunks give precision, larger chunks preserve context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447288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AI_GENERATE_EMBEDDINGS + VECTOR(n) data type are the core embedding functions in T-SQL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105655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50791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Choose a maintenance pattern based on your staleness tolerance vs write performance needs</a:t>
            </a:r>
          </a:p>
        </p:txBody>
      </p:sp>
      <p:pic>
        <p:nvPicPr>
          <p:cNvPr id="19" name="Picture 18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32720" y="5349240"/>
            <a:ext cx="1234440" cy="1234440"/>
          </a:xfrm>
          <a:prstGeom prst="ellipse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1C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4937760" cy="4937760"/>
          </a:xfrm>
          <a:prstGeom prst="ellipse">
            <a:avLst/>
          </a:prstGeom>
          <a:solidFill>
            <a:srgbClr val="1A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7240" y="1965960"/>
            <a:ext cx="1691640" cy="169164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360" y="153619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20">
                <a:solidFill>
                  <a:srgbClr val="3BB283"/>
                </a:solidFill>
                <a:latin typeface="Bricolage Grotesque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6F2EA"/>
                </a:solidFill>
                <a:latin typeface="Bricolage Grotesque"/>
              </a:rPr>
              <a:t>Design &amp; Implement Intelligent Search with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6576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BFB1"/>
                </a:solidFill>
                <a:latin typeface="Nunito"/>
              </a:rPr>
              <a:t>Full-text, vector, and hybrid search — with Reciprocal Rank Fusion and performance trade-offs.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6E7C86"/>
                </a:solidFill>
                <a:latin typeface="JetBrains Mono"/>
              </a:rPr>
              <a:t>BRING AI TO SQL W/EMBEDDINGS, SEARCH, &amp; RAG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Search Strategy Decision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17320"/>
          <a:ext cx="11183112" cy="342899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2999232"/>
                <a:gridCol w="2999232"/>
                <a:gridCol w="2990088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6F2EA"/>
                          </a:solidFill>
                          <a:latin typeface="Nunito"/>
                        </a:rPr>
                        <a:t>Feature</a:t>
                      </a:r>
                    </a:p>
                  </a:txBody>
                  <a:tcPr marL="109728" marR="91440" marT="36576" marB="36576" anchor="ctr">
                    <a:solidFill>
                      <a:srgbClr val="2892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6F2EA"/>
                          </a:solidFill>
                          <a:latin typeface="Nunito"/>
                        </a:rPr>
                        <a:t>Full-Text Search</a:t>
                      </a:r>
                    </a:p>
                  </a:txBody>
                  <a:tcPr marL="109728" marR="91440" marT="36576" marB="36576" anchor="ctr">
                    <a:solidFill>
                      <a:srgbClr val="2892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6F2EA"/>
                          </a:solidFill>
                          <a:latin typeface="Nunito"/>
                        </a:rPr>
                        <a:t>Vector Search</a:t>
                      </a:r>
                    </a:p>
                  </a:txBody>
                  <a:tcPr marL="109728" marR="91440" marT="36576" marB="36576" anchor="ctr">
                    <a:solidFill>
                      <a:srgbClr val="2892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6F2EA"/>
                          </a:solidFill>
                          <a:latin typeface="Nunito"/>
                        </a:rPr>
                        <a:t>Hybrid Search</a:t>
                      </a:r>
                    </a:p>
                  </a:txBody>
                  <a:tcPr marL="109728" marR="91440" marT="36576" marB="36576" anchor="ctr">
                    <a:solidFill>
                      <a:srgbClr val="289269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Matches on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Exact words &amp; stems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Semantic meaning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Both keywords AND meaning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Finds synonyms?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Only with thesaurus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Yes — automatically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Yes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Handles typos?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No (exact match)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Somewhat (similarity)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Better than either alone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Speed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Very fast (inverted index)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Fast (vector index)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Moderate (two indexes)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Setup complexity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Low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Medium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High (both + fusion)</a:t>
                      </a:r>
                    </a:p>
                  </a:txBody>
                  <a:tcPr marL="109728" marR="91440" marT="36576" marB="36576" anchor="ctr">
                    <a:solidFill>
                      <a:srgbClr val="FDFAF3"/>
                    </a:solidFill>
                  </a:tcPr>
                </a:tc>
              </a:tr>
              <a:tr h="502919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F2A33"/>
                          </a:solidFill>
                          <a:latin typeface="Nunito"/>
                        </a:rPr>
                        <a:t>Best for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Exact keyword search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Natural language queries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A33"/>
                          </a:solidFill>
                          <a:latin typeface="Nunito"/>
                        </a:rPr>
                        <a:t>Production systems</a:t>
                      </a:r>
                    </a:p>
                  </a:txBody>
                  <a:tcPr marL="109728" marR="91440" marT="36576" marB="36576" anchor="ctr">
                    <a:solidFill>
                      <a:srgbClr val="F6F2E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5029200"/>
            <a:ext cx="11183112" cy="1371600"/>
          </a:xfrm>
          <a:prstGeom prst="roundRect">
            <a:avLst>
              <a:gd name="adj" fmla="val 8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93792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Decision Guide: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Product SKU / exact name → Full-text  |  Natural language description → Vector  |  E-commerce millions of products → Hybrid  |  Error code log analysis → Full-text  |  Similar support tickets → Vector  |  Legal document discovery →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Implementing Full-Text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9269"/>
                </a:solidFill>
                <a:latin typeface="Bricolage Grotesque"/>
              </a:rPr>
              <a:t>Setup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659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Nunito"/>
              </a:rPr>
              <a:t>Create a full-text catalog to organize indexes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2432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Nunito"/>
              </a:rPr>
              <a:t>Create a full-text index on the target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8269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826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8269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Nunito"/>
              </a:rPr>
              <a:t>Specify a unique key column (usually primary key)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41063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41063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41063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33"/>
                </a:solidFill>
                <a:latin typeface="Nunito"/>
              </a:rPr>
              <a:t>Choose a language for linguistic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54223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89269"/>
                </a:solidFill>
                <a:latin typeface="Bricolage Grotesque"/>
              </a:rPr>
              <a:t>Query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6596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JetBrains Mono"/>
              </a:rPr>
              <a:t>CONTAINS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58568"/>
            <a:ext cx="5422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Exact word or phrase matching; supports AND, OR, NEAR operators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07208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JetBrains Mono"/>
              </a:rPr>
              <a:t>FREETEXT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99815"/>
            <a:ext cx="5422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Finds meaning matches using stemming, thesaurus, and inflectional 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648456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JetBrains Mono"/>
              </a:rPr>
              <a:t>CONTAINSTABLE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941063"/>
            <a:ext cx="5422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Returns ranked results with relevance scores as a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489704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JetBrains Mono"/>
              </a:rPr>
              <a:t>FREETEXTTABLE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782312"/>
            <a:ext cx="542239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Returns ranked meaning-based results as a table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11183112" cy="960120"/>
          </a:xfrm>
          <a:prstGeom prst="roundRect">
            <a:avLst>
              <a:gd name="adj" fmla="val 12000"/>
            </a:avLst>
          </a:prstGeom>
          <a:solidFill>
            <a:srgbClr val="F7E7B9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440680"/>
            <a:ext cx="1067104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Tip: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CONTAINS = exact word matching | FREETEXT = meaning matching. Know when to use each, plus their TABLE variants for ranked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Vector Data Types &amp; Index Strategies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9CBA"/>
                </a:solidFill>
                <a:latin typeface="Bricolage Grotesque"/>
              </a:rPr>
              <a:t>Vector Data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74519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8454F"/>
                </a:solidFill>
                <a:latin typeface="Nunito"/>
              </a:rPr>
              <a:t>Native VECTOR(n) type — n is the dimension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5856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258568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8454F"/>
                </a:solidFill>
                <a:latin typeface="Nunito"/>
              </a:rPr>
              <a:t>Common sizes: 768, 1536 dimensions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42615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642615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8454F"/>
                </a:solidFill>
                <a:latin typeface="Nunito"/>
              </a:rPr>
              <a:t>Dimension must match the embedding model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26663"/>
            <a:ext cx="274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9CBA"/>
                </a:solidFill>
                <a:latin typeface="Nunito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026663"/>
            <a:ext cx="51023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8454F"/>
                </a:solidFill>
                <a:latin typeface="Nunito"/>
              </a:rPr>
              <a:t>Stored as binary for efficient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47871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9CBA"/>
                </a:solidFill>
                <a:latin typeface="Bricolage Grotesque"/>
              </a:rPr>
              <a:t>Distance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13631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FDFAF3"/>
          </a:solidFill>
          <a:ln w="9525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3913631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Cosine: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Direction similarity (ignores magnitude)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70831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FDFAF3"/>
          </a:solidFill>
          <a:ln w="9525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370831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Euclidean: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Absolute distance between points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28031"/>
            <a:ext cx="5394960" cy="384048"/>
          </a:xfrm>
          <a:prstGeom prst="roundRect">
            <a:avLst>
              <a:gd name="adj" fmla="val 18000"/>
            </a:avLst>
          </a:prstGeom>
          <a:solidFill>
            <a:srgbClr val="FDFAF3"/>
          </a:solidFill>
          <a:ln w="9525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4828031"/>
            <a:ext cx="51206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Dot Product: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Combined direction + magnitude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463040"/>
            <a:ext cx="5422392" cy="2057400"/>
          </a:xfrm>
          <a:prstGeom prst="roundRect">
            <a:avLst>
              <a:gd name="adj" fmla="val 8000"/>
            </a:avLst>
          </a:prstGeom>
          <a:solidFill>
            <a:srgbClr val="E4F5EC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627632"/>
            <a:ext cx="4910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9269"/>
                </a:solidFill>
                <a:latin typeface="Bricolage Grotesque"/>
              </a:rPr>
              <a:t>KNN (Exact Nearest Neighbor)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1965960"/>
            <a:ext cx="49103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38454F"/>
                </a:solidFill>
                <a:latin typeface="Nunito"/>
              </a:rPr>
              <a:t>Brute-force comparison against all vectors. 100% recall — always finds the true nearest neighbors. Best for: small datasets, accuracy-critical scenarios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2880360"/>
            <a:ext cx="49103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89269"/>
                </a:solidFill>
                <a:latin typeface="Nunito"/>
              </a:rPr>
              <a:t>No index needed — scans all rows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3703320"/>
            <a:ext cx="5422392" cy="2057400"/>
          </a:xfrm>
          <a:prstGeom prst="roundRect">
            <a:avLst>
              <a:gd name="adj" fmla="val 8000"/>
            </a:avLst>
          </a:prstGeom>
          <a:solidFill>
            <a:srgbClr val="EAF2F6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867912"/>
            <a:ext cx="4910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Bricolage Grotesque"/>
              </a:rPr>
              <a:t>ANN (Approximate Nearest Neighbor)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206240"/>
            <a:ext cx="491032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0">
                <a:solidFill>
                  <a:srgbClr val="38454F"/>
                </a:solidFill>
                <a:latin typeface="Nunito"/>
              </a:rPr>
              <a:t>Index-based search using DiskANN algorithm. Trades small accuracy for massive speed. Best for: large datasets, production search at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5120640"/>
            <a:ext cx="491032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2E9CBA"/>
                </a:solidFill>
                <a:latin typeface="Nunito"/>
              </a:rPr>
              <a:t>Requires vector index — uses DiskANN graph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Implementing Vector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JetBrains Mono"/>
              </a:rPr>
              <a:t>VECTOR_DISTANCE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22392" cy="233172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381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vector_distance.sql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49424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SELECT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TOP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C8903"/>
                </a:solidFill>
                <a:latin typeface="JetBrains Mono"/>
              </a:rPr>
              <a:t>10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Title,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509374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VECTOR_DISTANCE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'cosine'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769325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Embedding, @qVec)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AS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dist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029276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FROM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289227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ORDER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BY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dist;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549178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809129"/>
            <a:ext cx="4873752" cy="2782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8A9AA5"/>
                </a:solidFill>
                <a:latin typeface="JetBrains Mono"/>
              </a:rPr>
              <a:t>-- Add WITH APPROXIMATE for ANN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JetBrains Mono"/>
              </a:rPr>
              <a:t>VECTOR_SEARCH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422392" cy="233172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6364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1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7453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2084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vector_search.sql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224942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SELECT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* </a:t>
            </a:r>
            <a:r>
              <a:rPr sz="1250" b="0" i="0">
                <a:solidFill>
                  <a:srgbClr val="FBC00A"/>
                </a:solidFill>
                <a:latin typeface="JetBrains Mono"/>
              </a:rPr>
              <a:t>FROM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52374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VECTOR_SEARCH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79806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TABLE = Documents,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307238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COLUMN = Embedding,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34670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QUERY_VECTOR = @qVec,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3621024"/>
            <a:ext cx="4873752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TOP_N = </a:t>
            </a:r>
            <a:r>
              <a:rPr sz="1250" b="0" i="0">
                <a:solidFill>
                  <a:srgbClr val="FC8903"/>
                </a:solidFill>
                <a:latin typeface="JetBrains Mono"/>
              </a:rPr>
              <a:t>10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3484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Key Distinctions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4632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Nunito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846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454F"/>
                </a:solidFill>
                <a:latin typeface="Nunito"/>
              </a:rPr>
              <a:t>VECTOR_DISTANCE returns a numeric distance value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193792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Nunit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1937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454F"/>
                </a:solidFill>
                <a:latin typeface="Nunito"/>
              </a:rPr>
              <a:t>VECTOR_SEARCH returns a table of nearest results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541264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Nunito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4126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454F"/>
                </a:solidFill>
                <a:latin typeface="Nunito"/>
              </a:rPr>
              <a:t>WITH APPROXIMATE triggers ANN (requires index)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5888736"/>
            <a:ext cx="228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9CBA"/>
                </a:solidFill>
                <a:latin typeface="Nunit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88873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8454F"/>
                </a:solidFill>
                <a:latin typeface="Nunito"/>
              </a:rPr>
              <a:t>Without APPROXIMATE, search uses KNN (exact search)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Hybrid Search &amp; Reciprocal Rank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3352800" cy="1051560"/>
          </a:xfrm>
          <a:prstGeom prst="roundRect">
            <a:avLst>
              <a:gd name="adj" fmla="val 10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36776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Full-Text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67128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CONTAINSTABLE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FREETEXTTABLE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0040" y="1508760"/>
            <a:ext cx="274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508760"/>
            <a:ext cx="3352800" cy="1051560"/>
          </a:xfrm>
          <a:prstGeom prst="roundRect">
            <a:avLst>
              <a:gd name="adj" fmla="val 1000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520" y="1636776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Vector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2167128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VECTOR_DISTANCE 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VECTOR_SEARCH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7159" y="1508760"/>
            <a:ext cx="27432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1480" y="1508760"/>
            <a:ext cx="3352800" cy="1051560"/>
          </a:xfrm>
          <a:prstGeom prst="roundRect">
            <a:avLst>
              <a:gd name="adj" fmla="val 1000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640" y="1636776"/>
            <a:ext cx="307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Reciprocal Rank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Bricolage Grotesque"/>
              </a:rPr>
              <a:t>Fusion (RRF)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640" y="2167128"/>
            <a:ext cx="307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MERGED &amp; RANKED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40">
                <a:solidFill>
                  <a:srgbClr val="F6F2EA"/>
                </a:solidFill>
                <a:latin typeface="JetBrains Mono"/>
              </a:rPr>
              <a:t>RESULTS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0360"/>
            <a:ext cx="10607040" cy="306324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10896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How RRF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474720"/>
            <a:ext cx="6035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8454F"/>
                </a:solidFill>
                <a:latin typeface="Nunito"/>
              </a:rPr>
              <a:t>RRF normalizes and merges ranked results from multiple search methods without requiring comparable scores.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25196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4434840"/>
            <a:ext cx="4023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RRF Score = Σ 1 / (k + rank_i)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for each search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74720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Nuni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7" y="3474720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No need to normalize different score scales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041648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Nuni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041648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Penalizes items ranked low in any single method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608576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Nunito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7" y="4608576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Rewards items consistently ranked high across methods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5175504"/>
            <a:ext cx="201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B5FD1"/>
                </a:solidFill>
                <a:latin typeface="Nunito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5175504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k parameter (usually 60) controls rank sensitivity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289269"/>
                </a:solidFill>
                <a:latin typeface="JetBrains Mono"/>
              </a:rPr>
              <a:t>MODULE 2 · INTELLIGENT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Evaluating Search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490972" cy="155448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73152" cy="1554480"/>
          </a:xfrm>
          <a:prstGeom prst="roundRect">
            <a:avLst>
              <a:gd name="adj" fmla="val 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27632"/>
            <a:ext cx="49789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A33"/>
                </a:solidFill>
                <a:latin typeface="Bricolage Grotesque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93392"/>
            <a:ext cx="49789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What percentage of relevant documents were found? KNN = 100% recall. ANN trades small recall loss for speed.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5059" y="1463040"/>
            <a:ext cx="5490972" cy="155448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5059" y="1463040"/>
            <a:ext cx="73152" cy="1554480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1092" y="1627632"/>
            <a:ext cx="49789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A33"/>
                </a:solidFill>
                <a:latin typeface="Bricolage Grotesque"/>
              </a:rP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092" y="1993392"/>
            <a:ext cx="49789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Of the results returned, how many were actually relevant? Hybrid search typically improves precision.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18688"/>
            <a:ext cx="5490972" cy="155448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3218688"/>
            <a:ext cx="73152" cy="1554480"/>
          </a:xfrm>
          <a:prstGeom prst="roundRect">
            <a:avLst>
              <a:gd name="adj" fmla="val 0"/>
            </a:avLst>
          </a:prstGeom>
          <a:solidFill>
            <a:srgbClr val="FC89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383280"/>
            <a:ext cx="49789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A33"/>
                </a:solidFill>
                <a:latin typeface="Bricolage Grotesque"/>
              </a:rPr>
              <a:t>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749039"/>
            <a:ext cx="49789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How fast are results returned? ANN with DiskANN index is orders of magnitude faster than KNN at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5059" y="3218688"/>
            <a:ext cx="5490972" cy="155448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5059" y="3218688"/>
            <a:ext cx="73152" cy="1554480"/>
          </a:xfrm>
          <a:prstGeom prst="roundRect">
            <a:avLst>
              <a:gd name="adj" fmla="val 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092" y="3383280"/>
            <a:ext cx="49789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F2A33"/>
                </a:solidFill>
                <a:latin typeface="Bricolage Grotesque"/>
              </a:rPr>
              <a:t>Index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092" y="3749039"/>
            <a:ext cx="497890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Vector indexes consume memory and storage. Balance recall requirements against resource costs.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001768"/>
            <a:ext cx="11183112" cy="1005840"/>
          </a:xfrm>
          <a:prstGeom prst="roundRect">
            <a:avLst>
              <a:gd name="adj" fmla="val 12000"/>
            </a:avLst>
          </a:prstGeom>
          <a:solidFill>
            <a:srgbClr val="F7E7B9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001768"/>
            <a:ext cx="10671048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Tip: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Know the trade-offs — ANN is faster but ~95% recall; KNN is slower but 100% recall. Hybrid + RRF gives the best relevance.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472184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Full-text search excels at exact keywords; vector search handles semantic meaning; hybrid combines both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30552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VECTOR_DISTANCE returns a scalar; VECTOR_SEARCH returns a table — know when to use each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88920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34056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KNN = 100% recall, brute force; ANN = ~95% recall, uses DiskANN index for speed at scale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447288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WITH APPROXIMATE is the T-SQL keyword that switches from ENN to ANN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105655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50791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Reciprocal Rank Fusion (RRF) merges rankings without normalizing scores — essential for hybrid search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764023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6402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59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Cosine distance is the most common metric for text embeddings; know all three metrics</a:t>
            </a:r>
          </a:p>
        </p:txBody>
      </p:sp>
      <p:pic>
        <p:nvPicPr>
          <p:cNvPr id="22" name="Picture 21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32720" y="5349240"/>
            <a:ext cx="1234440" cy="1234440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1C2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4937760" cy="4937760"/>
          </a:xfrm>
          <a:prstGeom prst="ellipse">
            <a:avLst/>
          </a:prstGeom>
          <a:solidFill>
            <a:srgbClr val="1A2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7240" y="1965960"/>
            <a:ext cx="1691640" cy="169164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880360" y="1536192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20">
                <a:solidFill>
                  <a:srgbClr val="DD5D5D"/>
                </a:solidFill>
                <a:latin typeface="Bricolage Grotesque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2011680"/>
            <a:ext cx="8778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6F2EA"/>
                </a:solidFill>
                <a:latin typeface="Bricolage Grotesque"/>
              </a:rPr>
              <a:t>Design &amp; Implement RAG with 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3657600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BFB1"/>
                </a:solidFill>
                <a:latin typeface="Nunito"/>
              </a:rPr>
              <a:t>The five-step retrieval-augmented generation pipeline, built entirely in T-SQL.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spc="100">
                <a:solidFill>
                  <a:srgbClr val="6E7C86"/>
                </a:solidFill>
                <a:latin typeface="JetBrains Mono"/>
              </a:rPr>
              <a:t>BRING AI TO SQL W/EMBEDDINGS, SEARCH, &amp; RAG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C24545"/>
                </a:solidFill>
                <a:latin typeface="JetBrains Mono"/>
              </a:rPr>
              <a:t>MODULE 3 · RAG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When to Use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5806440" cy="4023360"/>
          </a:xfrm>
          <a:prstGeom prst="roundRect">
            <a:avLst>
              <a:gd name="adj" fmla="val 6000"/>
            </a:avLst>
          </a:prstGeom>
          <a:solidFill>
            <a:srgbClr val="E4F5EC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27632"/>
            <a:ext cx="529437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89269"/>
                </a:solidFill>
                <a:latin typeface="Bricolage Grotesque"/>
              </a:rPr>
              <a:t>Use RAG When: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057400"/>
            <a:ext cx="5038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Customer support chatbot: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Answers grounded in YOUR knowledge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15768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4" y="2715768"/>
            <a:ext cx="5038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Internal FAQ system: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Responses cite specific company 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374135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" y="3374135"/>
            <a:ext cx="5038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Product recommendation: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Explains WHY based on actual product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032503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4032503"/>
            <a:ext cx="5038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Report summarization: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Summarizes YOUR data, not imaginary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4690871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BB283"/>
                </a:solidFill>
                <a:latin typeface="Nunito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" y="4690871"/>
            <a:ext cx="50383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Code review assistant: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Reviews against YOUR coding standards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1463040"/>
            <a:ext cx="5166360" cy="4023360"/>
          </a:xfrm>
          <a:prstGeom prst="roundRect">
            <a:avLst>
              <a:gd name="adj" fmla="val 6000"/>
            </a:avLst>
          </a:prstGeom>
          <a:solidFill>
            <a:srgbClr val="FBE6E4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75704" y="1627632"/>
            <a:ext cx="46542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E13429"/>
                </a:solidFill>
                <a:latin typeface="Bricolage Grotesque"/>
              </a:rPr>
              <a:t>Don't Use RAG When: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5704" y="205740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1736" y="2057400"/>
            <a:ext cx="4398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Simple lookups: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“Customer 42's email?” — just use 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283464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2834640"/>
            <a:ext cx="4398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Aggregations: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“Total sales this month” — use SUM, not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361188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1736" y="3611880"/>
            <a:ext cx="4398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Real-time decisions: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Millisecond-critical paths — RAG adds latency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5704" y="4389120"/>
            <a:ext cx="237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13429"/>
                </a:solidFill>
                <a:latin typeface="Nunito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389120"/>
            <a:ext cx="43982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Nunito"/>
              </a:rPr>
              <a:t>No relevant data: </a:t>
            </a:r>
            <a:r>
              <a:rPr sz="1200" b="0" i="0">
                <a:solidFill>
                  <a:srgbClr val="38454F"/>
                </a:solidFill>
                <a:latin typeface="Nunito"/>
              </a:rPr>
              <a:t>If your DB doesn't have the answer, RAG can't help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69280"/>
            <a:ext cx="11183112" cy="777240"/>
          </a:xfrm>
          <a:prstGeom prst="roundRect">
            <a:avLst>
              <a:gd name="adj" fmla="val 12000"/>
            </a:avLst>
          </a:prstGeom>
          <a:solidFill>
            <a:srgbClr val="E4F5EC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5669280"/>
            <a:ext cx="10671048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2A33"/>
                </a:solidFill>
                <a:latin typeface="Nunito"/>
              </a:rPr>
              <a:t>TIP: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 “Data changes often” → RAG, not fine-tuning. RAG uses current data at query time. Fine-tuning bakes stale data into the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C24545"/>
                </a:solidFill>
                <a:latin typeface="JetBrains Mono"/>
              </a:rPr>
              <a:t>MODULE 3 · RAG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The RAG Pipeline in T-SQL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75688"/>
            <a:ext cx="20903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04872"/>
            <a:ext cx="209031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454F"/>
                </a:solidFill>
                <a:latin typeface="Nunito"/>
              </a:rPr>
              <a:t>Vector search finds semantically relevant data from your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7518" y="149047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6118" y="1508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6118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6118" y="2075688"/>
            <a:ext cx="20903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Format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6118" y="2404872"/>
            <a:ext cx="209031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454F"/>
                </a:solidFill>
                <a:latin typeface="Nunito"/>
              </a:rPr>
              <a:t>Convert SQL results to JSON structure for LLM consumption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0716" y="149047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9316" y="1508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E7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9316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9316" y="2075688"/>
            <a:ext cx="20903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9316" y="2404872"/>
            <a:ext cx="209031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454F"/>
                </a:solidFill>
                <a:latin typeface="Nunito"/>
              </a:rPr>
              <a:t>Combine system instructions + context + user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3915" y="149047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2515" y="1508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22515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2515" y="2075688"/>
            <a:ext cx="20903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22515" y="2404872"/>
            <a:ext cx="209031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454F"/>
                </a:solidFill>
                <a:latin typeface="Nunito"/>
              </a:rPr>
              <a:t>Call LLM endpoint via sp_invoke_external_rest_endpoint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7113" y="1490472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780"/>
                </a:solidFill>
                <a:latin typeface="Nunit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95713" y="1508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C89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95713" y="1508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5713" y="2075688"/>
            <a:ext cx="209031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Bricolage Grotesque"/>
              </a:rP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95713" y="2404872"/>
            <a:ext cx="209031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8454F"/>
                </a:solidFill>
                <a:latin typeface="Nunito"/>
              </a:rPr>
              <a:t>Parse JSON response and return the grounded 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520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2A33"/>
                </a:solidFill>
                <a:latin typeface="Bricolage Grotesque"/>
              </a:rPr>
              <a:t>Why RAG in SQL?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3593592" cy="196596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3593592" cy="64008"/>
          </a:xfrm>
          <a:prstGeom prst="roundRect">
            <a:avLst>
              <a:gd name="adj" fmla="val 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178807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A33"/>
                </a:solidFill>
                <a:latin typeface="Bricolage Grotesque"/>
              </a:rPr>
              <a:t>Grounded Answers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4599431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LLM responses based on your actual data — reduced hallucinations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0" y="3977639"/>
            <a:ext cx="3593592" cy="196596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97680" y="3977639"/>
            <a:ext cx="3593592" cy="64008"/>
          </a:xfrm>
          <a:prstGeom prst="roundRect">
            <a:avLst>
              <a:gd name="adj" fmla="val 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8848" y="4178807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A33"/>
                </a:solidFill>
                <a:latin typeface="Bricolage Grotesque"/>
              </a:rPr>
              <a:t>No Data Migration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4599431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AI works directly with data in SQL — no ETL to external systems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977639"/>
            <a:ext cx="3593592" cy="196596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092440" y="3977639"/>
            <a:ext cx="3593592" cy="64008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4178807"/>
            <a:ext cx="31912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F2A33"/>
                </a:solidFill>
                <a:latin typeface="Bricolage Grotesque"/>
              </a:rPr>
              <a:t>Security Preserved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599431"/>
            <a:ext cx="3191256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8454F"/>
                </a:solidFill>
                <a:latin typeface="Nunito"/>
              </a:rPr>
              <a:t>Existing RLS, permissions, encryption apply to AI-retrieved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C24545"/>
                </a:solidFill>
                <a:latin typeface="JetBrains Mono"/>
              </a:rPr>
              <a:t>MODULE 3 · RAG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Step 1: Retrieve Relevant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6309360" cy="333756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6309360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6309360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67512" y="161391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161391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161391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508760"/>
            <a:ext cx="53949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retrieve.sql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929384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8A9AA5"/>
                </a:solidFill>
                <a:latin typeface="JetBrains Mono"/>
              </a:rPr>
              <a:t>-- Embed user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186247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00A"/>
                </a:solidFill>
                <a:latin typeface="JetBrains Mono"/>
              </a:rPr>
              <a:t>DECLARE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@qVec </a:t>
            </a:r>
            <a:r>
              <a:rPr sz="1200" b="0" i="0">
                <a:solidFill>
                  <a:srgbClr val="51BBD7"/>
                </a:solidFill>
                <a:latin typeface="JetBrains Mono"/>
              </a:rPr>
              <a:t>VECTOR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00" b="0" i="0">
                <a:solidFill>
                  <a:srgbClr val="FC8903"/>
                </a:solidFill>
                <a:latin typeface="JetBrains Mono"/>
              </a:rPr>
              <a:t>1536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43110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00A"/>
                </a:solidFill>
                <a:latin typeface="JetBrains Mono"/>
              </a:rPr>
              <a:t>SET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@qVec = </a:t>
            </a:r>
            <a:r>
              <a:rPr sz="1200" b="0" i="0">
                <a:solidFill>
                  <a:srgbClr val="51BBD7"/>
                </a:solidFill>
                <a:latin typeface="JetBrains Mono"/>
              </a:rPr>
              <a:t>AI_GENERATE_EMBEDDINGS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699973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F2EA"/>
                </a:solidFill>
                <a:latin typeface="JetBrains Mono"/>
              </a:rPr>
              <a:t>  (@question </a:t>
            </a:r>
            <a:r>
              <a:rPr sz="1200" b="0" i="0">
                <a:solidFill>
                  <a:srgbClr val="FBC00A"/>
                </a:solidFill>
                <a:latin typeface="JetBrains Mono"/>
              </a:rPr>
              <a:t>USE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FBC00A"/>
                </a:solidFill>
                <a:latin typeface="JetBrains Mono"/>
              </a:rPr>
              <a:t>MODEL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EmbedModel);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56837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F2EA"/>
                </a:solidFill>
                <a:latin typeface="JetBrai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213700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8A9AA5"/>
                </a:solidFill>
                <a:latin typeface="JetBrains Mono"/>
              </a:rPr>
              <a:t>-- Vector search for relevant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470563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00A"/>
                </a:solidFill>
                <a:latin typeface="JetBrains Mono"/>
              </a:rPr>
              <a:t>SELECT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FBC00A"/>
                </a:solidFill>
                <a:latin typeface="JetBrains Mono"/>
              </a:rPr>
              <a:t>TOP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200" b="0" i="0">
                <a:solidFill>
                  <a:srgbClr val="FC8903"/>
                </a:solidFill>
                <a:latin typeface="JetBrains Mono"/>
              </a:rPr>
              <a:t>5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Title, Content,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727426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00" b="0" i="0">
                <a:solidFill>
                  <a:srgbClr val="51BBD7"/>
                </a:solidFill>
                <a:latin typeface="JetBrains Mono"/>
              </a:rPr>
              <a:t>VECTOR_DISTANCE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00" b="0" i="0">
                <a:solidFill>
                  <a:srgbClr val="3BB283"/>
                </a:solidFill>
                <a:latin typeface="JetBrains Mono"/>
              </a:rPr>
              <a:t>'cosine'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84290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6F2EA"/>
                </a:solidFill>
                <a:latin typeface="JetBrains Mono"/>
              </a:rPr>
              <a:t>    Embedding, @qVec) </a:t>
            </a:r>
            <a:r>
              <a:rPr sz="1200" b="0" i="0">
                <a:solidFill>
                  <a:srgbClr val="FBC00A"/>
                </a:solidFill>
                <a:latin typeface="JetBrains Mono"/>
              </a:rPr>
              <a:t>AS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dist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4241153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00A"/>
                </a:solidFill>
                <a:latin typeface="JetBrains Mono"/>
              </a:rPr>
              <a:t>INTO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#Context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498016"/>
            <a:ext cx="5760720" cy="2751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BC00A"/>
                </a:solidFill>
                <a:latin typeface="JetBrains Mono"/>
              </a:rPr>
              <a:t>FROM</a:t>
            </a:r>
            <a:r>
              <a:rPr sz="1200" b="0" i="0">
                <a:solidFill>
                  <a:srgbClr val="F6F2EA"/>
                </a:solidFill>
                <a:latin typeface="JetBrains Mono"/>
              </a:rPr>
              <a:t> KnowledgeBase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508760"/>
            <a:ext cx="45994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What's Happening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1965960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659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Nunito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947672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User question is converted to a vector embedding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2679191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7919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Nunito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2660903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VECTOR_DISTANCE finds the 5 most similar documents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392424"/>
            <a:ext cx="329184" cy="329184"/>
          </a:xfrm>
          <a:prstGeom prst="roundRect">
            <a:avLst>
              <a:gd name="adj" fmla="val 2000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33924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6F2EA"/>
                </a:solidFill>
                <a:latin typeface="Nunito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3374136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Results stored in temp table for next step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07492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E4F5EC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57800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89269"/>
                </a:solidFill>
                <a:latin typeface="Nunito"/>
              </a:rPr>
              <a:t>Retrieval Quality Matters: </a:t>
            </a:r>
            <a:r>
              <a:rPr sz="1250" b="0" i="0">
                <a:solidFill>
                  <a:srgbClr val="38454F"/>
                </a:solidFill>
                <a:latin typeface="Nunito"/>
              </a:rPr>
              <a:t>The LLM can only work with the context you provide. If retrieval returns irrelevant documents, the generated answer will be poor — even with a perfect prompt. Use hybrid search + RRF for best retrieval quality in production RAG systems.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C24545"/>
                </a:solidFill>
                <a:latin typeface="JetBrains Mono"/>
              </a:rPr>
              <a:t>MODULE 3 · RAG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Steps 2 &amp; 3: Format Context &amp; Build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9269"/>
                </a:solidFill>
                <a:latin typeface="Bricolage Grotesque"/>
              </a:rPr>
              <a:t>Step 2: Convert to JSON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22392" cy="196596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381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format_context.sql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49424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DECLARE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@ctx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NVARCHAR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(MAX);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91740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SELECT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@ctx =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JSON_ARRAYAGG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734056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JSON_OBJECT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76372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'title'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 Title,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218687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'content'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 Content))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461003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BC00A"/>
                </a:solidFill>
                <a:latin typeface="JetBrains Mono"/>
              </a:rPr>
              <a:t>FROM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 #Context;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9269"/>
                </a:solidFill>
                <a:latin typeface="Bricolage Grotesque"/>
              </a:rPr>
              <a:t>Step 3: Construct the Prompt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422392" cy="196596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8231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453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build_prompt.sql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249424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1BBD7"/>
                </a:solidFill>
                <a:latin typeface="JetBrains Mono"/>
              </a:rPr>
              <a:t>JSON_OBJECT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2491740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'messages'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JSON_ARRAY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734056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JSON_OBJECT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'role'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'system'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976372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 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'content'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 @sysMsg),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3218687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</a:t>
            </a:r>
            <a:r>
              <a:rPr sz="1250" b="0" i="0">
                <a:solidFill>
                  <a:srgbClr val="51BBD7"/>
                </a:solidFill>
                <a:latin typeface="JetBrains Mono"/>
              </a:rPr>
              <a:t>JSON_OBJECT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(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'role'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'user'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,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461003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6F2EA"/>
                </a:solidFill>
                <a:latin typeface="JetBrains Mono"/>
              </a:rPr>
              <a:t>      </a:t>
            </a:r>
            <a:r>
              <a:rPr sz="1250" b="0" i="0">
                <a:solidFill>
                  <a:srgbClr val="3BB283"/>
                </a:solidFill>
                <a:latin typeface="JetBrains Mono"/>
              </a:rPr>
              <a:t>'content'</a:t>
            </a:r>
            <a:r>
              <a:rPr sz="1250" b="0" i="0">
                <a:solidFill>
                  <a:srgbClr val="F6F2EA"/>
                </a:solidFill>
                <a:latin typeface="JetBrains Mono"/>
              </a:rPr>
              <a:t>: @question)))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Prompt Structure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A33"/>
                </a:solidFill>
                <a:latin typeface="Bricolage Grotesque"/>
              </a:rPr>
              <a:t>System Message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029200"/>
            <a:ext cx="322783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Instructions + guardrails: “Answer ONLY based on the provided context. If the context doesn’t contain the answer, say so.”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9768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663440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A33"/>
                </a:solidFill>
                <a:latin typeface="Bricolage Grotesque"/>
              </a:rPr>
              <a:t>Context Injection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029200"/>
            <a:ext cx="322783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The JSON-formatted search results from Step 2 — this is what grounds the LLM response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9244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663440"/>
            <a:ext cx="322783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F2A33"/>
                </a:solidFill>
                <a:latin typeface="Bricolage Grotesque"/>
              </a:rPr>
              <a:t>User Message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029200"/>
            <a:ext cx="322783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The original user question — the LLM combines this with the context to generate a grounded answer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20">
                <a:solidFill>
                  <a:srgbClr val="C24545"/>
                </a:solidFill>
                <a:latin typeface="JetBrains Mono"/>
              </a:rPr>
              <a:t>MODULE 3 · RAG WITH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Steps 4 &amp; 5: Call LLM &amp; Extract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7043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9269"/>
                </a:solidFill>
                <a:latin typeface="Bricolage Grotesque"/>
              </a:rPr>
              <a:t>Step 4: Call the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422392" cy="196596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7512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381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call_model.sql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249424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BC00A"/>
                </a:solidFill>
                <a:latin typeface="JetBrains Mono"/>
              </a:rPr>
              <a:t>DECLARE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 @response </a:t>
            </a:r>
            <a:r>
              <a:rPr sz="1150" b="0" i="0">
                <a:solidFill>
                  <a:srgbClr val="51BBD7"/>
                </a:solidFill>
                <a:latin typeface="JetBrains Mono"/>
              </a:rPr>
              <a:t>NVARCHAR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(MAX);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491740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BC00A"/>
                </a:solidFill>
                <a:latin typeface="JetBrains Mono"/>
              </a:rPr>
              <a:t>EXEC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51BBD7"/>
                </a:solidFill>
                <a:latin typeface="JetBrains Mono"/>
              </a:rPr>
              <a:t>sp_invoke_external_rest_endpoint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2734056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@url = </a:t>
            </a:r>
            <a:r>
              <a:rPr sz="1150" b="0" i="0">
                <a:solidFill>
                  <a:srgbClr val="3BB283"/>
                </a:solidFill>
                <a:latin typeface="JetBrains Mono"/>
              </a:rPr>
              <a:t>'https://myoai...completions'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2976372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,@method = </a:t>
            </a:r>
            <a:r>
              <a:rPr sz="1150" b="0" i="0">
                <a:solidFill>
                  <a:srgbClr val="3BB283"/>
                </a:solidFill>
                <a:latin typeface="JetBrains Mono"/>
              </a:rPr>
              <a:t>'POST'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218687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,@payload = @requestBody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3461003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,@response = @response OUTPUT;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463040"/>
            <a:ext cx="5422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89269"/>
                </a:solidFill>
                <a:latin typeface="Bricolage Grotesque"/>
              </a:rPr>
              <a:t>Step 5: Extract the Answer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1828800"/>
            <a:ext cx="5422392" cy="1965960"/>
          </a:xfrm>
          <a:prstGeom prst="roundRect">
            <a:avLst>
              <a:gd name="adj" fmla="val 5000"/>
            </a:avLst>
          </a:prstGeom>
          <a:solidFill>
            <a:srgbClr val="1B2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1828800"/>
            <a:ext cx="5422392" cy="310896"/>
          </a:xfrm>
          <a:prstGeom prst="roundRect">
            <a:avLst>
              <a:gd name="adj" fmla="val 500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1984248"/>
            <a:ext cx="5422392" cy="155448"/>
          </a:xfrm>
          <a:prstGeom prst="roundRect">
            <a:avLst>
              <a:gd name="adj" fmla="val 0"/>
            </a:avLst>
          </a:prstGeom>
          <a:solidFill>
            <a:srgbClr val="141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28231" y="1933956"/>
            <a:ext cx="100584" cy="100584"/>
          </a:xfrm>
          <a:prstGeom prst="ellipse">
            <a:avLst/>
          </a:prstGeom>
          <a:solidFill>
            <a:srgbClr val="E13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74536" y="1933956"/>
            <a:ext cx="100584" cy="100584"/>
          </a:xfrm>
          <a:prstGeom prst="ellipse">
            <a:avLst/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20840" y="1933956"/>
            <a:ext cx="100584" cy="1005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1828800"/>
            <a:ext cx="4507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AA5"/>
                </a:solidFill>
                <a:latin typeface="JetBrains Mono"/>
              </a:rPr>
              <a:t>extract_answer.sql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249424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A9AA5"/>
                </a:solidFill>
                <a:latin typeface="JetBrains Mono"/>
              </a:rPr>
              <a:t>-- Extract answer from JSON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2491740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BC00A"/>
                </a:solidFill>
                <a:latin typeface="JetBrains Mono"/>
              </a:rPr>
              <a:t>SELECT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 </a:t>
            </a:r>
            <a:r>
              <a:rPr sz="1150" b="0" i="0">
                <a:solidFill>
                  <a:srgbClr val="51BBD7"/>
                </a:solidFill>
                <a:latin typeface="JetBrains Mono"/>
              </a:rPr>
              <a:t>JSON_VALUE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8" y="2734056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@response,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2976372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'$.result.choices[</a:t>
            </a:r>
            <a:r>
              <a:rPr sz="1150" b="0" i="0">
                <a:solidFill>
                  <a:srgbClr val="FC8903"/>
                </a:solidFill>
                <a:latin typeface="JetBrains Mono"/>
              </a:rPr>
              <a:t>0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3218687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 .message.content')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3461003"/>
            <a:ext cx="4873752" cy="260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6F2EA"/>
                </a:solidFill>
                <a:latin typeface="JetBrains Mono"/>
              </a:rPr>
              <a:t>  </a:t>
            </a:r>
            <a:r>
              <a:rPr sz="1150" b="0" i="0">
                <a:solidFill>
                  <a:srgbClr val="FBC00A"/>
                </a:solidFill>
                <a:latin typeface="JetBrains Mono"/>
              </a:rPr>
              <a:t>AS</a:t>
            </a:r>
            <a:r>
              <a:rPr sz="1150" b="0" i="0">
                <a:solidFill>
                  <a:srgbClr val="F6F2EA"/>
                </a:solidFill>
                <a:latin typeface="JetBrains Mono"/>
              </a:rPr>
              <a:t> Answer;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F2A33"/>
                </a:solidFill>
                <a:latin typeface="Bricolage Grotesque"/>
              </a:rPr>
              <a:t>Key Concepts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2E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66344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JetBrains Mono"/>
              </a:rPr>
              <a:t>sp_invoke_external_rest_endpoint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23036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The T-SQL stored procedure that calls external REST APIs — this is how SQL talks to Azure OpenAI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9768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2892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66344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JetBrains Mono"/>
              </a:rPr>
              <a:t>JSON_VALUE for extraction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23036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Navigate the nested JSON response to extract the generated text from the LLM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480560"/>
            <a:ext cx="3593592" cy="1691640"/>
          </a:xfrm>
          <a:prstGeom prst="roundRect">
            <a:avLst>
              <a:gd name="adj" fmla="val 7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92440" y="4480560"/>
            <a:ext cx="3593592" cy="64008"/>
          </a:xfrm>
          <a:prstGeom prst="roundRect">
            <a:avLst>
              <a:gd name="adj" fmla="val 0"/>
            </a:avLst>
          </a:prstGeom>
          <a:solidFill>
            <a:srgbClr val="6B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663440"/>
            <a:ext cx="322783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A33"/>
                </a:solidFill>
                <a:latin typeface="JetBrains Mono"/>
              </a:rPr>
              <a:t>Error handling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230368"/>
            <a:ext cx="322783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8454F"/>
                </a:solidFill>
                <a:latin typeface="Nunito"/>
              </a:rPr>
              <a:t>Always wrap in TRY...CATCH — external API calls can fail due to rate limits, timeouts, or service issues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02920" y="1472184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RAG = Retrieve relevant data + Augment prompt with context + Generate grounded response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130552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3055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075688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Use RAG when data changes often; use fine-tuning only when data is static and domain-specific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788920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34056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sp_invoke_external_rest_endpoint is the bridge between T-SQL and external LLM APIs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447288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92424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JSON functions (JSON_OBJECT, JSON_ARRAY, JSON_ARRAYAGG, JSON_VALUE) are essential for RAG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105655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105655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50791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Always instruct the LLM to only answer based on provided context — this prevents hallucinations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764023"/>
            <a:ext cx="329184" cy="329184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764023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6F2EA"/>
                </a:solidFill>
                <a:latin typeface="Nunit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59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33"/>
                </a:solidFill>
                <a:latin typeface="Nunito"/>
              </a:rPr>
              <a:t>Retrieval quality drives RAG quality — invest in hybrid search + RRF for production systems</a:t>
            </a:r>
          </a:p>
        </p:txBody>
      </p:sp>
      <p:pic>
        <p:nvPicPr>
          <p:cNvPr id="22" name="Picture 21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332720" y="5349240"/>
            <a:ext cx="1234440" cy="1234440"/>
          </a:xfrm>
          <a:prstGeom prst="ellipse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0058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F2A33"/>
                </a:solidFill>
                <a:latin typeface="Bricolage Grotesque"/>
              </a:rPr>
              <a:t>The Complete Picture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87552"/>
            <a:ext cx="566928" cy="64008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3544824" cy="420624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3544824" cy="566928"/>
          </a:xfrm>
          <a:prstGeom prst="roundRect">
            <a:avLst>
              <a:gd name="adj" fmla="val 6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83664"/>
            <a:ext cx="3544824" cy="283464"/>
          </a:xfrm>
          <a:prstGeom prst="roundRect">
            <a:avLst>
              <a:gd name="adj" fmla="val 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5448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Models &amp; Embeddings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1BBD7"/>
                </a:solidFill>
                <a:latin typeface="Nunito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CREATE EXTERNAL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44952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1BBD7"/>
                </a:solidFill>
                <a:latin typeface="Nunito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44952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Chunking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1BBD7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66744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AI_GENERATE_EMBEDDINGS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88536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1BBD7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88536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VECTOR(n) data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10327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1BBD7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910327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Maintenance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2064" y="1600200"/>
            <a:ext cx="3544824" cy="420624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2064" y="1600200"/>
            <a:ext cx="3544824" cy="566928"/>
          </a:xfrm>
          <a:prstGeom prst="roundRect">
            <a:avLst>
              <a:gd name="adj" fmla="val 600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2064" y="1883664"/>
            <a:ext cx="3544824" cy="283464"/>
          </a:xfrm>
          <a:prstGeom prst="roundRect">
            <a:avLst>
              <a:gd name="adj" fmla="val 0"/>
            </a:avLst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2064" y="1600200"/>
            <a:ext cx="35448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Intelligent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6384" y="2423160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B283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9264" y="2423160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Full-text: CONTAINS / FREETEXT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6384" y="3044952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B283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9264" y="3044952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Vector: VECTOR_DISTANCE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6384" y="3666744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B283"/>
                </a:solidFill>
                <a:latin typeface="Nuni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9264" y="3666744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ANN vs KNN (DiskANN index)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6384" y="4288536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B283"/>
                </a:solidFill>
                <a:latin typeface="Nuni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9264" y="4288536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Hybrid 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6384" y="4910327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3BB283"/>
                </a:solidFill>
                <a:latin typeface="Nunito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9264" y="4910327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Reciprocal Rank Fusion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1208" y="1600200"/>
            <a:ext cx="3544824" cy="420624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41208" y="1600200"/>
            <a:ext cx="3544824" cy="566928"/>
          </a:xfrm>
          <a:prstGeom prst="roundRect">
            <a:avLst>
              <a:gd name="adj" fmla="val 600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41208" y="1883664"/>
            <a:ext cx="3544824" cy="283464"/>
          </a:xfrm>
          <a:prstGeom prst="roundRect">
            <a:avLst>
              <a:gd name="adj" fmla="val 0"/>
            </a:avLst>
          </a:prstGeom>
          <a:solidFill>
            <a:srgbClr val="D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41208" y="1600200"/>
            <a:ext cx="354482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Bricolage Grotesque"/>
              </a:rPr>
              <a:t>RAG with 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5528" y="2423160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5D5D"/>
                </a:solidFill>
                <a:latin typeface="Nuni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8408" y="2423160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Retrieve → Format → Prompt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5528" y="3044952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5D5D"/>
                </a:solidFill>
                <a:latin typeface="Nunito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8408" y="3044952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JSON shaping functions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5528" y="3666744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5D5D"/>
                </a:solidFill>
                <a:latin typeface="Nunito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8408" y="3666744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sp_invoke_external_rest_endpoint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5528" y="4288536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5D5D"/>
                </a:solidFill>
                <a:latin typeface="Nunito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8408" y="4288536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System + user messages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5528" y="4910327"/>
            <a:ext cx="29961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D5D5D"/>
                </a:solidFill>
                <a:latin typeface="Nunito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8408" y="4910327"/>
            <a:ext cx="28590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8454F"/>
                </a:solidFill>
                <a:latin typeface="Nunito"/>
              </a:rPr>
              <a:t>Response extraction</a:t>
            </a:r>
          </a:p>
        </p:txBody>
      </p:sp>
      <p:pic>
        <p:nvPicPr>
          <p:cNvPr id="46" name="Picture 45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972800" y="5989320"/>
            <a:ext cx="685800" cy="685800"/>
          </a:xfrm>
          <a:prstGeom prst="ellipse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02920" y="6519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100">
                <a:solidFill>
                  <a:srgbClr val="6B7780"/>
                </a:solidFill>
                <a:latin typeface="JetBrains Mono"/>
              </a:rPr>
              <a:t>BRING AI TO SQL · MODULE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6519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780"/>
                </a:solidFill>
                <a:latin typeface="JetBrains Mono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6000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F2A33"/>
                </a:solidFill>
                <a:latin typeface="Bricolage Grotesque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65560"/>
            <a:ext cx="658368" cy="73152"/>
          </a:xfrm>
          <a:prstGeom prst="roundRect">
            <a:avLst>
              <a:gd name="adj" fmla="val 50000"/>
            </a:avLst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18712"/>
            <a:ext cx="11185855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6"/>
                </a:solidFill>
                <a:latin typeface="Nunito"/>
              </a:rPr>
              <a:t>Bookmark these — they cover the official exam page and the full video series.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8712"/>
            <a:ext cx="11185855" cy="140000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5875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394392"/>
            <a:ext cx="548640" cy="548640"/>
          </a:xfrm>
          <a:prstGeom prst="ellipse">
            <a:avLst/>
          </a:prstGeom>
          <a:solidFill>
            <a:srgbClr val="51BB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943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Nunit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88168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Nunito"/>
              </a:rPr>
              <a:t>Official DP-800 certification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71580"/>
            <a:ext cx="9997135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">
                <a:solidFill>
                  <a:srgbClr val="2E9CBA"/>
                </a:solidFill>
                <a:latin typeface="JetBrains Mono"/>
              </a:rPr>
              <a:t>https://learn.microsoft.com/en-us/credentials/certifications/developing-ai-enabled-database-solutions/?practice-assessment-type=certification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8712"/>
            <a:ext cx="11185855" cy="1400000"/>
          </a:xfrm>
          <a:prstGeom prst="roundRect">
            <a:avLst>
              <a:gd name="adj" fmla="val 6000"/>
            </a:avLst>
          </a:prstGeom>
          <a:solidFill>
            <a:srgbClr val="FDFAF3"/>
          </a:solidFill>
          <a:ln w="15875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4044392"/>
            <a:ext cx="548640" cy="548640"/>
          </a:xfrm>
          <a:prstGeom prst="ellipse">
            <a:avLst/>
          </a:prstGeom>
          <a:solidFill>
            <a:srgbClr val="3BB2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044392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6F2EA"/>
                </a:solidFill>
                <a:latin typeface="Nunit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838168"/>
            <a:ext cx="999713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33"/>
                </a:solidFill>
                <a:latin typeface="Nunito"/>
              </a:rPr>
              <a:t>Community series — Microsoft Reactor (Data Days: The SQL AI Series)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21580"/>
            <a:ext cx="9997135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">
                <a:solidFill>
                  <a:srgbClr val="2E9CBA"/>
                </a:solidFill>
                <a:latin typeface="JetBrains Mono"/>
              </a:rPr>
              <a:t>https://developer.microsoft.com/en-us/reactor/series/S-1683/?wt.mc_id=datadayslive_S-1683_email_reactor</a:t>
            </a:r>
          </a:p>
        </p:txBody>
      </p:sp>
      <p:pic>
        <p:nvPicPr>
          <p:cNvPr id="15" name="Picture 14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88775" y="5109360"/>
            <a:ext cx="1200000" cy="1200000"/>
          </a:xfrm>
          <a:prstGeom prst="ellipse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76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480560"/>
            <a:ext cx="4937760" cy="4937760"/>
          </a:xfrm>
          <a:prstGeom prst="ellipse">
            <a:avLst/>
          </a:prstGeom>
          <a:solidFill>
            <a:srgbClr val="2C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aptain-corgi-avatar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181447" y="457200"/>
            <a:ext cx="1828800" cy="1828800"/>
          </a:xfrm>
          <a:prstGeom prst="ellipse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23847" y="2505456"/>
            <a:ext cx="9144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6F2EA"/>
                </a:solidFill>
                <a:latin typeface="Bricolage Grotesque"/>
              </a:rPr>
              <a:t>Thank you,</a:t>
            </a:r>
          </a:p>
          <a:p>
            <a:pPr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BC00A"/>
                </a:solidFill>
                <a:latin typeface="Bricolage Grotesque"/>
              </a:rPr>
              <a:t>crew!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6663" y="4251376"/>
            <a:ext cx="658368" cy="73152"/>
          </a:xfrm>
          <a:prstGeom prst="roundRect">
            <a:avLst>
              <a:gd name="adj" fmla="val 50000"/>
            </a:avLst>
          </a:prstGeom>
          <a:solidFill>
            <a:srgbClr val="FBC0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81047" y="4507408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0ECE4"/>
                </a:solidFill>
                <a:latin typeface="Nunito"/>
              </a:rPr>
              <a:t>You've got the skills to bring embeddings, intelligent search, and RAG into your SQL solutions — now go build something great.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847" y="644652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spc="60">
                <a:solidFill>
                  <a:srgbClr val="9FC3D1"/>
                </a:solidFill>
                <a:latin typeface="JetBrains Mono"/>
              </a:rPr>
              <a:t>captain-corgi-hub · set sail on better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ptain Corgi Hub">
      <a:dk1>
        <a:srgbClr val="1F2A33"/>
      </a:dk1>
      <a:lt1>
        <a:srgbClr val="F6F2EA"/>
      </a:lt1>
      <a:dk2>
        <a:srgbClr val="3D768E"/>
      </a:dk2>
      <a:lt2>
        <a:srgbClr val="EFE9DC"/>
      </a:lt2>
      <a:accent1>
        <a:srgbClr val="FC8903"/>
      </a:accent1>
      <a:accent2>
        <a:srgbClr val="E13429"/>
      </a:accent2>
      <a:accent3>
        <a:srgbClr val="FBC00A"/>
      </a:accent3>
      <a:accent4>
        <a:srgbClr val="51BBD7"/>
      </a:accent4>
      <a:accent5>
        <a:srgbClr val="3BB283"/>
      </a:accent5>
      <a:accent6>
        <a:srgbClr val="DD5D5D"/>
      </a:accent6>
      <a:hlink>
        <a:srgbClr val="2E9CBA"/>
      </a:hlink>
      <a:folHlink>
        <a:srgbClr val="E13429"/>
      </a:folHlink>
    </a:clrScheme>
    <a:fontScheme name="Office">
      <a:majorFont>
        <a:latin typeface="Bricolage Grotesq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uni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