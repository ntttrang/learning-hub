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D768E"/>
        </a:solidFill>
        <a:effectLst/>
      </p:bgPr>
    </p:bg>
    <p:spTree>
      <p:nvGrpSpPr>
        <p:cNvPr id="1" name=""/>
        <p:cNvGrpSpPr/>
        <p:nvPr/>
      </p:nvGrpSpPr>
      <p:grpSpPr/>
      <p:sp>
        <p:nvSpPr>
          <p:cNvPr id="2" name="Oval 1"/>
          <p:cNvSpPr/>
          <p:nvPr/>
        </p:nvSpPr>
        <p:spPr>
          <a:xfrm>
            <a:off x="-2194560" y="3108960"/>
            <a:ext cx="6766560" cy="6766560"/>
          </a:xfrm>
          <a:prstGeom prst="ellipse">
            <a:avLst/>
          </a:prstGeom>
          <a:solidFill>
            <a:srgbClr val="538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tar.png"/>
          <p:cNvPicPr>
            <a:picLocks noChangeAspect="1"/>
          </p:cNvPicPr>
          <p:nvPr/>
        </p:nvPicPr>
        <p:blipFill>
          <a:blip r:embed="rId2"/>
          <a:stretch>
            <a:fillRect/>
          </a:stretch>
        </p:blipFill>
        <p:spPr>
          <a:xfrm>
            <a:off x="548640" y="914400"/>
            <a:ext cx="868680" cy="868680"/>
          </a:xfrm>
          <a:prstGeom prst="rect">
            <a:avLst/>
          </a:prstGeom>
        </p:spPr>
      </p:pic>
      <p:sp>
        <p:nvSpPr>
          <p:cNvPr id="4" name="TextBox 3"/>
          <p:cNvSpPr txBox="1"/>
          <p:nvPr/>
        </p:nvSpPr>
        <p:spPr>
          <a:xfrm>
            <a:off x="548640" y="2011680"/>
            <a:ext cx="8869680" cy="2651760"/>
          </a:xfrm>
          <a:prstGeom prst="rect">
            <a:avLst/>
          </a:prstGeom>
          <a:noFill/>
        </p:spPr>
        <p:txBody>
          <a:bodyPr wrap="square" lIns="0" rIns="0" tIns="0" bIns="0">
            <a:spAutoFit/>
          </a:bodyPr>
          <a:lstStyle/>
          <a:p>
            <a:pPr>
              <a:lnSpc>
                <a:spcPct val="102000"/>
              </a:lnSpc>
              <a:spcAft>
                <a:spcPts val="0"/>
              </a:spcAft>
            </a:pPr>
            <a:r>
              <a:rPr sz="5400" b="1" i="0">
                <a:solidFill>
                  <a:srgbClr val="F6F2EA"/>
                </a:solidFill>
                <a:latin typeface="Bricolage Grotesque"/>
              </a:rPr>
              <a:t>Design and Develop SQL</a:t>
            </a:r>
          </a:p>
          <a:p>
            <a:pPr>
              <a:lnSpc>
                <a:spcPct val="102000"/>
              </a:lnSpc>
              <a:spcAft>
                <a:spcPts val="0"/>
              </a:spcAft>
            </a:pPr>
            <a:r>
              <a:rPr sz="5400" b="1" i="0">
                <a:solidFill>
                  <a:srgbClr val="FBC00A"/>
                </a:solidFill>
                <a:latin typeface="Bricolage Grotesque"/>
              </a:rPr>
              <a:t>Solutions Like a Pro</a:t>
            </a:r>
          </a:p>
        </p:txBody>
      </p:sp>
      <p:pic>
        <p:nvPicPr>
          <p:cNvPr id="5" name="Picture 4" descr="captain-corgi-avatar.png"/>
          <p:cNvPicPr>
            <a:picLocks noChangeAspect="1"/>
          </p:cNvPicPr>
          <p:nvPr/>
        </p:nvPicPr>
        <p:blipFill>
          <a:blip r:embed="rId3"/>
          <a:stretch>
            <a:fillRect/>
          </a:stretch>
        </p:blipFill>
        <p:spPr>
          <a:xfrm>
            <a:off x="9174175" y="777240"/>
            <a:ext cx="2240280" cy="2240280"/>
          </a:xfrm>
          <a:prstGeom prst="rect">
            <a:avLst/>
          </a:prstGeom>
        </p:spPr>
      </p:pic>
      <p:sp>
        <p:nvSpPr>
          <p:cNvPr id="6" name="Rounded Rectangle 5"/>
          <p:cNvSpPr/>
          <p:nvPr/>
        </p:nvSpPr>
        <p:spPr>
          <a:xfrm>
            <a:off x="548640" y="4480560"/>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74320"/>
            <a:ext cx="9082735" cy="640080"/>
          </a:xfrm>
          <a:prstGeom prst="rect">
            <a:avLst/>
          </a:prstGeom>
          <a:noFill/>
        </p:spPr>
        <p:txBody>
          <a:bodyPr wrap="square" lIns="0" rIns="0" tIns="0" bIns="0">
            <a:spAutoFit/>
          </a:bodyPr>
          <a:lstStyle/>
          <a:p>
            <a:pPr>
              <a:lnSpc>
                <a:spcPct val="105000"/>
              </a:lnSpc>
              <a:spcAft>
                <a:spcPts val="0"/>
              </a:spcAft>
            </a:pPr>
            <a:r>
              <a:rPr sz="3400" b="1" i="0">
                <a:solidFill>
                  <a:srgbClr val="1F2A33"/>
                </a:solidFill>
                <a:latin typeface="Bricolage Grotesque"/>
              </a:rPr>
              <a:t>Microsoft Certified: </a:t>
            </a:r>
            <a:r>
              <a:rPr sz="2900" b="1" i="0">
                <a:solidFill>
                  <a:srgbClr val="1F2A33"/>
                </a:solidFill>
                <a:latin typeface="Bricolage Grotesque"/>
              </a:rPr>
              <a:t>SQL AI Developer Associate</a:t>
            </a:r>
          </a:p>
        </p:txBody>
      </p:sp>
      <p:sp>
        <p:nvSpPr>
          <p:cNvPr id="3" name="TextBox 2"/>
          <p:cNvSpPr txBox="1"/>
          <p:nvPr/>
        </p:nvSpPr>
        <p:spPr>
          <a:xfrm>
            <a:off x="548640" y="987552"/>
            <a:ext cx="9082735" cy="411480"/>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Exam: </a:t>
            </a:r>
            <a:r>
              <a:rPr sz="1500" b="1" i="0">
                <a:solidFill>
                  <a:srgbClr val="1F2A33"/>
                </a:solidFill>
                <a:latin typeface="Nunito"/>
              </a:rPr>
              <a:t>DP-800</a:t>
            </a:r>
            <a:r>
              <a:rPr sz="1500" b="0" i="0">
                <a:solidFill>
                  <a:srgbClr val="1F2A33"/>
                </a:solidFill>
                <a:latin typeface="Nunito"/>
              </a:rPr>
              <a:t> | Role: </a:t>
            </a:r>
            <a:r>
              <a:rPr sz="1500" b="1" i="0">
                <a:solidFill>
                  <a:srgbClr val="1F2A33"/>
                </a:solidFill>
                <a:latin typeface="Nunito"/>
              </a:rPr>
              <a:t>Developer</a:t>
            </a:r>
            <a:r>
              <a:rPr sz="1500" b="0" i="0">
                <a:solidFill>
                  <a:srgbClr val="1F2A33"/>
                </a:solidFill>
                <a:latin typeface="Nunito"/>
              </a:rPr>
              <a:t> Level: </a:t>
            </a:r>
            <a:r>
              <a:rPr sz="1500" b="1" i="0">
                <a:solidFill>
                  <a:srgbClr val="1F2A33"/>
                </a:solidFill>
                <a:latin typeface="Nunito"/>
              </a:rPr>
              <a:t>Intermediate</a:t>
            </a:r>
          </a:p>
        </p:txBody>
      </p:sp>
      <p:pic>
        <p:nvPicPr>
          <p:cNvPr id="4" name="Picture 3" descr="captain-corgi-avatar.png"/>
          <p:cNvPicPr>
            <a:picLocks noChangeAspect="1"/>
          </p:cNvPicPr>
          <p:nvPr/>
        </p:nvPicPr>
        <p:blipFill>
          <a:blip r:embed="rId2"/>
          <a:stretch>
            <a:fillRect/>
          </a:stretch>
        </p:blipFill>
        <p:spPr>
          <a:xfrm>
            <a:off x="10225735" y="274320"/>
            <a:ext cx="1234440" cy="1234440"/>
          </a:xfrm>
          <a:prstGeom prst="rect">
            <a:avLst/>
          </a:prstGeom>
        </p:spPr>
      </p:pic>
      <p:sp>
        <p:nvSpPr>
          <p:cNvPr id="5" name="Rounded Rectangle 4"/>
          <p:cNvSpPr/>
          <p:nvPr/>
        </p:nvSpPr>
        <p:spPr>
          <a:xfrm>
            <a:off x="548640" y="1737360"/>
            <a:ext cx="3484778" cy="47091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737360"/>
            <a:ext cx="3192170"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920240"/>
            <a:ext cx="3045866" cy="4343400"/>
          </a:xfrm>
          <a:prstGeom prst="rect">
            <a:avLst/>
          </a:prstGeom>
          <a:noFill/>
        </p:spPr>
        <p:txBody>
          <a:bodyPr wrap="square" lIns="0" rIns="0" tIns="0" bIns="0">
            <a:spAutoFit/>
          </a:bodyPr>
          <a:lstStyle/>
          <a:p>
            <a:pPr>
              <a:lnSpc>
                <a:spcPct val="105000"/>
              </a:lnSpc>
              <a:spcAft>
                <a:spcPts val="1000"/>
              </a:spcAft>
            </a:pPr>
            <a:r>
              <a:rPr sz="1800" b="1" i="0">
                <a:solidFill>
                  <a:srgbClr val="1F2A33"/>
                </a:solidFill>
                <a:latin typeface="Bricolage Grotesque"/>
              </a:rPr>
              <a:t>Core Platforms</a:t>
            </a:r>
          </a:p>
          <a:p>
            <a:pPr marL="182880" indent="-182880">
              <a:lnSpc>
                <a:spcPct val="105000"/>
              </a:lnSpc>
              <a:spcAft>
                <a:spcPts val="800"/>
              </a:spcAft>
              <a:buFont typeface="Nunito"/>
              <a:buChar char="•"/>
            </a:pPr>
            <a:r>
              <a:rPr sz="1250" b="0" i="0">
                <a:solidFill>
                  <a:srgbClr val="1F2A33"/>
                </a:solidFill>
                <a:latin typeface="Nunito"/>
              </a:rPr>
              <a:t>Microsoft SQL Server</a:t>
            </a:r>
          </a:p>
          <a:p>
            <a:pPr marL="182880" indent="-182880">
              <a:lnSpc>
                <a:spcPct val="105000"/>
              </a:lnSpc>
              <a:spcAft>
                <a:spcPts val="800"/>
              </a:spcAft>
              <a:buFont typeface="Nunito"/>
              <a:buChar char="•"/>
            </a:pPr>
            <a:r>
              <a:rPr sz="1250" b="0" i="0">
                <a:solidFill>
                  <a:srgbClr val="1F2A33"/>
                </a:solidFill>
                <a:latin typeface="Nunito"/>
              </a:rPr>
              <a:t>Azure SQL</a:t>
            </a:r>
          </a:p>
          <a:p>
            <a:pPr marL="182880" indent="-182880">
              <a:lnSpc>
                <a:spcPct val="105000"/>
              </a:lnSpc>
              <a:spcAft>
                <a:spcPts val="800"/>
              </a:spcAft>
              <a:buFont typeface="Nunito"/>
              <a:buChar char="•"/>
            </a:pPr>
            <a:r>
              <a:rPr sz="1250" b="0" i="0">
                <a:solidFill>
                  <a:srgbClr val="1F2A33"/>
                </a:solidFill>
                <a:latin typeface="Nunito"/>
              </a:rPr>
              <a:t>SQL databases in Microsoft Fabric</a:t>
            </a:r>
          </a:p>
        </p:txBody>
      </p:sp>
      <p:sp>
        <p:nvSpPr>
          <p:cNvPr id="8" name="Rounded Rectangle 7"/>
          <p:cNvSpPr/>
          <p:nvPr/>
        </p:nvSpPr>
        <p:spPr>
          <a:xfrm>
            <a:off x="4353458" y="1737360"/>
            <a:ext cx="3484778" cy="47091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99762" y="1737360"/>
            <a:ext cx="3192170"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914" y="1920240"/>
            <a:ext cx="3045866" cy="4343400"/>
          </a:xfrm>
          <a:prstGeom prst="rect">
            <a:avLst/>
          </a:prstGeom>
          <a:noFill/>
        </p:spPr>
        <p:txBody>
          <a:bodyPr wrap="square" lIns="0" rIns="0" tIns="0" bIns="0">
            <a:spAutoFit/>
          </a:bodyPr>
          <a:lstStyle/>
          <a:p>
            <a:pPr>
              <a:lnSpc>
                <a:spcPct val="105000"/>
              </a:lnSpc>
              <a:spcAft>
                <a:spcPts val="1000"/>
              </a:spcAft>
            </a:pPr>
            <a:r>
              <a:rPr sz="1800" b="1" i="0">
                <a:solidFill>
                  <a:srgbClr val="1F2A33"/>
                </a:solidFill>
                <a:latin typeface="Bricolage Grotesque"/>
              </a:rPr>
              <a:t>Key Skills</a:t>
            </a:r>
          </a:p>
          <a:p>
            <a:pPr marL="182880" indent="-182880">
              <a:lnSpc>
                <a:spcPct val="105000"/>
              </a:lnSpc>
              <a:spcAft>
                <a:spcPts val="800"/>
              </a:spcAft>
              <a:buFont typeface="Nunito"/>
              <a:buChar char="•"/>
            </a:pPr>
            <a:r>
              <a:rPr sz="1250" b="0" i="0">
                <a:solidFill>
                  <a:srgbClr val="1F2A33"/>
                </a:solidFill>
                <a:latin typeface="Nunito"/>
              </a:rPr>
              <a:t>T-SQL development</a:t>
            </a:r>
          </a:p>
          <a:p>
            <a:pPr marL="182880" indent="-182880">
              <a:lnSpc>
                <a:spcPct val="105000"/>
              </a:lnSpc>
              <a:spcAft>
                <a:spcPts val="800"/>
              </a:spcAft>
              <a:buFont typeface="Nunito"/>
              <a:buChar char="•"/>
            </a:pPr>
            <a:r>
              <a:rPr sz="1250" b="0" i="0">
                <a:solidFill>
                  <a:srgbClr val="1F2A33"/>
                </a:solidFill>
                <a:latin typeface="Nunito"/>
              </a:rPr>
              <a:t>Designing relational and semi-structured data models</a:t>
            </a:r>
          </a:p>
          <a:p>
            <a:pPr marL="182880" indent="-182880">
              <a:lnSpc>
                <a:spcPct val="105000"/>
              </a:lnSpc>
              <a:spcAft>
                <a:spcPts val="800"/>
              </a:spcAft>
              <a:buFont typeface="Nunito"/>
              <a:buChar char="•"/>
            </a:pPr>
            <a:r>
              <a:rPr sz="1250" b="0" i="0">
                <a:solidFill>
                  <a:srgbClr val="1F2A33"/>
                </a:solidFill>
                <a:latin typeface="Nunito"/>
              </a:rPr>
              <a:t>CI/CD with GitHub</a:t>
            </a:r>
          </a:p>
          <a:p>
            <a:pPr marL="182880" indent="-182880">
              <a:lnSpc>
                <a:spcPct val="105000"/>
              </a:lnSpc>
              <a:spcAft>
                <a:spcPts val="800"/>
              </a:spcAft>
              <a:buFont typeface="Nunito"/>
              <a:buChar char="•"/>
            </a:pPr>
            <a:r>
              <a:rPr sz="1250" b="0" i="0">
                <a:solidFill>
                  <a:srgbClr val="1F2A33"/>
                </a:solidFill>
                <a:latin typeface="Nunito"/>
              </a:rPr>
              <a:t>AI fundamentals: embeddings, vectors, models</a:t>
            </a:r>
          </a:p>
          <a:p>
            <a:pPr marL="182880" indent="-182880">
              <a:lnSpc>
                <a:spcPct val="105000"/>
              </a:lnSpc>
              <a:spcAft>
                <a:spcPts val="800"/>
              </a:spcAft>
              <a:buFont typeface="Nunito"/>
              <a:buChar char="•"/>
            </a:pPr>
            <a:r>
              <a:rPr sz="1250" b="0" i="0">
                <a:solidFill>
                  <a:srgbClr val="1F2A33"/>
                </a:solidFill>
                <a:latin typeface="Nunito"/>
              </a:rPr>
              <a:t>AI-assisted development tools</a:t>
            </a:r>
          </a:p>
        </p:txBody>
      </p:sp>
      <p:sp>
        <p:nvSpPr>
          <p:cNvPr id="11" name="Rounded Rectangle 10"/>
          <p:cNvSpPr/>
          <p:nvPr/>
        </p:nvSpPr>
        <p:spPr>
          <a:xfrm>
            <a:off x="8158276" y="1737360"/>
            <a:ext cx="3484778" cy="47091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04580" y="1737360"/>
            <a:ext cx="3192170"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77732" y="1920240"/>
            <a:ext cx="3045866" cy="4343400"/>
          </a:xfrm>
          <a:prstGeom prst="rect">
            <a:avLst/>
          </a:prstGeom>
          <a:noFill/>
        </p:spPr>
        <p:txBody>
          <a:bodyPr wrap="square" lIns="0" rIns="0" tIns="0" bIns="0">
            <a:spAutoFit/>
          </a:bodyPr>
          <a:lstStyle/>
          <a:p>
            <a:pPr>
              <a:lnSpc>
                <a:spcPct val="105000"/>
              </a:lnSpc>
              <a:spcAft>
                <a:spcPts val="1000"/>
              </a:spcAft>
            </a:pPr>
            <a:r>
              <a:rPr sz="1800" b="1" i="0">
                <a:solidFill>
                  <a:srgbClr val="1F2A33"/>
                </a:solidFill>
                <a:latin typeface="Bricolage Grotesque"/>
              </a:rPr>
              <a:t>Role</a:t>
            </a:r>
          </a:p>
          <a:p>
            <a:pPr marL="182880" indent="-182880">
              <a:lnSpc>
                <a:spcPct val="105000"/>
              </a:lnSpc>
              <a:spcAft>
                <a:spcPts val="800"/>
              </a:spcAft>
              <a:buFont typeface="Nunito"/>
              <a:buChar char="•"/>
            </a:pPr>
            <a:r>
              <a:rPr sz="1250" b="0" i="0">
                <a:solidFill>
                  <a:srgbClr val="1F2A33"/>
                </a:solidFill>
                <a:latin typeface="Nunito"/>
              </a:rPr>
              <a:t>Build secure, scalable database solutions</a:t>
            </a:r>
          </a:p>
          <a:p>
            <a:pPr marL="182880" indent="-182880">
              <a:lnSpc>
                <a:spcPct val="105000"/>
              </a:lnSpc>
              <a:spcAft>
                <a:spcPts val="800"/>
              </a:spcAft>
              <a:buFont typeface="Nunito"/>
              <a:buChar char="•"/>
            </a:pPr>
            <a:r>
              <a:rPr sz="1250" b="0" i="0">
                <a:solidFill>
                  <a:srgbClr val="1F2A33"/>
                </a:solidFill>
                <a:latin typeface="Nunito"/>
              </a:rPr>
              <a:t>Integrate AI into database-driven applications</a:t>
            </a:r>
          </a:p>
          <a:p>
            <a:pPr marL="182880" indent="-182880">
              <a:lnSpc>
                <a:spcPct val="105000"/>
              </a:lnSpc>
              <a:spcAft>
                <a:spcPts val="800"/>
              </a:spcAft>
              <a:buFont typeface="Nunito"/>
              <a:buChar char="•"/>
            </a:pPr>
            <a:r>
              <a:rPr sz="1250" b="0" i="0">
                <a:solidFill>
                  <a:srgbClr val="1F2A33"/>
                </a:solidFill>
                <a:latin typeface="Nunito"/>
              </a:rPr>
              <a:t>Optimize, deploy, and govern SQL workloads</a:t>
            </a:r>
          </a:p>
          <a:p>
            <a:pPr marL="182880" indent="-182880">
              <a:lnSpc>
                <a:spcPct val="105000"/>
              </a:lnSpc>
              <a:spcAft>
                <a:spcPts val="800"/>
              </a:spcAft>
              <a:buFont typeface="Nunito"/>
              <a:buChar char="•"/>
            </a:pPr>
            <a:r>
              <a:rPr sz="1250" b="0" i="0">
                <a:solidFill>
                  <a:srgbClr val="1F2A33"/>
                </a:solidFill>
                <a:latin typeface="Nunito"/>
              </a:rPr>
              <a:t>Work with App developers, DBAs, architects, AI and DevSecOps engineers, Security and compliance teams</a:t>
            </a:r>
          </a:p>
        </p:txBody>
      </p:sp>
      <p:sp>
        <p:nvSpPr>
          <p:cNvPr id="14" name="TextBox 13"/>
          <p:cNvSpPr txBox="1"/>
          <p:nvPr/>
        </p:nvSpPr>
        <p:spPr>
          <a:xfrm>
            <a:off x="502920" y="6519672"/>
            <a:ext cx="7213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SOLUTIONS LIKE A PRO</a:t>
            </a:r>
          </a:p>
        </p:txBody>
      </p:sp>
      <p:sp>
        <p:nvSpPr>
          <p:cNvPr id="15" name="TextBox 14"/>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Table of Contents</a:t>
            </a:r>
          </a:p>
        </p:txBody>
      </p:sp>
      <p:sp>
        <p:nvSpPr>
          <p:cNvPr id="3" name="Rounded Rectangle 2"/>
          <p:cNvSpPr/>
          <p:nvPr/>
        </p:nvSpPr>
        <p:spPr>
          <a:xfrm>
            <a:off x="548640" y="932688"/>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737360"/>
            <a:ext cx="11094415" cy="96012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737360"/>
            <a:ext cx="10801807"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8" y="1906524"/>
            <a:ext cx="621792" cy="621792"/>
          </a:xfrm>
          <a:prstGeom prst="ellipse">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spcAft>
                <a:spcPts val="0"/>
              </a:spcAft>
            </a:pPr>
            <a:r>
              <a:rPr sz="2200" b="1" i="0">
                <a:solidFill>
                  <a:srgbClr val="F6F2EA"/>
                </a:solidFill>
                <a:latin typeface="Bricolage Grotesque"/>
              </a:rPr>
              <a:t>1</a:t>
            </a:r>
          </a:p>
        </p:txBody>
      </p:sp>
      <p:sp>
        <p:nvSpPr>
          <p:cNvPr id="7" name="TextBox 6"/>
          <p:cNvSpPr txBox="1"/>
          <p:nvPr/>
        </p:nvSpPr>
        <p:spPr>
          <a:xfrm>
            <a:off x="1783080" y="1737360"/>
            <a:ext cx="9601200" cy="960120"/>
          </a:xfrm>
          <a:prstGeom prst="rect">
            <a:avLst/>
          </a:prstGeom>
          <a:noFill/>
        </p:spPr>
        <p:txBody>
          <a:bodyPr wrap="square" lIns="0" rIns="0" tIns="0" bIns="0" anchor="ctr">
            <a:spAutoFit/>
          </a:bodyPr>
          <a:lstStyle/>
          <a:p>
            <a:pPr>
              <a:lnSpc>
                <a:spcPct val="105000"/>
              </a:lnSpc>
              <a:spcAft>
                <a:spcPts val="200"/>
              </a:spcAft>
            </a:pPr>
            <a:r>
              <a:rPr sz="1250" b="1" i="0">
                <a:solidFill>
                  <a:srgbClr val="479EB6"/>
                </a:solidFill>
                <a:latin typeface="Nunito"/>
              </a:rPr>
              <a:t>Module 1</a:t>
            </a:r>
          </a:p>
          <a:p>
            <a:pPr>
              <a:lnSpc>
                <a:spcPct val="105000"/>
              </a:lnSpc>
              <a:spcAft>
                <a:spcPts val="0"/>
              </a:spcAft>
            </a:pPr>
            <a:r>
              <a:rPr sz="1800" b="1" i="0">
                <a:solidFill>
                  <a:srgbClr val="1F2A33"/>
                </a:solidFill>
                <a:latin typeface="Bricolage Grotesque"/>
              </a:rPr>
              <a:t>Design &amp; Implement Database Objects</a:t>
            </a:r>
          </a:p>
        </p:txBody>
      </p:sp>
      <p:sp>
        <p:nvSpPr>
          <p:cNvPr id="8" name="Rounded Rectangle 7"/>
          <p:cNvSpPr/>
          <p:nvPr/>
        </p:nvSpPr>
        <p:spPr>
          <a:xfrm>
            <a:off x="548640" y="2953512"/>
            <a:ext cx="11094415" cy="96012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4944" y="2953512"/>
            <a:ext cx="10801807"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122676"/>
            <a:ext cx="621792" cy="621792"/>
          </a:xfrm>
          <a:prstGeom prst="ellipse">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spcAft>
                <a:spcPts val="0"/>
              </a:spcAft>
            </a:pPr>
            <a:r>
              <a:rPr sz="2200" b="1" i="0">
                <a:solidFill>
                  <a:srgbClr val="F6F2EA"/>
                </a:solidFill>
                <a:latin typeface="Bricolage Grotesque"/>
              </a:rPr>
              <a:t>2</a:t>
            </a:r>
          </a:p>
        </p:txBody>
      </p:sp>
      <p:sp>
        <p:nvSpPr>
          <p:cNvPr id="11" name="TextBox 10"/>
          <p:cNvSpPr txBox="1"/>
          <p:nvPr/>
        </p:nvSpPr>
        <p:spPr>
          <a:xfrm>
            <a:off x="1783080" y="2953512"/>
            <a:ext cx="9601200" cy="960120"/>
          </a:xfrm>
          <a:prstGeom prst="rect">
            <a:avLst/>
          </a:prstGeom>
          <a:noFill/>
        </p:spPr>
        <p:txBody>
          <a:bodyPr wrap="square" lIns="0" rIns="0" tIns="0" bIns="0" anchor="ctr">
            <a:spAutoFit/>
          </a:bodyPr>
          <a:lstStyle/>
          <a:p>
            <a:pPr>
              <a:lnSpc>
                <a:spcPct val="105000"/>
              </a:lnSpc>
              <a:spcAft>
                <a:spcPts val="200"/>
              </a:spcAft>
            </a:pPr>
            <a:r>
              <a:rPr sz="1250" b="1" i="0">
                <a:solidFill>
                  <a:srgbClr val="359773"/>
                </a:solidFill>
                <a:latin typeface="Nunito"/>
              </a:rPr>
              <a:t>Module 2</a:t>
            </a:r>
          </a:p>
          <a:p>
            <a:pPr>
              <a:lnSpc>
                <a:spcPct val="105000"/>
              </a:lnSpc>
              <a:spcAft>
                <a:spcPts val="0"/>
              </a:spcAft>
            </a:pPr>
            <a:r>
              <a:rPr sz="1800" b="1" i="0">
                <a:solidFill>
                  <a:srgbClr val="1F2A33"/>
                </a:solidFill>
                <a:latin typeface="Bricolage Grotesque"/>
              </a:rPr>
              <a:t>Implement Programmability Objects</a:t>
            </a:r>
          </a:p>
        </p:txBody>
      </p:sp>
      <p:sp>
        <p:nvSpPr>
          <p:cNvPr id="12" name="Rounded Rectangle 11"/>
          <p:cNvSpPr/>
          <p:nvPr/>
        </p:nvSpPr>
        <p:spPr>
          <a:xfrm>
            <a:off x="548640" y="4169664"/>
            <a:ext cx="11094415" cy="96012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94944" y="4169664"/>
            <a:ext cx="10801807" cy="68580"/>
          </a:xfrm>
          <a:prstGeom prst="roundRect">
            <a:avLst>
              <a:gd name="adj" fmla="val 50000"/>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1248" y="4338828"/>
            <a:ext cx="621792" cy="621792"/>
          </a:xfrm>
          <a:prstGeom prst="ellipse">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spcAft>
                <a:spcPts val="0"/>
              </a:spcAft>
            </a:pPr>
            <a:r>
              <a:rPr sz="2200" b="1" i="0">
                <a:solidFill>
                  <a:srgbClr val="F6F2EA"/>
                </a:solidFill>
                <a:latin typeface="Bricolage Grotesque"/>
              </a:rPr>
              <a:t>3</a:t>
            </a:r>
          </a:p>
        </p:txBody>
      </p:sp>
      <p:sp>
        <p:nvSpPr>
          <p:cNvPr id="15" name="TextBox 14"/>
          <p:cNvSpPr txBox="1"/>
          <p:nvPr/>
        </p:nvSpPr>
        <p:spPr>
          <a:xfrm>
            <a:off x="1783080" y="4169664"/>
            <a:ext cx="9601200" cy="960120"/>
          </a:xfrm>
          <a:prstGeom prst="rect">
            <a:avLst/>
          </a:prstGeom>
          <a:noFill/>
        </p:spPr>
        <p:txBody>
          <a:bodyPr wrap="square" lIns="0" rIns="0" tIns="0" bIns="0" anchor="ctr">
            <a:spAutoFit/>
          </a:bodyPr>
          <a:lstStyle/>
          <a:p>
            <a:pPr>
              <a:lnSpc>
                <a:spcPct val="105000"/>
              </a:lnSpc>
              <a:spcAft>
                <a:spcPts val="200"/>
              </a:spcAft>
            </a:pPr>
            <a:r>
              <a:rPr sz="1250" b="1" i="0">
                <a:solidFill>
                  <a:srgbClr val="C88FA1"/>
                </a:solidFill>
                <a:latin typeface="Nunito"/>
              </a:rPr>
              <a:t>Module 3</a:t>
            </a:r>
          </a:p>
          <a:p>
            <a:pPr>
              <a:lnSpc>
                <a:spcPct val="105000"/>
              </a:lnSpc>
              <a:spcAft>
                <a:spcPts val="0"/>
              </a:spcAft>
            </a:pPr>
            <a:r>
              <a:rPr sz="1800" b="1" i="0">
                <a:solidFill>
                  <a:srgbClr val="1F2A33"/>
                </a:solidFill>
                <a:latin typeface="Bricolage Grotesque"/>
              </a:rPr>
              <a:t>Write Advanced T-SQL Code</a:t>
            </a:r>
          </a:p>
        </p:txBody>
      </p:sp>
      <p:sp>
        <p:nvSpPr>
          <p:cNvPr id="16" name="Rounded Rectangle 15"/>
          <p:cNvSpPr/>
          <p:nvPr/>
        </p:nvSpPr>
        <p:spPr>
          <a:xfrm>
            <a:off x="548640" y="5385816"/>
            <a:ext cx="11094415" cy="96012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4944" y="5385816"/>
            <a:ext cx="10801807"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1248" y="5554980"/>
            <a:ext cx="621792" cy="621792"/>
          </a:xfrm>
          <a:prstGeom prst="ellipse">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spcAft>
                <a:spcPts val="0"/>
              </a:spcAft>
            </a:pPr>
            <a:r>
              <a:rPr sz="2200" b="1" i="0">
                <a:solidFill>
                  <a:srgbClr val="F6F2EA"/>
                </a:solidFill>
                <a:latin typeface="Bricolage Grotesque"/>
              </a:rPr>
              <a:t>4</a:t>
            </a:r>
          </a:p>
        </p:txBody>
      </p:sp>
      <p:sp>
        <p:nvSpPr>
          <p:cNvPr id="19" name="TextBox 18"/>
          <p:cNvSpPr txBox="1"/>
          <p:nvPr/>
        </p:nvSpPr>
        <p:spPr>
          <a:xfrm>
            <a:off x="1783080" y="5385816"/>
            <a:ext cx="9601200" cy="960120"/>
          </a:xfrm>
          <a:prstGeom prst="rect">
            <a:avLst/>
          </a:prstGeom>
          <a:noFill/>
        </p:spPr>
        <p:txBody>
          <a:bodyPr wrap="square" lIns="0" rIns="0" tIns="0" bIns="0" anchor="ctr">
            <a:spAutoFit/>
          </a:bodyPr>
          <a:lstStyle/>
          <a:p>
            <a:pPr>
              <a:lnSpc>
                <a:spcPct val="105000"/>
              </a:lnSpc>
              <a:spcAft>
                <a:spcPts val="200"/>
              </a:spcAft>
            </a:pPr>
            <a:r>
              <a:rPr sz="1250" b="1" i="0">
                <a:solidFill>
                  <a:srgbClr val="D0760D"/>
                </a:solidFill>
                <a:latin typeface="Nunito"/>
              </a:rPr>
              <a:t>Module 4</a:t>
            </a:r>
          </a:p>
          <a:p>
            <a:pPr>
              <a:lnSpc>
                <a:spcPct val="105000"/>
              </a:lnSpc>
              <a:spcAft>
                <a:spcPts val="0"/>
              </a:spcAft>
            </a:pPr>
            <a:r>
              <a:rPr sz="1800" b="1" i="0">
                <a:solidFill>
                  <a:srgbClr val="1F2A33"/>
                </a:solidFill>
                <a:latin typeface="Bricolage Grotesque"/>
              </a:rPr>
              <a:t>AI-Assisted Database Development</a:t>
            </a:r>
          </a:p>
        </p:txBody>
      </p:sp>
      <p:sp>
        <p:nvSpPr>
          <p:cNvPr id="20" name="TextBox 19"/>
          <p:cNvSpPr txBox="1"/>
          <p:nvPr/>
        </p:nvSpPr>
        <p:spPr>
          <a:xfrm>
            <a:off x="502920" y="6519672"/>
            <a:ext cx="7213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SOLUTIONS LIKE A PRO</a:t>
            </a:r>
          </a:p>
        </p:txBody>
      </p:sp>
      <p:sp>
        <p:nvSpPr>
          <p:cNvPr id="21" name="TextBox 20"/>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D24"/>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1C2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1A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tretch>
            <a:fillRect/>
          </a:stretch>
        </p:blipFill>
        <p:spPr>
          <a:xfrm>
            <a:off x="777240" y="1965960"/>
            <a:ext cx="1691640" cy="1691640"/>
          </a:xfrm>
          <a:prstGeom prst="rect">
            <a:avLst/>
          </a:prstGeom>
        </p:spPr>
      </p:pic>
      <p:sp>
        <p:nvSpPr>
          <p:cNvPr id="5" name="TextBox 4"/>
          <p:cNvSpPr txBox="1"/>
          <p:nvPr/>
        </p:nvSpPr>
        <p:spPr>
          <a:xfrm>
            <a:off x="2880360" y="1481328"/>
            <a:ext cx="8503920" cy="457200"/>
          </a:xfrm>
          <a:prstGeom prst="rect">
            <a:avLst/>
          </a:prstGeom>
          <a:noFill/>
        </p:spPr>
        <p:txBody>
          <a:bodyPr wrap="square" lIns="0" rIns="0" tIns="0" bIns="0">
            <a:spAutoFit/>
          </a:bodyPr>
          <a:lstStyle/>
          <a:p>
            <a:pPr>
              <a:lnSpc>
                <a:spcPct val="105000"/>
              </a:lnSpc>
              <a:spcAft>
                <a:spcPts val="0"/>
              </a:spcAft>
            </a:pPr>
            <a:r>
              <a:rPr sz="1800" b="1" i="0">
                <a:solidFill>
                  <a:srgbClr val="51BBD7"/>
                </a:solidFill>
                <a:latin typeface="Bricolage Grotesque"/>
              </a:rPr>
              <a:t>Module 1</a:t>
            </a:r>
          </a:p>
        </p:txBody>
      </p:sp>
      <p:sp>
        <p:nvSpPr>
          <p:cNvPr id="6" name="TextBox 5"/>
          <p:cNvSpPr txBox="1"/>
          <p:nvPr/>
        </p:nvSpPr>
        <p:spPr>
          <a:xfrm>
            <a:off x="2880360" y="1956816"/>
            <a:ext cx="8778240" cy="1920240"/>
          </a:xfrm>
          <a:prstGeom prst="rect">
            <a:avLst/>
          </a:prstGeom>
          <a:noFill/>
        </p:spPr>
        <p:txBody>
          <a:bodyPr wrap="square" lIns="0" rIns="0" tIns="0" bIns="0">
            <a:spAutoFit/>
          </a:bodyPr>
          <a:lstStyle/>
          <a:p>
            <a:pPr>
              <a:lnSpc>
                <a:spcPct val="104000"/>
              </a:lnSpc>
              <a:spcAft>
                <a:spcPts val="0"/>
              </a:spcAft>
            </a:pPr>
            <a:r>
              <a:rPr sz="4400" b="1" i="0">
                <a:solidFill>
                  <a:srgbClr val="F6F2EA"/>
                </a:solidFill>
                <a:latin typeface="Bricolage Grotesque"/>
              </a:rPr>
              <a:t>Design &amp; Implement</a:t>
            </a:r>
          </a:p>
          <a:p>
            <a:pPr>
              <a:lnSpc>
                <a:spcPct val="104000"/>
              </a:lnSpc>
              <a:spcAft>
                <a:spcPts val="0"/>
              </a:spcAft>
            </a:pPr>
            <a:r>
              <a:rPr sz="4400" b="1" i="0">
                <a:solidFill>
                  <a:srgbClr val="F6F2EA"/>
                </a:solidFill>
                <a:latin typeface="Bricolage Grotesque"/>
              </a:rPr>
              <a:t>Database Objects</a:t>
            </a:r>
          </a:p>
        </p:txBody>
      </p:sp>
      <p:sp>
        <p:nvSpPr>
          <p:cNvPr id="7" name="TextBox 6"/>
          <p:cNvSpPr txBox="1"/>
          <p:nvPr/>
        </p:nvSpPr>
        <p:spPr>
          <a:xfrm>
            <a:off x="2880360" y="3602736"/>
            <a:ext cx="8412480" cy="1188720"/>
          </a:xfrm>
          <a:prstGeom prst="rect">
            <a:avLst/>
          </a:prstGeom>
          <a:noFill/>
        </p:spPr>
        <p:txBody>
          <a:bodyPr wrap="square" lIns="0" rIns="0" tIns="0" bIns="0">
            <a:spAutoFit/>
          </a:bodyPr>
          <a:lstStyle/>
          <a:p>
            <a:pPr>
              <a:lnSpc>
                <a:spcPct val="105000"/>
              </a:lnSpc>
              <a:spcAft>
                <a:spcPts val="0"/>
              </a:spcAft>
            </a:pPr>
            <a:r>
              <a:rPr sz="1500" b="0" i="0">
                <a:solidFill>
                  <a:srgbClr val="C5BFB1"/>
                </a:solidFill>
                <a:latin typeface="Nunito"/>
              </a:rPr>
              <a:t>Tables, indexes, constraints, JSON columns, partitioning, and specialized table types across SQL Server, Azure SQL, and Microsoft Fabric.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Platform Choices</a:t>
            </a:r>
          </a:p>
        </p:txBody>
      </p:sp>
      <p:sp>
        <p:nvSpPr>
          <p:cNvPr id="3" name="Rounded Rectangle 2"/>
          <p:cNvSpPr/>
          <p:nvPr/>
        </p:nvSpPr>
        <p:spPr>
          <a:xfrm>
            <a:off x="548640" y="932688"/>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207008"/>
            <a:ext cx="11094415" cy="525780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8229600" cy="457200"/>
          </a:xfrm>
          <a:prstGeom prst="rect">
            <a:avLst/>
          </a:prstGeom>
          <a:noFill/>
        </p:spPr>
        <p:txBody>
          <a:bodyPr wrap="square" lIns="0" rIns="0" tIns="0" bIns="0">
            <a:spAutoFit/>
          </a:bodyPr>
          <a:lstStyle/>
          <a:p>
            <a:pPr>
              <a:lnSpc>
                <a:spcPct val="105000"/>
              </a:lnSpc>
              <a:spcAft>
                <a:spcPts val="0"/>
              </a:spcAft>
            </a:pPr>
            <a:r>
              <a:rPr sz="2250" b="1" i="0">
                <a:solidFill>
                  <a:srgbClr val="1F2A33"/>
                </a:solidFill>
                <a:latin typeface="Bricolage Grotesque"/>
              </a:rPr>
              <a:t>SQL Server-Based Platforms</a:t>
            </a:r>
          </a:p>
        </p:txBody>
      </p:sp>
      <p:pic>
        <p:nvPicPr>
          <p:cNvPr id="6" name="Picture 5" descr="star.png"/>
          <p:cNvPicPr>
            <a:picLocks noChangeAspect="1"/>
          </p:cNvPicPr>
          <p:nvPr/>
        </p:nvPicPr>
        <p:blipFill>
          <a:blip r:embed="rId2"/>
          <a:stretch>
            <a:fillRect/>
          </a:stretch>
        </p:blipFill>
        <p:spPr>
          <a:xfrm>
            <a:off x="960120" y="2304288"/>
            <a:ext cx="420624" cy="420624"/>
          </a:xfrm>
          <a:prstGeom prst="rect">
            <a:avLst/>
          </a:prstGeom>
        </p:spPr>
      </p:pic>
      <p:sp>
        <p:nvSpPr>
          <p:cNvPr id="7" name="TextBox 6"/>
          <p:cNvSpPr txBox="1"/>
          <p:nvPr/>
        </p:nvSpPr>
        <p:spPr>
          <a:xfrm>
            <a:off x="1600200" y="2194560"/>
            <a:ext cx="9692640" cy="960120"/>
          </a:xfrm>
          <a:prstGeom prst="rect">
            <a:avLst/>
          </a:prstGeom>
          <a:noFill/>
        </p:spPr>
        <p:txBody>
          <a:bodyPr wrap="square" lIns="0" rIns="0" tIns="0" bIns="0">
            <a:spAutoFit/>
          </a:bodyPr>
          <a:lstStyle/>
          <a:p>
            <a:pPr>
              <a:lnSpc>
                <a:spcPct val="105000"/>
              </a:lnSpc>
              <a:spcAft>
                <a:spcPts val="200"/>
              </a:spcAft>
            </a:pPr>
            <a:r>
              <a:rPr sz="1800" b="1" i="0">
                <a:solidFill>
                  <a:srgbClr val="1F2A33"/>
                </a:solidFill>
                <a:latin typeface="Bricolage Grotesque"/>
              </a:rPr>
              <a:t>SQL Server On-Prem</a:t>
            </a:r>
          </a:p>
          <a:p>
            <a:pPr>
              <a:lnSpc>
                <a:spcPct val="105000"/>
              </a:lnSpc>
              <a:spcAft>
                <a:spcPts val="0"/>
              </a:spcAft>
            </a:pPr>
            <a:r>
              <a:rPr sz="1350" b="0" i="0">
                <a:solidFill>
                  <a:srgbClr val="5A6B76"/>
                </a:solidFill>
                <a:latin typeface="Nunito"/>
              </a:rPr>
              <a:t>Full control, Windows/Linux, self-managed</a:t>
            </a:r>
          </a:p>
        </p:txBody>
      </p:sp>
      <p:pic>
        <p:nvPicPr>
          <p:cNvPr id="8" name="Picture 7" descr="star.png"/>
          <p:cNvPicPr>
            <a:picLocks noChangeAspect="1"/>
          </p:cNvPicPr>
          <p:nvPr/>
        </p:nvPicPr>
        <p:blipFill>
          <a:blip r:embed="rId2"/>
          <a:stretch>
            <a:fillRect/>
          </a:stretch>
        </p:blipFill>
        <p:spPr>
          <a:xfrm>
            <a:off x="960120" y="3355848"/>
            <a:ext cx="420624" cy="420624"/>
          </a:xfrm>
          <a:prstGeom prst="rect">
            <a:avLst/>
          </a:prstGeom>
        </p:spPr>
      </p:pic>
      <p:sp>
        <p:nvSpPr>
          <p:cNvPr id="9" name="TextBox 8"/>
          <p:cNvSpPr txBox="1"/>
          <p:nvPr/>
        </p:nvSpPr>
        <p:spPr>
          <a:xfrm>
            <a:off x="1600200" y="3246120"/>
            <a:ext cx="9692640" cy="960120"/>
          </a:xfrm>
          <a:prstGeom prst="rect">
            <a:avLst/>
          </a:prstGeom>
          <a:noFill/>
        </p:spPr>
        <p:txBody>
          <a:bodyPr wrap="square" lIns="0" rIns="0" tIns="0" bIns="0">
            <a:spAutoFit/>
          </a:bodyPr>
          <a:lstStyle/>
          <a:p>
            <a:pPr>
              <a:lnSpc>
                <a:spcPct val="105000"/>
              </a:lnSpc>
              <a:spcAft>
                <a:spcPts val="200"/>
              </a:spcAft>
            </a:pPr>
            <a:r>
              <a:rPr sz="1800" b="1" i="0">
                <a:solidFill>
                  <a:srgbClr val="1F2A33"/>
                </a:solidFill>
                <a:latin typeface="Bricolage Grotesque"/>
              </a:rPr>
              <a:t>Docker / Kubernetes</a:t>
            </a:r>
          </a:p>
          <a:p>
            <a:pPr>
              <a:lnSpc>
                <a:spcPct val="105000"/>
              </a:lnSpc>
              <a:spcAft>
                <a:spcPts val="0"/>
              </a:spcAft>
            </a:pPr>
            <a:r>
              <a:rPr sz="1350" b="0" i="0">
                <a:solidFill>
                  <a:srgbClr val="5A6B76"/>
                </a:solidFill>
                <a:latin typeface="Nunito"/>
              </a:rPr>
              <a:t>Containers, dev/test parity, quick spin-up</a:t>
            </a:r>
          </a:p>
        </p:txBody>
      </p:sp>
      <p:pic>
        <p:nvPicPr>
          <p:cNvPr id="10" name="Picture 9" descr="star.png"/>
          <p:cNvPicPr>
            <a:picLocks noChangeAspect="1"/>
          </p:cNvPicPr>
          <p:nvPr/>
        </p:nvPicPr>
        <p:blipFill>
          <a:blip r:embed="rId2"/>
          <a:stretch>
            <a:fillRect/>
          </a:stretch>
        </p:blipFill>
        <p:spPr>
          <a:xfrm>
            <a:off x="960120" y="4407407"/>
            <a:ext cx="420624" cy="420624"/>
          </a:xfrm>
          <a:prstGeom prst="rect">
            <a:avLst/>
          </a:prstGeom>
        </p:spPr>
      </p:pic>
      <p:sp>
        <p:nvSpPr>
          <p:cNvPr id="11" name="TextBox 10"/>
          <p:cNvSpPr txBox="1"/>
          <p:nvPr/>
        </p:nvSpPr>
        <p:spPr>
          <a:xfrm>
            <a:off x="1600200" y="4297679"/>
            <a:ext cx="9692640" cy="960120"/>
          </a:xfrm>
          <a:prstGeom prst="rect">
            <a:avLst/>
          </a:prstGeom>
          <a:noFill/>
        </p:spPr>
        <p:txBody>
          <a:bodyPr wrap="square" lIns="0" rIns="0" tIns="0" bIns="0">
            <a:spAutoFit/>
          </a:bodyPr>
          <a:lstStyle/>
          <a:p>
            <a:pPr>
              <a:lnSpc>
                <a:spcPct val="105000"/>
              </a:lnSpc>
              <a:spcAft>
                <a:spcPts val="200"/>
              </a:spcAft>
            </a:pPr>
            <a:r>
              <a:rPr sz="1800" b="1" i="0">
                <a:solidFill>
                  <a:srgbClr val="1F2A33"/>
                </a:solidFill>
                <a:latin typeface="Bricolage Grotesque"/>
              </a:rPr>
              <a:t>Azure SQL DB / MI</a:t>
            </a:r>
          </a:p>
          <a:p>
            <a:pPr>
              <a:lnSpc>
                <a:spcPct val="105000"/>
              </a:lnSpc>
              <a:spcAft>
                <a:spcPts val="0"/>
              </a:spcAft>
            </a:pPr>
            <a:r>
              <a:rPr sz="1350" b="0" i="0">
                <a:solidFill>
                  <a:srgbClr val="5A6B76"/>
                </a:solidFill>
                <a:latin typeface="Nunito"/>
              </a:rPr>
              <a:t>Managed PaaS, built-in HA, serverless tiers</a:t>
            </a:r>
          </a:p>
        </p:txBody>
      </p:sp>
      <p:pic>
        <p:nvPicPr>
          <p:cNvPr id="12" name="Picture 11" descr="star.png"/>
          <p:cNvPicPr>
            <a:picLocks noChangeAspect="1"/>
          </p:cNvPicPr>
          <p:nvPr/>
        </p:nvPicPr>
        <p:blipFill>
          <a:blip r:embed="rId2"/>
          <a:stretch>
            <a:fillRect/>
          </a:stretch>
        </p:blipFill>
        <p:spPr>
          <a:xfrm>
            <a:off x="960120" y="5458968"/>
            <a:ext cx="420624" cy="420624"/>
          </a:xfrm>
          <a:prstGeom prst="rect">
            <a:avLst/>
          </a:prstGeom>
        </p:spPr>
      </p:pic>
      <p:sp>
        <p:nvSpPr>
          <p:cNvPr id="13" name="TextBox 12"/>
          <p:cNvSpPr txBox="1"/>
          <p:nvPr/>
        </p:nvSpPr>
        <p:spPr>
          <a:xfrm>
            <a:off x="1600200" y="5349240"/>
            <a:ext cx="9692640" cy="960120"/>
          </a:xfrm>
          <a:prstGeom prst="rect">
            <a:avLst/>
          </a:prstGeom>
          <a:noFill/>
        </p:spPr>
        <p:txBody>
          <a:bodyPr wrap="square" lIns="0" rIns="0" tIns="0" bIns="0">
            <a:spAutoFit/>
          </a:bodyPr>
          <a:lstStyle/>
          <a:p>
            <a:pPr>
              <a:lnSpc>
                <a:spcPct val="105000"/>
              </a:lnSpc>
              <a:spcAft>
                <a:spcPts val="200"/>
              </a:spcAft>
            </a:pPr>
            <a:r>
              <a:rPr sz="1800" b="1" i="0">
                <a:solidFill>
                  <a:srgbClr val="1F2A33"/>
                </a:solidFill>
                <a:latin typeface="Bricolage Grotesque"/>
              </a:rPr>
              <a:t>Fabric SQL Database</a:t>
            </a:r>
          </a:p>
          <a:p>
            <a:pPr>
              <a:lnSpc>
                <a:spcPct val="105000"/>
              </a:lnSpc>
              <a:spcAft>
                <a:spcPts val="0"/>
              </a:spcAft>
            </a:pPr>
            <a:r>
              <a:rPr sz="1350" b="0" i="0">
                <a:solidFill>
                  <a:srgbClr val="5A6B76"/>
                </a:solidFill>
                <a:latin typeface="Nunito"/>
              </a:rPr>
              <a:t>Unified analytics, OneLake, AI-ready Copilot</a:t>
            </a:r>
          </a:p>
        </p:txBody>
      </p:sp>
      <p:sp>
        <p:nvSpPr>
          <p:cNvPr id="14" name="TextBox 13"/>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1</a:t>
            </a:r>
          </a:p>
        </p:txBody>
      </p:sp>
      <p:sp>
        <p:nvSpPr>
          <p:cNvPr id="15" name="TextBox 14"/>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Table Design</a:t>
            </a:r>
          </a:p>
        </p:txBody>
      </p:sp>
      <p:sp>
        <p:nvSpPr>
          <p:cNvPr id="3" name="Rounded Rectangle 2"/>
          <p:cNvSpPr/>
          <p:nvPr/>
        </p:nvSpPr>
        <p:spPr>
          <a:xfrm>
            <a:off x="548640" y="932688"/>
            <a:ext cx="658368" cy="73152"/>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234440"/>
            <a:ext cx="11094415" cy="33832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 y="1417320"/>
            <a:ext cx="10655503" cy="3017520"/>
          </a:xfrm>
          <a:prstGeom prst="rect">
            <a:avLst/>
          </a:prstGeom>
          <a:noFill/>
        </p:spPr>
        <p:txBody>
          <a:bodyPr wrap="square" lIns="182880" rIns="0" tIns="0" bIns="0">
            <a:spAutoFit/>
          </a:bodyPr>
          <a:lstStyle/>
          <a:p>
            <a:pPr>
              <a:lnSpc>
                <a:spcPct val="105000"/>
              </a:lnSpc>
              <a:spcAft>
                <a:spcPts val="1400"/>
              </a:spcAft>
            </a:pPr>
            <a:r>
              <a:rPr sz="2250" b="1" i="0">
                <a:solidFill>
                  <a:srgbClr val="1F2A33"/>
                </a:solidFill>
                <a:latin typeface="Bricolage Grotesque"/>
              </a:rPr>
              <a:t>Data Type Best Practices</a:t>
            </a:r>
          </a:p>
          <a:p>
            <a:pPr marL="182880" indent="-182880">
              <a:lnSpc>
                <a:spcPct val="105000"/>
              </a:lnSpc>
              <a:spcAft>
                <a:spcPts val="1200"/>
              </a:spcAft>
              <a:buFont typeface="Nunito"/>
              <a:buChar char="•"/>
            </a:pPr>
            <a:r>
              <a:rPr sz="1500" b="0" i="0">
                <a:solidFill>
                  <a:srgbClr val="1F2A33"/>
                </a:solidFill>
                <a:latin typeface="Nunito"/>
              </a:rPr>
              <a:t>Choose appropriate data types and sizes to optimize storage and performance</a:t>
            </a:r>
          </a:p>
          <a:p>
            <a:pPr marL="182880" indent="-182880">
              <a:lnSpc>
                <a:spcPct val="105000"/>
              </a:lnSpc>
              <a:spcAft>
                <a:spcPts val="1200"/>
              </a:spcAft>
              <a:buFont typeface="Nunito"/>
              <a:buChar char="•"/>
            </a:pPr>
            <a:r>
              <a:rPr sz="1500" b="0" i="0">
                <a:solidFill>
                  <a:srgbClr val="1F2A33"/>
                </a:solidFill>
                <a:latin typeface="Nunito"/>
              </a:rPr>
              <a:t>Normalize to third normal form and denormalize selectively for read-heavy workloads</a:t>
            </a:r>
          </a:p>
          <a:p>
            <a:pPr marL="182880" indent="-182880">
              <a:lnSpc>
                <a:spcPct val="105000"/>
              </a:lnSpc>
              <a:spcAft>
                <a:spcPts val="1200"/>
              </a:spcAft>
              <a:buFont typeface="Nunito"/>
              <a:buChar char="•"/>
            </a:pPr>
            <a:r>
              <a:rPr sz="1500" b="0" i="0">
                <a:solidFill>
                  <a:srgbClr val="1F2A33"/>
                </a:solidFill>
                <a:latin typeface="Nunito"/>
              </a:rPr>
              <a:t>Every table needs a primary key that is narrow and immutable</a:t>
            </a:r>
          </a:p>
        </p:txBody>
      </p:sp>
      <p:pic>
        <p:nvPicPr>
          <p:cNvPr id="6" name="Picture 5" descr="captain-corgi-avatar.png"/>
          <p:cNvPicPr>
            <a:picLocks noChangeAspect="1"/>
          </p:cNvPicPr>
          <p:nvPr/>
        </p:nvPicPr>
        <p:blipFill>
          <a:blip r:embed="rId2"/>
          <a:stretch>
            <a:fillRect/>
          </a:stretch>
        </p:blipFill>
        <p:spPr>
          <a:xfrm>
            <a:off x="9814255" y="4663440"/>
            <a:ext cx="1737360" cy="1737360"/>
          </a:xfrm>
          <a:prstGeom prst="rect">
            <a:avLst/>
          </a:prstGeom>
        </p:spPr>
      </p:pic>
      <p:sp>
        <p:nvSpPr>
          <p:cNvPr id="7" name="TextBox 6"/>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1</a:t>
            </a:r>
          </a:p>
        </p:txBody>
      </p:sp>
      <p:sp>
        <p:nvSpPr>
          <p:cNvPr id="8" name="TextBox 7"/>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Specialized Table Types</a:t>
            </a:r>
          </a:p>
        </p:txBody>
      </p:sp>
      <p:sp>
        <p:nvSpPr>
          <p:cNvPr id="3" name="Rounded Rectangle 2"/>
          <p:cNvSpPr/>
          <p:nvPr/>
        </p:nvSpPr>
        <p:spPr>
          <a:xfrm>
            <a:off x="548640" y="932688"/>
            <a:ext cx="658368" cy="73152"/>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88720"/>
            <a:ext cx="11094415" cy="768096"/>
          </a:xfrm>
          <a:prstGeom prst="roundRect">
            <a:avLst>
              <a:gd name="adj" fmla="val 1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89304"/>
            <a:ext cx="68580" cy="566928"/>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188720"/>
            <a:ext cx="2606040" cy="768096"/>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In-Memory OLTP</a:t>
            </a:r>
          </a:p>
        </p:txBody>
      </p:sp>
      <p:sp>
        <p:nvSpPr>
          <p:cNvPr id="7" name="TextBox 6"/>
          <p:cNvSpPr txBox="1"/>
          <p:nvPr/>
        </p:nvSpPr>
        <p:spPr>
          <a:xfrm>
            <a:off x="3611880" y="1188720"/>
            <a:ext cx="7955279" cy="768096"/>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RAM-resident, lock-free MVCC, up to 30x faster OLTP. Natively compiled SPs.</a:t>
            </a:r>
          </a:p>
        </p:txBody>
      </p:sp>
      <p:sp>
        <p:nvSpPr>
          <p:cNvPr id="8" name="Rounded Rectangle 7"/>
          <p:cNvSpPr/>
          <p:nvPr/>
        </p:nvSpPr>
        <p:spPr>
          <a:xfrm>
            <a:off x="548640" y="2075688"/>
            <a:ext cx="11094415" cy="768096"/>
          </a:xfrm>
          <a:prstGeom prst="roundRect">
            <a:avLst>
              <a:gd name="adj" fmla="val 1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176272"/>
            <a:ext cx="68580" cy="566928"/>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75688"/>
            <a:ext cx="2606040" cy="768096"/>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Temporal</a:t>
            </a:r>
          </a:p>
        </p:txBody>
      </p:sp>
      <p:sp>
        <p:nvSpPr>
          <p:cNvPr id="11" name="TextBox 10"/>
          <p:cNvSpPr txBox="1"/>
          <p:nvPr/>
        </p:nvSpPr>
        <p:spPr>
          <a:xfrm>
            <a:off x="3611880" y="2075688"/>
            <a:ext cx="7955279" cy="768096"/>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System-versioned history tracking. FOR SYSTEM_TIME AS OF queries.</a:t>
            </a:r>
          </a:p>
        </p:txBody>
      </p:sp>
      <p:sp>
        <p:nvSpPr>
          <p:cNvPr id="12" name="Rounded Rectangle 11"/>
          <p:cNvSpPr/>
          <p:nvPr/>
        </p:nvSpPr>
        <p:spPr>
          <a:xfrm>
            <a:off x="548640" y="2962656"/>
            <a:ext cx="11094415" cy="768096"/>
          </a:xfrm>
          <a:prstGeom prst="roundRect">
            <a:avLst>
              <a:gd name="adj" fmla="val 1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063240"/>
            <a:ext cx="68580" cy="566928"/>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962656"/>
            <a:ext cx="2606040" cy="768096"/>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External</a:t>
            </a:r>
          </a:p>
        </p:txBody>
      </p:sp>
      <p:sp>
        <p:nvSpPr>
          <p:cNvPr id="15" name="TextBox 14"/>
          <p:cNvSpPr txBox="1"/>
          <p:nvPr/>
        </p:nvSpPr>
        <p:spPr>
          <a:xfrm>
            <a:off x="3611880" y="2962656"/>
            <a:ext cx="7955279" cy="768096"/>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Query remote data via PolyBase — Blob, ADLS, S3, Oracle. No data movement.</a:t>
            </a:r>
          </a:p>
        </p:txBody>
      </p:sp>
      <p:sp>
        <p:nvSpPr>
          <p:cNvPr id="16" name="Rounded Rectangle 15"/>
          <p:cNvSpPr/>
          <p:nvPr/>
        </p:nvSpPr>
        <p:spPr>
          <a:xfrm>
            <a:off x="548640" y="3849624"/>
            <a:ext cx="11094415" cy="768096"/>
          </a:xfrm>
          <a:prstGeom prst="roundRect">
            <a:avLst>
              <a:gd name="adj" fmla="val 1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950208"/>
            <a:ext cx="68580" cy="566928"/>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849624"/>
            <a:ext cx="2606040" cy="768096"/>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Ledger</a:t>
            </a:r>
          </a:p>
        </p:txBody>
      </p:sp>
      <p:sp>
        <p:nvSpPr>
          <p:cNvPr id="19" name="TextBox 18"/>
          <p:cNvSpPr txBox="1"/>
          <p:nvPr/>
        </p:nvSpPr>
        <p:spPr>
          <a:xfrm>
            <a:off x="3611880" y="3849624"/>
            <a:ext cx="7955279" cy="768096"/>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Tamper-evident, cryptographic verification. Updatable or append-only.</a:t>
            </a:r>
          </a:p>
        </p:txBody>
      </p:sp>
      <p:sp>
        <p:nvSpPr>
          <p:cNvPr id="20" name="Rounded Rectangle 19"/>
          <p:cNvSpPr/>
          <p:nvPr/>
        </p:nvSpPr>
        <p:spPr>
          <a:xfrm>
            <a:off x="548640" y="4736592"/>
            <a:ext cx="11094415" cy="768096"/>
          </a:xfrm>
          <a:prstGeom prst="roundRect">
            <a:avLst>
              <a:gd name="adj" fmla="val 1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4837176"/>
            <a:ext cx="68580" cy="566928"/>
          </a:xfrm>
          <a:prstGeom prst="roundRect">
            <a:avLst>
              <a:gd name="adj" fmla="val 50000"/>
            </a:avLst>
          </a:prstGeom>
          <a:solidFill>
            <a:srgbClr val="E13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736592"/>
            <a:ext cx="2606040" cy="768096"/>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Graph</a:t>
            </a:r>
          </a:p>
        </p:txBody>
      </p:sp>
      <p:sp>
        <p:nvSpPr>
          <p:cNvPr id="23" name="TextBox 22"/>
          <p:cNvSpPr txBox="1"/>
          <p:nvPr/>
        </p:nvSpPr>
        <p:spPr>
          <a:xfrm>
            <a:off x="3611880" y="4736592"/>
            <a:ext cx="7955279" cy="768096"/>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NODE + EDGE tables with MATCH clause. Social, fraud, recommendation use cases.</a:t>
            </a:r>
          </a:p>
        </p:txBody>
      </p:sp>
      <p:sp>
        <p:nvSpPr>
          <p:cNvPr id="24" name="Rounded Rectangle 23"/>
          <p:cNvSpPr/>
          <p:nvPr/>
        </p:nvSpPr>
        <p:spPr>
          <a:xfrm>
            <a:off x="548640" y="5760720"/>
            <a:ext cx="11094415" cy="731520"/>
          </a:xfrm>
          <a:prstGeom prst="roundRect">
            <a:avLst>
              <a:gd name="adj" fmla="val 35000"/>
            </a:avLst>
          </a:prstGeom>
          <a:solidFill>
            <a:srgbClr val="F7E7B9"/>
          </a:solidFill>
          <a:ln w="12700">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05000"/>
              </a:lnSpc>
              <a:spcAft>
                <a:spcPts val="0"/>
              </a:spcAft>
            </a:pPr>
            <a:r>
              <a:rPr sz="1200" b="0" i="0">
                <a:solidFill>
                  <a:srgbClr val="1F2A33"/>
                </a:solidFill>
                <a:latin typeface="Nunito"/>
              </a:rPr>
              <a:t>Tip: Match the table type to your workload — temporal for audit, ledger for compliance, graph for relationships, in-memory for high-throughput.</a:t>
            </a:r>
          </a:p>
        </p:txBody>
      </p:sp>
      <p:sp>
        <p:nvSpPr>
          <p:cNvPr id="25" name="TextBox 24"/>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1</a:t>
            </a:r>
          </a:p>
        </p:txBody>
      </p:sp>
      <p:sp>
        <p:nvSpPr>
          <p:cNvPr id="26" name="TextBox 25"/>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Optimize with Indexes</a:t>
            </a:r>
          </a:p>
        </p:txBody>
      </p:sp>
      <p:sp>
        <p:nvSpPr>
          <p:cNvPr id="3" name="Rounded Rectangle 2"/>
          <p:cNvSpPr/>
          <p:nvPr/>
        </p:nvSpPr>
        <p:spPr>
          <a:xfrm>
            <a:off x="548640" y="932688"/>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15568"/>
            <a:ext cx="3527450" cy="15544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115568"/>
            <a:ext cx="3234842"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298448"/>
            <a:ext cx="3088538" cy="1188720"/>
          </a:xfrm>
          <a:prstGeom prst="rect">
            <a:avLst/>
          </a:prstGeom>
          <a:noFill/>
        </p:spPr>
        <p:txBody>
          <a:bodyPr wrap="square" lIns="0" rIns="0" tIns="0" bIns="0">
            <a:spAutoFit/>
          </a:bodyPr>
          <a:lstStyle/>
          <a:p>
            <a:pPr>
              <a:lnSpc>
                <a:spcPct val="105000"/>
              </a:lnSpc>
              <a:spcAft>
                <a:spcPts val="400"/>
              </a:spcAft>
            </a:pPr>
            <a:r>
              <a:rPr sz="1700" b="1" i="0">
                <a:solidFill>
                  <a:srgbClr val="1F2A33"/>
                </a:solidFill>
                <a:latin typeface="Bricolage Grotesque"/>
              </a:rPr>
              <a:t>Clustered</a:t>
            </a:r>
          </a:p>
          <a:p>
            <a:pPr>
              <a:lnSpc>
                <a:spcPct val="105000"/>
              </a:lnSpc>
              <a:spcAft>
                <a:spcPts val="0"/>
              </a:spcAft>
            </a:pPr>
            <a:r>
              <a:rPr sz="1150" b="0" i="0">
                <a:solidFill>
                  <a:srgbClr val="1F2A33"/>
                </a:solidFill>
                <a:latin typeface="Nunito"/>
              </a:rPr>
              <a:t>Defines the physical sort order of table data</a:t>
            </a:r>
          </a:p>
        </p:txBody>
      </p:sp>
      <p:sp>
        <p:nvSpPr>
          <p:cNvPr id="7" name="Rounded Rectangle 6"/>
          <p:cNvSpPr/>
          <p:nvPr/>
        </p:nvSpPr>
        <p:spPr>
          <a:xfrm>
            <a:off x="2803246" y="1335024"/>
            <a:ext cx="1089964" cy="274320"/>
          </a:xfrm>
          <a:prstGeom prst="roundRect">
            <a:avLst>
              <a:gd name="adj" fmla="val 50000"/>
            </a:avLst>
          </a:prstGeom>
          <a:solidFill>
            <a:srgbClr val="DEEF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lnSpc>
                <a:spcPct val="105000"/>
              </a:lnSpc>
              <a:spcAft>
                <a:spcPts val="0"/>
              </a:spcAft>
            </a:pPr>
            <a:r>
              <a:rPr sz="950" b="1" i="0">
                <a:solidFill>
                  <a:srgbClr val="40889E"/>
                </a:solidFill>
                <a:latin typeface="Nunito"/>
              </a:rPr>
              <a:t>1 per table</a:t>
            </a:r>
          </a:p>
        </p:txBody>
      </p:sp>
      <p:sp>
        <p:nvSpPr>
          <p:cNvPr id="8" name="Rounded Rectangle 7"/>
          <p:cNvSpPr/>
          <p:nvPr/>
        </p:nvSpPr>
        <p:spPr>
          <a:xfrm>
            <a:off x="4332122" y="1115568"/>
            <a:ext cx="3527450" cy="15544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78426" y="1115568"/>
            <a:ext cx="3234842"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1578" y="1298448"/>
            <a:ext cx="3088538" cy="1188720"/>
          </a:xfrm>
          <a:prstGeom prst="rect">
            <a:avLst/>
          </a:prstGeom>
          <a:noFill/>
        </p:spPr>
        <p:txBody>
          <a:bodyPr wrap="square" lIns="0" rIns="0" tIns="0" bIns="0">
            <a:spAutoFit/>
          </a:bodyPr>
          <a:lstStyle/>
          <a:p>
            <a:pPr>
              <a:lnSpc>
                <a:spcPct val="105000"/>
              </a:lnSpc>
              <a:spcAft>
                <a:spcPts val="400"/>
              </a:spcAft>
            </a:pPr>
            <a:r>
              <a:rPr sz="1700" b="1" i="0">
                <a:solidFill>
                  <a:srgbClr val="1F2A33"/>
                </a:solidFill>
                <a:latin typeface="Bricolage Grotesque"/>
              </a:rPr>
              <a:t>Nonclustered</a:t>
            </a:r>
          </a:p>
          <a:p>
            <a:pPr>
              <a:lnSpc>
                <a:spcPct val="105000"/>
              </a:lnSpc>
              <a:spcAft>
                <a:spcPts val="0"/>
              </a:spcAft>
            </a:pPr>
            <a:r>
              <a:rPr sz="1150" b="0" i="0">
                <a:solidFill>
                  <a:srgbClr val="1F2A33"/>
                </a:solidFill>
                <a:latin typeface="Nunito"/>
              </a:rPr>
              <a:t>Separate lookup structure for fast data retrieval</a:t>
            </a:r>
          </a:p>
        </p:txBody>
      </p:sp>
      <p:sp>
        <p:nvSpPr>
          <p:cNvPr id="11" name="Rounded Rectangle 10"/>
          <p:cNvSpPr/>
          <p:nvPr/>
        </p:nvSpPr>
        <p:spPr>
          <a:xfrm>
            <a:off x="6754977" y="1335024"/>
            <a:ext cx="921715" cy="274320"/>
          </a:xfrm>
          <a:prstGeom prst="roundRect">
            <a:avLst>
              <a:gd name="adj" fmla="val 50000"/>
            </a:avLst>
          </a:prstGeom>
          <a:solidFill>
            <a:srgbClr val="DAED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lnSpc>
                <a:spcPct val="105000"/>
              </a:lnSpc>
              <a:spcAft>
                <a:spcPts val="0"/>
              </a:spcAft>
            </a:pPr>
            <a:r>
              <a:rPr sz="950" b="1" i="0">
                <a:solidFill>
                  <a:srgbClr val="318267"/>
                </a:solidFill>
                <a:latin typeface="Nunito"/>
              </a:rPr>
              <a:t>Up to 999</a:t>
            </a:r>
          </a:p>
        </p:txBody>
      </p:sp>
      <p:sp>
        <p:nvSpPr>
          <p:cNvPr id="12" name="Rounded Rectangle 11"/>
          <p:cNvSpPr/>
          <p:nvPr/>
        </p:nvSpPr>
        <p:spPr>
          <a:xfrm>
            <a:off x="8115604" y="1115568"/>
            <a:ext cx="3527450" cy="15544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61908" y="1115568"/>
            <a:ext cx="3234842"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5060" y="1298448"/>
            <a:ext cx="3088538" cy="1188720"/>
          </a:xfrm>
          <a:prstGeom prst="rect">
            <a:avLst/>
          </a:prstGeom>
          <a:noFill/>
        </p:spPr>
        <p:txBody>
          <a:bodyPr wrap="square" lIns="0" rIns="0" tIns="0" bIns="0">
            <a:spAutoFit/>
          </a:bodyPr>
          <a:lstStyle/>
          <a:p>
            <a:pPr>
              <a:lnSpc>
                <a:spcPct val="105000"/>
              </a:lnSpc>
              <a:spcAft>
                <a:spcPts val="400"/>
              </a:spcAft>
            </a:pPr>
            <a:r>
              <a:rPr sz="1700" b="1" i="0">
                <a:solidFill>
                  <a:srgbClr val="1F2A33"/>
                </a:solidFill>
                <a:latin typeface="Bricolage Grotesque"/>
              </a:rPr>
              <a:t>Columnstore</a:t>
            </a:r>
          </a:p>
          <a:p>
            <a:pPr>
              <a:lnSpc>
                <a:spcPct val="105000"/>
              </a:lnSpc>
              <a:spcAft>
                <a:spcPts val="0"/>
              </a:spcAft>
            </a:pPr>
            <a:r>
              <a:rPr sz="1150" b="0" i="0">
                <a:solidFill>
                  <a:srgbClr val="1F2A33"/>
                </a:solidFill>
                <a:latin typeface="Nunito"/>
              </a:rPr>
              <a:t>Column-based storage for analytics and data warehouse workloads</a:t>
            </a:r>
          </a:p>
        </p:txBody>
      </p:sp>
      <p:sp>
        <p:nvSpPr>
          <p:cNvPr id="15" name="Rounded Rectangle 14"/>
          <p:cNvSpPr/>
          <p:nvPr/>
        </p:nvSpPr>
        <p:spPr>
          <a:xfrm>
            <a:off x="10538460" y="1335024"/>
            <a:ext cx="921715" cy="274320"/>
          </a:xfrm>
          <a:prstGeom prst="roundRect">
            <a:avLst>
              <a:gd name="adj" fmla="val 50000"/>
            </a:avLst>
          </a:prstGeom>
          <a:solidFill>
            <a:srgbClr val="DAE2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lnSpc>
                <a:spcPct val="105000"/>
              </a:lnSpc>
              <a:spcAft>
                <a:spcPts val="0"/>
              </a:spcAft>
            </a:pPr>
            <a:r>
              <a:rPr sz="950" b="1" i="0">
                <a:solidFill>
                  <a:srgbClr val="325B6E"/>
                </a:solidFill>
                <a:latin typeface="Nunito"/>
              </a:rPr>
              <a:t>Analytics</a:t>
            </a:r>
          </a:p>
        </p:txBody>
      </p:sp>
      <p:sp>
        <p:nvSpPr>
          <p:cNvPr id="16" name="Rounded Rectangle 15"/>
          <p:cNvSpPr/>
          <p:nvPr/>
        </p:nvSpPr>
        <p:spPr>
          <a:xfrm>
            <a:off x="548640" y="2852928"/>
            <a:ext cx="3527450" cy="15544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4944" y="2852928"/>
            <a:ext cx="3234842"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035808"/>
            <a:ext cx="3088538" cy="1188720"/>
          </a:xfrm>
          <a:prstGeom prst="rect">
            <a:avLst/>
          </a:prstGeom>
          <a:noFill/>
        </p:spPr>
        <p:txBody>
          <a:bodyPr wrap="square" lIns="0" rIns="0" tIns="0" bIns="0">
            <a:spAutoFit/>
          </a:bodyPr>
          <a:lstStyle/>
          <a:p>
            <a:pPr>
              <a:lnSpc>
                <a:spcPct val="105000"/>
              </a:lnSpc>
              <a:spcAft>
                <a:spcPts val="400"/>
              </a:spcAft>
            </a:pPr>
            <a:r>
              <a:rPr sz="1700" b="1" i="0">
                <a:solidFill>
                  <a:srgbClr val="1F2A33"/>
                </a:solidFill>
                <a:latin typeface="Bricolage Grotesque"/>
              </a:rPr>
              <a:t>Filtered</a:t>
            </a:r>
          </a:p>
          <a:p>
            <a:pPr>
              <a:lnSpc>
                <a:spcPct val="105000"/>
              </a:lnSpc>
              <a:spcAft>
                <a:spcPts val="0"/>
              </a:spcAft>
            </a:pPr>
            <a:r>
              <a:rPr sz="1150" b="0" i="0">
                <a:solidFill>
                  <a:srgbClr val="1F2A33"/>
                </a:solidFill>
                <a:latin typeface="Nunito"/>
              </a:rPr>
              <a:t>Indexes a subset of rows for targeted query optimization</a:t>
            </a:r>
          </a:p>
        </p:txBody>
      </p:sp>
      <p:sp>
        <p:nvSpPr>
          <p:cNvPr id="19" name="Rounded Rectangle 18"/>
          <p:cNvSpPr/>
          <p:nvPr/>
        </p:nvSpPr>
        <p:spPr>
          <a:xfrm>
            <a:off x="3223870" y="3072384"/>
            <a:ext cx="669340" cy="274320"/>
          </a:xfrm>
          <a:prstGeom prst="roundRect">
            <a:avLst>
              <a:gd name="adj" fmla="val 50000"/>
            </a:avLst>
          </a:prstGeom>
          <a:solidFill>
            <a:srgbClr val="FDE6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lnSpc>
                <a:spcPct val="105000"/>
              </a:lnSpc>
              <a:spcAft>
                <a:spcPts val="0"/>
              </a:spcAft>
            </a:pPr>
            <a:r>
              <a:rPr sz="950" b="1" i="0">
                <a:solidFill>
                  <a:srgbClr val="AF6814"/>
                </a:solidFill>
                <a:latin typeface="Nunito"/>
              </a:rPr>
              <a:t>Subset</a:t>
            </a:r>
          </a:p>
        </p:txBody>
      </p:sp>
      <p:sp>
        <p:nvSpPr>
          <p:cNvPr id="20" name="Rounded Rectangle 19"/>
          <p:cNvSpPr/>
          <p:nvPr/>
        </p:nvSpPr>
        <p:spPr>
          <a:xfrm>
            <a:off x="4332122" y="2852928"/>
            <a:ext cx="3527450" cy="15544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78426" y="2852928"/>
            <a:ext cx="3234842" cy="68580"/>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51578" y="3035808"/>
            <a:ext cx="3088538" cy="1188720"/>
          </a:xfrm>
          <a:prstGeom prst="rect">
            <a:avLst/>
          </a:prstGeom>
          <a:noFill/>
        </p:spPr>
        <p:txBody>
          <a:bodyPr wrap="square" lIns="0" rIns="0" tIns="0" bIns="0">
            <a:spAutoFit/>
          </a:bodyPr>
          <a:lstStyle/>
          <a:p>
            <a:pPr>
              <a:lnSpc>
                <a:spcPct val="105000"/>
              </a:lnSpc>
              <a:spcAft>
                <a:spcPts val="400"/>
              </a:spcAft>
            </a:pPr>
            <a:r>
              <a:rPr sz="1700" b="1" i="0">
                <a:solidFill>
                  <a:srgbClr val="1F2A33"/>
                </a:solidFill>
                <a:latin typeface="Bricolage Grotesque"/>
              </a:rPr>
              <a:t>Full-Text</a:t>
            </a:r>
          </a:p>
          <a:p>
            <a:pPr>
              <a:lnSpc>
                <a:spcPct val="105000"/>
              </a:lnSpc>
              <a:spcAft>
                <a:spcPts val="0"/>
              </a:spcAft>
            </a:pPr>
            <a:r>
              <a:rPr sz="1150" b="0" i="0">
                <a:solidFill>
                  <a:srgbClr val="1F2A33"/>
                </a:solidFill>
                <a:latin typeface="Nunito"/>
              </a:rPr>
              <a:t>Enables natural language search across text content</a:t>
            </a:r>
          </a:p>
        </p:txBody>
      </p:sp>
      <p:sp>
        <p:nvSpPr>
          <p:cNvPr id="23" name="Rounded Rectangle 22"/>
          <p:cNvSpPr/>
          <p:nvPr/>
        </p:nvSpPr>
        <p:spPr>
          <a:xfrm>
            <a:off x="6670853" y="3072384"/>
            <a:ext cx="1005839" cy="274320"/>
          </a:xfrm>
          <a:prstGeom prst="roundRect">
            <a:avLst>
              <a:gd name="adj" fmla="val 50000"/>
            </a:avLst>
          </a:prstGeom>
          <a:solidFill>
            <a:srgbClr val="F7D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lnSpc>
                <a:spcPct val="105000"/>
              </a:lnSpc>
              <a:spcAft>
                <a:spcPts val="0"/>
              </a:spcAft>
            </a:pPr>
            <a:r>
              <a:rPr sz="950" b="1" i="0">
                <a:solidFill>
                  <a:srgbClr val="9A4B4E"/>
                </a:solidFill>
                <a:latin typeface="Nunito"/>
              </a:rPr>
              <a:t>Linguistic</a:t>
            </a:r>
          </a:p>
        </p:txBody>
      </p:sp>
      <p:sp>
        <p:nvSpPr>
          <p:cNvPr id="24" name="Rounded Rectangle 23"/>
          <p:cNvSpPr/>
          <p:nvPr/>
        </p:nvSpPr>
        <p:spPr>
          <a:xfrm>
            <a:off x="8115604" y="2852928"/>
            <a:ext cx="3527450" cy="15544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61908" y="2852928"/>
            <a:ext cx="3234842" cy="68580"/>
          </a:xfrm>
          <a:prstGeom prst="roundRect">
            <a:avLst>
              <a:gd name="adj" fmla="val 50000"/>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5060" y="3035808"/>
            <a:ext cx="3088538" cy="1188720"/>
          </a:xfrm>
          <a:prstGeom prst="rect">
            <a:avLst/>
          </a:prstGeom>
          <a:noFill/>
        </p:spPr>
        <p:txBody>
          <a:bodyPr wrap="square" lIns="0" rIns="0" tIns="0" bIns="0">
            <a:spAutoFit/>
          </a:bodyPr>
          <a:lstStyle/>
          <a:p>
            <a:pPr>
              <a:lnSpc>
                <a:spcPct val="105000"/>
              </a:lnSpc>
              <a:spcAft>
                <a:spcPts val="400"/>
              </a:spcAft>
            </a:pPr>
            <a:r>
              <a:rPr sz="1700" b="1" i="0">
                <a:solidFill>
                  <a:srgbClr val="1F2A33"/>
                </a:solidFill>
                <a:latin typeface="Bricolage Grotesque"/>
              </a:rPr>
              <a:t>JSON Index</a:t>
            </a:r>
          </a:p>
          <a:p>
            <a:pPr>
              <a:lnSpc>
                <a:spcPct val="105000"/>
              </a:lnSpc>
              <a:spcAft>
                <a:spcPts val="0"/>
              </a:spcAft>
            </a:pPr>
            <a:r>
              <a:rPr sz="1150" b="0" i="0">
                <a:solidFill>
                  <a:srgbClr val="1F2A33"/>
                </a:solidFill>
                <a:latin typeface="Nunito"/>
              </a:rPr>
              <a:t>Native indexing for JSON document paths in SQL Server 2025</a:t>
            </a:r>
          </a:p>
        </p:txBody>
      </p:sp>
      <p:sp>
        <p:nvSpPr>
          <p:cNvPr id="27" name="Rounded Rectangle 26"/>
          <p:cNvSpPr/>
          <p:nvPr/>
        </p:nvSpPr>
        <p:spPr>
          <a:xfrm>
            <a:off x="10622585" y="3072384"/>
            <a:ext cx="837590" cy="274320"/>
          </a:xfrm>
          <a:prstGeom prst="roundRect">
            <a:avLst>
              <a:gd name="adj" fmla="val 50000"/>
            </a:avLst>
          </a:prstGeom>
          <a:solidFill>
            <a:srgbClr val="FBEB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lnSpc>
                <a:spcPct val="105000"/>
              </a:lnSpc>
              <a:spcAft>
                <a:spcPts val="0"/>
              </a:spcAft>
            </a:pPr>
            <a:r>
              <a:rPr sz="950" b="1" i="0">
                <a:solidFill>
                  <a:srgbClr val="A87C8C"/>
                </a:solidFill>
                <a:latin typeface="Nunito"/>
              </a:rPr>
              <a:t>SQL 2025</a:t>
            </a:r>
          </a:p>
        </p:txBody>
      </p:sp>
      <p:sp>
        <p:nvSpPr>
          <p:cNvPr id="28" name="Rounded Rectangle 27"/>
          <p:cNvSpPr/>
          <p:nvPr/>
        </p:nvSpPr>
        <p:spPr>
          <a:xfrm>
            <a:off x="548640" y="4526280"/>
            <a:ext cx="11094415" cy="1353312"/>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94944" y="4526280"/>
            <a:ext cx="10801807" cy="68580"/>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4709160"/>
            <a:ext cx="10655503" cy="987552"/>
          </a:xfrm>
          <a:prstGeom prst="rect">
            <a:avLst/>
          </a:prstGeom>
          <a:noFill/>
        </p:spPr>
        <p:txBody>
          <a:bodyPr wrap="square" lIns="0" rIns="0" tIns="0" bIns="0">
            <a:spAutoFit/>
          </a:bodyPr>
          <a:lstStyle/>
          <a:p>
            <a:pPr>
              <a:lnSpc>
                <a:spcPct val="105000"/>
              </a:lnSpc>
              <a:spcAft>
                <a:spcPts val="300"/>
              </a:spcAft>
            </a:pPr>
            <a:r>
              <a:rPr sz="1700" b="1" i="0">
                <a:solidFill>
                  <a:srgbClr val="1F2A33"/>
                </a:solidFill>
                <a:latin typeface="Bricolage Grotesque"/>
              </a:rPr>
              <a:t>Vector Index</a:t>
            </a:r>
          </a:p>
          <a:p>
            <a:pPr>
              <a:lnSpc>
                <a:spcPct val="105000"/>
              </a:lnSpc>
              <a:spcAft>
                <a:spcPts val="0"/>
              </a:spcAft>
            </a:pPr>
            <a:r>
              <a:rPr sz="1100" b="0" i="0">
                <a:solidFill>
                  <a:srgbClr val="1F2A33"/>
                </a:solidFill>
                <a:latin typeface="Nunito"/>
              </a:rPr>
              <a:t>A vector index is a specialized index designed to optimize similarity searches on vector data, commonly used in applications like machine learning, recommendation systems, and AI. It enables efficient nearest neighbor searches by organizing vectors based on their relative distances</a:t>
            </a:r>
          </a:p>
        </p:txBody>
      </p:sp>
      <p:sp>
        <p:nvSpPr>
          <p:cNvPr id="31" name="Rounded Rectangle 30"/>
          <p:cNvSpPr/>
          <p:nvPr/>
        </p:nvSpPr>
        <p:spPr>
          <a:xfrm>
            <a:off x="10622585" y="4745736"/>
            <a:ext cx="837590" cy="274320"/>
          </a:xfrm>
          <a:prstGeom prst="roundRect">
            <a:avLst>
              <a:gd name="adj" fmla="val 50000"/>
            </a:avLst>
          </a:prstGeom>
          <a:solidFill>
            <a:srgbClr val="FDF0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lnSpc>
                <a:spcPct val="105000"/>
              </a:lnSpc>
              <a:spcAft>
                <a:spcPts val="0"/>
              </a:spcAft>
            </a:pPr>
            <a:r>
              <a:rPr sz="950" b="1" i="0">
                <a:solidFill>
                  <a:srgbClr val="AE8C18"/>
                </a:solidFill>
                <a:latin typeface="Nunito"/>
              </a:rPr>
              <a:t>SQL 2025</a:t>
            </a:r>
          </a:p>
        </p:txBody>
      </p:sp>
      <p:sp>
        <p:nvSpPr>
          <p:cNvPr id="32" name="Rounded Rectangle 31"/>
          <p:cNvSpPr/>
          <p:nvPr/>
        </p:nvSpPr>
        <p:spPr>
          <a:xfrm>
            <a:off x="548640" y="6035040"/>
            <a:ext cx="11094415" cy="475488"/>
          </a:xfrm>
          <a:prstGeom prst="roundRect">
            <a:avLst>
              <a:gd name="adj" fmla="val 35000"/>
            </a:avLst>
          </a:prstGeom>
          <a:solidFill>
            <a:srgbClr val="1F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05000"/>
              </a:lnSpc>
              <a:spcAft>
                <a:spcPts val="0"/>
              </a:spcAft>
            </a:pPr>
            <a:r>
              <a:rPr sz="1150" b="0" i="0">
                <a:solidFill>
                  <a:srgbClr val="ECE2D0"/>
                </a:solidFill>
                <a:latin typeface="Nunito"/>
              </a:rPr>
              <a:t>Index columns used in WHERE, JOIN, and ORDER BY clauses for best performance</a:t>
            </a:r>
          </a:p>
        </p:txBody>
      </p:sp>
      <p:sp>
        <p:nvSpPr>
          <p:cNvPr id="33" name="TextBox 32"/>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1</a:t>
            </a:r>
          </a:p>
        </p:txBody>
      </p:sp>
      <p:sp>
        <p:nvSpPr>
          <p:cNvPr id="34" name="TextBox 33"/>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Constraints &amp; JSON Support</a:t>
            </a:r>
          </a:p>
        </p:txBody>
      </p:sp>
      <p:sp>
        <p:nvSpPr>
          <p:cNvPr id="3" name="Rounded Rectangle 2"/>
          <p:cNvSpPr/>
          <p:nvPr/>
        </p:nvSpPr>
        <p:spPr>
          <a:xfrm>
            <a:off x="548640" y="932688"/>
            <a:ext cx="658368" cy="73152"/>
          </a:xfrm>
          <a:prstGeom prst="roundRect">
            <a:avLst>
              <a:gd name="adj" fmla="val 50000"/>
            </a:avLst>
          </a:prstGeom>
          <a:solidFill>
            <a:srgbClr val="E13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88720"/>
            <a:ext cx="5364327" cy="53492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188720"/>
            <a:ext cx="5071719" cy="68580"/>
          </a:xfrm>
          <a:prstGeom prst="roundRect">
            <a:avLst>
              <a:gd name="adj" fmla="val 50000"/>
            </a:avLst>
          </a:prstGeom>
          <a:solidFill>
            <a:srgbClr val="E13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371600"/>
            <a:ext cx="4925415" cy="4983480"/>
          </a:xfrm>
          <a:prstGeom prst="rect">
            <a:avLst/>
          </a:prstGeom>
          <a:noFill/>
        </p:spPr>
        <p:txBody>
          <a:bodyPr wrap="square" lIns="0" rIns="0" tIns="0" bIns="0">
            <a:spAutoFit/>
          </a:bodyPr>
          <a:lstStyle/>
          <a:p>
            <a:pPr>
              <a:lnSpc>
                <a:spcPct val="105000"/>
              </a:lnSpc>
              <a:spcAft>
                <a:spcPts val="1000"/>
              </a:spcAft>
            </a:pPr>
            <a:r>
              <a:rPr sz="1800" b="1" i="0">
                <a:solidFill>
                  <a:srgbClr val="1F2A33"/>
                </a:solidFill>
                <a:latin typeface="Bricolage Grotesque"/>
              </a:rPr>
              <a:t>Enforce Data Integrity</a:t>
            </a:r>
          </a:p>
          <a:p>
            <a:pPr>
              <a:lnSpc>
                <a:spcPct val="105000"/>
              </a:lnSpc>
              <a:spcAft>
                <a:spcPts val="100"/>
              </a:spcAft>
            </a:pPr>
            <a:r>
              <a:rPr sz="1400" b="1" i="0">
                <a:solidFill>
                  <a:srgbClr val="4497AE"/>
                </a:solidFill>
                <a:latin typeface="JetBrains Mono"/>
              </a:rPr>
              <a:t>PRIMARY KEY</a:t>
            </a:r>
          </a:p>
          <a:p>
            <a:pPr>
              <a:lnSpc>
                <a:spcPct val="105000"/>
              </a:lnSpc>
              <a:spcAft>
                <a:spcPts val="900"/>
              </a:spcAft>
            </a:pPr>
            <a:r>
              <a:rPr sz="1200" b="0" i="0">
                <a:solidFill>
                  <a:srgbClr val="1F2A33"/>
                </a:solidFill>
                <a:latin typeface="Nunito"/>
              </a:rPr>
              <a:t>Unique row ID, clustered index default, no NULLs</a:t>
            </a:r>
          </a:p>
          <a:p>
            <a:pPr>
              <a:lnSpc>
                <a:spcPct val="105000"/>
              </a:lnSpc>
              <a:spcAft>
                <a:spcPts val="100"/>
              </a:spcAft>
            </a:pPr>
            <a:r>
              <a:rPr sz="1400" b="1" i="0">
                <a:solidFill>
                  <a:srgbClr val="34906F"/>
                </a:solidFill>
                <a:latin typeface="JetBrains Mono"/>
              </a:rPr>
              <a:t>FOREIGN KEY</a:t>
            </a:r>
          </a:p>
          <a:p>
            <a:pPr>
              <a:lnSpc>
                <a:spcPct val="105000"/>
              </a:lnSpc>
              <a:spcAft>
                <a:spcPts val="900"/>
              </a:spcAft>
            </a:pPr>
            <a:r>
              <a:rPr sz="1200" b="0" i="0">
                <a:solidFill>
                  <a:srgbClr val="1F2A33"/>
                </a:solidFill>
                <a:latin typeface="Nunito"/>
              </a:rPr>
              <a:t>Referential integrity, CASCADE/SET NULL/NO ACTION</a:t>
            </a:r>
          </a:p>
          <a:p>
            <a:pPr>
              <a:lnSpc>
                <a:spcPct val="105000"/>
              </a:lnSpc>
              <a:spcAft>
                <a:spcPts val="100"/>
              </a:spcAft>
            </a:pPr>
            <a:r>
              <a:rPr sz="1400" b="1" i="0">
                <a:solidFill>
                  <a:srgbClr val="366377"/>
                </a:solidFill>
                <a:latin typeface="JetBrains Mono"/>
              </a:rPr>
              <a:t>UNIQUE</a:t>
            </a:r>
          </a:p>
          <a:p>
            <a:pPr>
              <a:lnSpc>
                <a:spcPct val="105000"/>
              </a:lnSpc>
              <a:spcAft>
                <a:spcPts val="900"/>
              </a:spcAft>
            </a:pPr>
            <a:r>
              <a:rPr sz="1200" b="0" i="0">
                <a:solidFill>
                  <a:srgbClr val="1F2A33"/>
                </a:solidFill>
                <a:latin typeface="Nunito"/>
              </a:rPr>
              <a:t>Distinct values, allows one NULL, creates NC index</a:t>
            </a:r>
          </a:p>
          <a:p>
            <a:pPr>
              <a:lnSpc>
                <a:spcPct val="105000"/>
              </a:lnSpc>
              <a:spcAft>
                <a:spcPts val="100"/>
              </a:spcAft>
            </a:pPr>
            <a:r>
              <a:rPr sz="1400" b="1" i="0">
                <a:solidFill>
                  <a:srgbClr val="C5710F"/>
                </a:solidFill>
                <a:latin typeface="JetBrains Mono"/>
              </a:rPr>
              <a:t>CHECK</a:t>
            </a:r>
          </a:p>
          <a:p>
            <a:pPr>
              <a:lnSpc>
                <a:spcPct val="105000"/>
              </a:lnSpc>
              <a:spcAft>
                <a:spcPts val="900"/>
              </a:spcAft>
            </a:pPr>
            <a:r>
              <a:rPr sz="1200" b="0" i="0">
                <a:solidFill>
                  <a:srgbClr val="1F2A33"/>
                </a:solidFill>
                <a:latin typeface="Nunito"/>
              </a:rPr>
              <a:t>Boolean validation: salary &gt;= 15000 AND salary &lt;= 100000</a:t>
            </a:r>
          </a:p>
          <a:p>
            <a:pPr>
              <a:lnSpc>
                <a:spcPct val="105000"/>
              </a:lnSpc>
              <a:spcAft>
                <a:spcPts val="100"/>
              </a:spcAft>
            </a:pPr>
            <a:r>
              <a:rPr sz="1400" b="1" i="0">
                <a:solidFill>
                  <a:srgbClr val="B0322C"/>
                </a:solidFill>
                <a:latin typeface="JetBrains Mono"/>
              </a:rPr>
              <a:t>DEFAULT</a:t>
            </a:r>
          </a:p>
          <a:p>
            <a:pPr>
              <a:lnSpc>
                <a:spcPct val="105000"/>
              </a:lnSpc>
              <a:spcAft>
                <a:spcPts val="900"/>
              </a:spcAft>
            </a:pPr>
            <a:r>
              <a:rPr sz="1200" b="0" i="0">
                <a:solidFill>
                  <a:srgbClr val="1F2A33"/>
                </a:solidFill>
                <a:latin typeface="Nunito"/>
              </a:rPr>
              <a:t>Auto-assign on INSERT: GETDATE(), NEWID(), literals</a:t>
            </a:r>
          </a:p>
        </p:txBody>
      </p:sp>
      <p:sp>
        <p:nvSpPr>
          <p:cNvPr id="7" name="Rounded Rectangle 6"/>
          <p:cNvSpPr/>
          <p:nvPr/>
        </p:nvSpPr>
        <p:spPr>
          <a:xfrm>
            <a:off x="6278727" y="1188720"/>
            <a:ext cx="5364327" cy="53492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25031" y="1188720"/>
            <a:ext cx="5071719"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8183" y="1371600"/>
            <a:ext cx="4925415" cy="4983480"/>
          </a:xfrm>
          <a:prstGeom prst="rect">
            <a:avLst/>
          </a:prstGeom>
          <a:noFill/>
        </p:spPr>
        <p:txBody>
          <a:bodyPr wrap="square" lIns="0" rIns="0" tIns="0" bIns="0">
            <a:spAutoFit/>
          </a:bodyPr>
          <a:lstStyle/>
          <a:p>
            <a:pPr>
              <a:lnSpc>
                <a:spcPct val="105000"/>
              </a:lnSpc>
              <a:spcAft>
                <a:spcPts val="1000"/>
              </a:spcAft>
            </a:pPr>
            <a:r>
              <a:rPr sz="1800" b="1" i="0">
                <a:solidFill>
                  <a:srgbClr val="1F2A33"/>
                </a:solidFill>
                <a:latin typeface="Bricolage Grotesque"/>
              </a:rPr>
              <a:t>JSON Columns &amp; Indexes</a:t>
            </a:r>
          </a:p>
          <a:p>
            <a:pPr marL="182880" indent="-182880">
              <a:lnSpc>
                <a:spcPct val="105000"/>
              </a:lnSpc>
              <a:spcAft>
                <a:spcPts val="900"/>
              </a:spcAft>
              <a:buFont typeface="Nunito"/>
              <a:buChar char="•"/>
            </a:pPr>
            <a:r>
              <a:rPr sz="1200" b="0" i="0">
                <a:solidFill>
                  <a:srgbClr val="1F2A33"/>
                </a:solidFill>
                <a:latin typeface="Nunito"/>
              </a:rPr>
              <a:t>Native JSON data type in SQL Server 2025 — up to 2 GB per row</a:t>
            </a:r>
          </a:p>
          <a:p>
            <a:pPr marL="182880" indent="-182880">
              <a:lnSpc>
                <a:spcPct val="105000"/>
              </a:lnSpc>
              <a:spcAft>
                <a:spcPts val="900"/>
              </a:spcAft>
              <a:buFont typeface="Nunito"/>
              <a:buChar char="•"/>
            </a:pPr>
            <a:r>
              <a:rPr sz="1200" b="0" i="0">
                <a:solidFill>
                  <a:srgbClr val="1F2A33"/>
                </a:solidFill>
                <a:latin typeface="Nunito"/>
              </a:rPr>
              <a:t>JSON_VALUE, JSON_QUERY, JSON_MODIFY, OPENJSON for parse/transform</a:t>
            </a:r>
          </a:p>
          <a:p>
            <a:pPr marL="182880" indent="-182880">
              <a:lnSpc>
                <a:spcPct val="105000"/>
              </a:lnSpc>
              <a:spcAft>
                <a:spcPts val="900"/>
              </a:spcAft>
              <a:buFont typeface="Nunito"/>
              <a:buChar char="•"/>
            </a:pPr>
            <a:r>
              <a:rPr sz="1200" b="0" i="0">
                <a:solidFill>
                  <a:srgbClr val="1F2A33"/>
                </a:solidFill>
                <a:latin typeface="Nunito"/>
              </a:rPr>
              <a:t>JSON_OBJECT / JSON_ARRAY to construct JSON from SQL</a:t>
            </a:r>
          </a:p>
          <a:p>
            <a:pPr marL="182880" indent="-182880">
              <a:lnSpc>
                <a:spcPct val="105000"/>
              </a:lnSpc>
              <a:spcAft>
                <a:spcPts val="900"/>
              </a:spcAft>
              <a:buFont typeface="Nunito"/>
              <a:buChar char="•"/>
            </a:pPr>
            <a:r>
              <a:rPr sz="1200" b="0" i="0">
                <a:solidFill>
                  <a:srgbClr val="1F2A33"/>
                </a:solidFill>
                <a:latin typeface="Nunito"/>
              </a:rPr>
              <a:t>Computed column + standard index for specific $.paths (all versions)</a:t>
            </a:r>
          </a:p>
          <a:p>
            <a:pPr marL="182880" indent="-182880">
              <a:lnSpc>
                <a:spcPct val="105000"/>
              </a:lnSpc>
              <a:spcAft>
                <a:spcPts val="900"/>
              </a:spcAft>
              <a:buFont typeface="Nunito"/>
              <a:buChar char="•"/>
            </a:pPr>
            <a:r>
              <a:rPr sz="1200" b="0" i="0">
                <a:solidFill>
                  <a:srgbClr val="1F2A33"/>
                </a:solidFill>
                <a:latin typeface="Nunito"/>
              </a:rPr>
              <a:t>CREATE JSON INDEX: covers all paths without computed columns (2025+)</a:t>
            </a:r>
          </a:p>
          <a:p>
            <a:pPr marL="182880" indent="-182880">
              <a:lnSpc>
                <a:spcPct val="105000"/>
              </a:lnSpc>
              <a:spcAft>
                <a:spcPts val="900"/>
              </a:spcAft>
              <a:buFont typeface="Nunito"/>
              <a:buChar char="•"/>
            </a:pPr>
            <a:r>
              <a:rPr sz="1200" b="0" i="0">
                <a:solidFill>
                  <a:srgbClr val="1F2A33"/>
                </a:solidFill>
                <a:latin typeface="Nunito"/>
              </a:rPr>
              <a:t>Bridges relational + document models in a single platform</a:t>
            </a:r>
          </a:p>
          <a:p>
            <a:pPr marL="182880" indent="-182880">
              <a:lnSpc>
                <a:spcPct val="105000"/>
              </a:lnSpc>
              <a:spcAft>
                <a:spcPts val="900"/>
              </a:spcAft>
              <a:buFont typeface="Nunito"/>
              <a:buChar char="•"/>
            </a:pPr>
            <a:r>
              <a:rPr sz="1200" b="0" i="0">
                <a:solidFill>
                  <a:srgbClr val="1F2A33"/>
                </a:solidFill>
                <a:latin typeface="Nunito"/>
              </a:rPr>
              <a:t>ISJSON() validates JSON before storage; OPENJSON shreds to rows</a:t>
            </a:r>
          </a:p>
        </p:txBody>
      </p:sp>
      <p:sp>
        <p:nvSpPr>
          <p:cNvPr id="10" name="TextBox 9"/>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1</a:t>
            </a:r>
          </a:p>
        </p:txBody>
      </p:sp>
      <p:sp>
        <p:nvSpPr>
          <p:cNvPr id="11" name="TextBox 10"/>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Sequences &amp; Partitioning</a:t>
            </a:r>
          </a:p>
        </p:txBody>
      </p:sp>
      <p:sp>
        <p:nvSpPr>
          <p:cNvPr id="3" name="Rounded Rectangle 2"/>
          <p:cNvSpPr/>
          <p:nvPr/>
        </p:nvSpPr>
        <p:spPr>
          <a:xfrm>
            <a:off x="548640" y="932688"/>
            <a:ext cx="658368" cy="73152"/>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43000"/>
            <a:ext cx="11094415" cy="2487168"/>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98448"/>
            <a:ext cx="7315200" cy="384048"/>
          </a:xfrm>
          <a:prstGeom prst="rect">
            <a:avLst/>
          </a:prstGeom>
          <a:noFill/>
        </p:spPr>
        <p:txBody>
          <a:bodyPr wrap="square" lIns="0" rIns="0" tIns="0" bIns="0">
            <a:spAutoFit/>
          </a:bodyPr>
          <a:lstStyle/>
          <a:p>
            <a:pPr>
              <a:lnSpc>
                <a:spcPct val="105000"/>
              </a:lnSpc>
              <a:spcAft>
                <a:spcPts val="0"/>
              </a:spcAft>
            </a:pPr>
            <a:r>
              <a:rPr sz="1700" b="1" i="0">
                <a:solidFill>
                  <a:srgbClr val="1F2A33"/>
                </a:solidFill>
                <a:latin typeface="Bricolage Grotesque"/>
              </a:rPr>
              <a:t>SEQUENCE vs. IDENTITY</a:t>
            </a:r>
          </a:p>
        </p:txBody>
      </p:sp>
      <p:graphicFrame>
        <p:nvGraphicFramePr>
          <p:cNvPr id="6" name="Table 5"/>
          <p:cNvGraphicFramePr>
            <a:graphicFrameLocks noGrp="1"/>
          </p:cNvGraphicFramePr>
          <p:nvPr/>
        </p:nvGraphicFramePr>
        <p:xfrm>
          <a:off x="822960" y="1755648"/>
          <a:ext cx="11091672" cy="1737360"/>
        </p:xfrm>
        <a:graphic>
          <a:graphicData uri="http://schemas.openxmlformats.org/drawingml/2006/table">
            <a:tbl>
              <a:tblPr firstRow="1" bandRow="1">
                <a:tableStyleId>{5C22544A-7EE6-4342-B048-85BDC9FD1C3A}</a:tableStyleId>
              </a:tblPr>
              <a:tblGrid>
                <a:gridCol w="1783080"/>
                <a:gridCol w="4681728"/>
                <a:gridCol w="4626864"/>
              </a:tblGrid>
              <a:tr h="347472">
                <a:tc>
                  <a:txBody>
                    <a:bodyPr/>
                    <a:lstStyle/>
                    <a:p>
                      <a:pPr algn="l">
                        <a:lnSpc>
                          <a:spcPct val="105000"/>
                        </a:lnSpc>
                        <a:spcAft>
                          <a:spcPts val="0"/>
                        </a:spcAft>
                      </a:pPr>
                      <a:r>
                        <a:rPr sz="1150" b="1" i="0">
                          <a:solidFill>
                            <a:srgbClr val="ECE2D0"/>
                          </a:solidFill>
                          <a:latin typeface="Nunito"/>
                        </a:rPr>
                        <a:t>Feature</a:t>
                      </a:r>
                    </a:p>
                  </a:txBody>
                  <a:tcPr marL="109728" marR="73152" marT="18288" marB="18288" anchor="ctr">
                    <a:solidFill>
                      <a:srgbClr val="1F2A33"/>
                    </a:solidFill>
                  </a:tcPr>
                </a:tc>
                <a:tc>
                  <a:txBody>
                    <a:bodyPr/>
                    <a:lstStyle/>
                    <a:p>
                      <a:pPr algn="ctr">
                        <a:lnSpc>
                          <a:spcPct val="105000"/>
                        </a:lnSpc>
                        <a:spcAft>
                          <a:spcPts val="0"/>
                        </a:spcAft>
                      </a:pPr>
                      <a:r>
                        <a:rPr sz="1150" b="1" i="0">
                          <a:solidFill>
                            <a:srgbClr val="ECE2D0"/>
                          </a:solidFill>
                          <a:latin typeface="Nunito"/>
                        </a:rPr>
                        <a:t>SEQUENCE</a:t>
                      </a:r>
                    </a:p>
                  </a:txBody>
                  <a:tcPr marL="109728" marR="73152" marT="18288" marB="18288" anchor="ctr">
                    <a:solidFill>
                      <a:srgbClr val="1F2A33"/>
                    </a:solidFill>
                  </a:tcPr>
                </a:tc>
                <a:tc>
                  <a:txBody>
                    <a:bodyPr/>
                    <a:lstStyle/>
                    <a:p>
                      <a:pPr algn="ctr">
                        <a:lnSpc>
                          <a:spcPct val="105000"/>
                        </a:lnSpc>
                        <a:spcAft>
                          <a:spcPts val="0"/>
                        </a:spcAft>
                      </a:pPr>
                      <a:r>
                        <a:rPr sz="1150" b="1" i="0">
                          <a:solidFill>
                            <a:srgbClr val="ECE2D0"/>
                          </a:solidFill>
                          <a:latin typeface="Nunito"/>
                        </a:rPr>
                        <a:t>IDENTITY</a:t>
                      </a:r>
                    </a:p>
                  </a:txBody>
                  <a:tcPr marL="109728" marR="73152" marT="18288" marB="18288" anchor="ctr">
                    <a:solidFill>
                      <a:srgbClr val="1F2A33"/>
                    </a:solidFill>
                  </a:tcPr>
                </a:tc>
              </a:tr>
              <a:tr h="347472">
                <a:tc>
                  <a:txBody>
                    <a:bodyPr/>
                    <a:lstStyle/>
                    <a:p>
                      <a:pPr algn="l">
                        <a:lnSpc>
                          <a:spcPct val="105000"/>
                        </a:lnSpc>
                        <a:spcAft>
                          <a:spcPts val="0"/>
                        </a:spcAft>
                      </a:pPr>
                      <a:r>
                        <a:rPr sz="1150" b="1" i="0">
                          <a:solidFill>
                            <a:srgbClr val="1F2A33"/>
                          </a:solidFill>
                          <a:latin typeface="Nunito"/>
                        </a:rPr>
                        <a:t>Scope</a:t>
                      </a:r>
                    </a:p>
                  </a:txBody>
                  <a:tcPr marL="109728" marR="73152" marT="18288" marB="18288" anchor="ctr">
                    <a:solidFill>
                      <a:srgbClr val="FDFAF3"/>
                    </a:solidFill>
                  </a:tcPr>
                </a:tc>
                <a:tc>
                  <a:txBody>
                    <a:bodyPr/>
                    <a:lstStyle/>
                    <a:p>
                      <a:pPr algn="ctr">
                        <a:lnSpc>
                          <a:spcPct val="105000"/>
                        </a:lnSpc>
                        <a:spcAft>
                          <a:spcPts val="0"/>
                        </a:spcAft>
                      </a:pPr>
                      <a:r>
                        <a:rPr sz="1150" b="0" i="0">
                          <a:solidFill>
                            <a:srgbClr val="1F2A33"/>
                          </a:solidFill>
                          <a:latin typeface="Nunito"/>
                        </a:rPr>
                        <a:t>Database-level, shared across tables</a:t>
                      </a:r>
                    </a:p>
                  </a:txBody>
                  <a:tcPr marL="109728" marR="73152" marT="18288" marB="18288" anchor="ctr">
                    <a:solidFill>
                      <a:srgbClr val="FDFAF3"/>
                    </a:solidFill>
                  </a:tcPr>
                </a:tc>
                <a:tc>
                  <a:txBody>
                    <a:bodyPr/>
                    <a:lstStyle/>
                    <a:p>
                      <a:pPr algn="ctr">
                        <a:lnSpc>
                          <a:spcPct val="105000"/>
                        </a:lnSpc>
                        <a:spcAft>
                          <a:spcPts val="0"/>
                        </a:spcAft>
                      </a:pPr>
                      <a:r>
                        <a:rPr sz="1150" b="0" i="0">
                          <a:solidFill>
                            <a:srgbClr val="1F2A33"/>
                          </a:solidFill>
                          <a:latin typeface="Nunito"/>
                        </a:rPr>
                        <a:t>Column-level, one table only</a:t>
                      </a:r>
                    </a:p>
                  </a:txBody>
                  <a:tcPr marL="109728" marR="73152" marT="18288" marB="18288" anchor="ctr">
                    <a:solidFill>
                      <a:srgbClr val="FDFAF3"/>
                    </a:solidFill>
                  </a:tcPr>
                </a:tc>
              </a:tr>
              <a:tr h="347472">
                <a:tc>
                  <a:txBody>
                    <a:bodyPr/>
                    <a:lstStyle/>
                    <a:p>
                      <a:pPr algn="l">
                        <a:lnSpc>
                          <a:spcPct val="105000"/>
                        </a:lnSpc>
                        <a:spcAft>
                          <a:spcPts val="0"/>
                        </a:spcAft>
                      </a:pPr>
                      <a:r>
                        <a:rPr sz="1150" b="1" i="0">
                          <a:solidFill>
                            <a:srgbClr val="1F2A33"/>
                          </a:solidFill>
                          <a:latin typeface="Nunito"/>
                        </a:rPr>
                        <a:t>Pre-generate</a:t>
                      </a:r>
                    </a:p>
                  </a:txBody>
                  <a:tcPr marL="109728" marR="73152" marT="18288" marB="18288" anchor="ctr">
                    <a:solidFill>
                      <a:srgbClr val="F4F0E5"/>
                    </a:solidFill>
                  </a:tcPr>
                </a:tc>
                <a:tc>
                  <a:txBody>
                    <a:bodyPr/>
                    <a:lstStyle/>
                    <a:p>
                      <a:pPr algn="ctr">
                        <a:lnSpc>
                          <a:spcPct val="105000"/>
                        </a:lnSpc>
                        <a:spcAft>
                          <a:spcPts val="0"/>
                        </a:spcAft>
                      </a:pPr>
                      <a:r>
                        <a:rPr sz="1150" b="0" i="0">
                          <a:solidFill>
                            <a:srgbClr val="1F2A33"/>
                          </a:solidFill>
                          <a:latin typeface="Nunito"/>
                        </a:rPr>
                        <a:t>NEXT VALUE FOR before INSERT</a:t>
                      </a:r>
                    </a:p>
                  </a:txBody>
                  <a:tcPr marL="109728" marR="73152" marT="18288" marB="18288" anchor="ctr">
                    <a:solidFill>
                      <a:srgbClr val="F4F0E5"/>
                    </a:solidFill>
                  </a:tcPr>
                </a:tc>
                <a:tc>
                  <a:txBody>
                    <a:bodyPr/>
                    <a:lstStyle/>
                    <a:p>
                      <a:pPr algn="ctr">
                        <a:lnSpc>
                          <a:spcPct val="105000"/>
                        </a:lnSpc>
                        <a:spcAft>
                          <a:spcPts val="0"/>
                        </a:spcAft>
                      </a:pPr>
                      <a:r>
                        <a:rPr sz="1150" b="0" i="0">
                          <a:solidFill>
                            <a:srgbClr val="1F2A33"/>
                          </a:solidFill>
                          <a:latin typeface="Nunito"/>
                        </a:rPr>
                        <a:t>Only on INSERT</a:t>
                      </a:r>
                    </a:p>
                  </a:txBody>
                  <a:tcPr marL="109728" marR="73152" marT="18288" marB="18288" anchor="ctr">
                    <a:solidFill>
                      <a:srgbClr val="F4F0E5"/>
                    </a:solidFill>
                  </a:tcPr>
                </a:tc>
              </a:tr>
              <a:tr h="347472">
                <a:tc>
                  <a:txBody>
                    <a:bodyPr/>
                    <a:lstStyle/>
                    <a:p>
                      <a:pPr algn="l">
                        <a:lnSpc>
                          <a:spcPct val="105000"/>
                        </a:lnSpc>
                        <a:spcAft>
                          <a:spcPts val="0"/>
                        </a:spcAft>
                      </a:pPr>
                      <a:r>
                        <a:rPr sz="1150" b="1" i="0">
                          <a:solidFill>
                            <a:srgbClr val="1F2A33"/>
                          </a:solidFill>
                          <a:latin typeface="Nunito"/>
                        </a:rPr>
                        <a:t>Cycling</a:t>
                      </a:r>
                    </a:p>
                  </a:txBody>
                  <a:tcPr marL="109728" marR="73152" marT="18288" marB="18288" anchor="ctr">
                    <a:solidFill>
                      <a:srgbClr val="FDFAF3"/>
                    </a:solidFill>
                  </a:tcPr>
                </a:tc>
                <a:tc>
                  <a:txBody>
                    <a:bodyPr/>
                    <a:lstStyle/>
                    <a:p>
                      <a:pPr algn="ctr">
                        <a:lnSpc>
                          <a:spcPct val="105000"/>
                        </a:lnSpc>
                        <a:spcAft>
                          <a:spcPts val="0"/>
                        </a:spcAft>
                      </a:pPr>
                      <a:r>
                        <a:rPr sz="1150" b="0" i="0">
                          <a:solidFill>
                            <a:srgbClr val="1F2A33"/>
                          </a:solidFill>
                          <a:latin typeface="Nunito"/>
                        </a:rPr>
                        <a:t>Configurable CYCLE / NO CYCLE</a:t>
                      </a:r>
                    </a:p>
                  </a:txBody>
                  <a:tcPr marL="109728" marR="73152" marT="18288" marB="18288" anchor="ctr">
                    <a:solidFill>
                      <a:srgbClr val="FDFAF3"/>
                    </a:solidFill>
                  </a:tcPr>
                </a:tc>
                <a:tc>
                  <a:txBody>
                    <a:bodyPr/>
                    <a:lstStyle/>
                    <a:p>
                      <a:pPr algn="ctr">
                        <a:lnSpc>
                          <a:spcPct val="105000"/>
                        </a:lnSpc>
                        <a:spcAft>
                          <a:spcPts val="0"/>
                        </a:spcAft>
                      </a:pPr>
                      <a:r>
                        <a:rPr sz="1150" b="0" i="0">
                          <a:solidFill>
                            <a:srgbClr val="1F2A33"/>
                          </a:solidFill>
                          <a:latin typeface="Nunito"/>
                        </a:rPr>
                        <a:t>Not supported</a:t>
                      </a:r>
                    </a:p>
                  </a:txBody>
                  <a:tcPr marL="109728" marR="73152" marT="18288" marB="18288" anchor="ctr">
                    <a:solidFill>
                      <a:srgbClr val="FDFAF3"/>
                    </a:solidFill>
                  </a:tcPr>
                </a:tc>
              </a:tr>
              <a:tr h="347472">
                <a:tc>
                  <a:txBody>
                    <a:bodyPr/>
                    <a:lstStyle/>
                    <a:p>
                      <a:pPr algn="l">
                        <a:lnSpc>
                          <a:spcPct val="105000"/>
                        </a:lnSpc>
                        <a:spcAft>
                          <a:spcPts val="0"/>
                        </a:spcAft>
                      </a:pPr>
                      <a:r>
                        <a:rPr sz="1150" b="1" i="0">
                          <a:solidFill>
                            <a:srgbClr val="1F2A33"/>
                          </a:solidFill>
                          <a:latin typeface="Nunito"/>
                        </a:rPr>
                        <a:t>Cross-server</a:t>
                      </a:r>
                    </a:p>
                  </a:txBody>
                  <a:tcPr marL="109728" marR="73152" marT="18288" marB="18288" anchor="ctr">
                    <a:solidFill>
                      <a:srgbClr val="F4F0E5"/>
                    </a:solidFill>
                  </a:tcPr>
                </a:tc>
                <a:tc>
                  <a:txBody>
                    <a:bodyPr/>
                    <a:lstStyle/>
                    <a:p>
                      <a:pPr algn="ctr">
                        <a:lnSpc>
                          <a:spcPct val="105000"/>
                        </a:lnSpc>
                        <a:spcAft>
                          <a:spcPts val="0"/>
                        </a:spcAft>
                      </a:pPr>
                      <a:r>
                        <a:rPr sz="1150" b="0" i="0">
                          <a:solidFill>
                            <a:srgbClr val="1F2A33"/>
                          </a:solidFill>
                          <a:latin typeface="Nunito"/>
                        </a:rPr>
                        <a:t>Works on linked servers</a:t>
                      </a:r>
                    </a:p>
                  </a:txBody>
                  <a:tcPr marL="109728" marR="73152" marT="18288" marB="18288" anchor="ctr">
                    <a:solidFill>
                      <a:srgbClr val="F4F0E5"/>
                    </a:solidFill>
                  </a:tcPr>
                </a:tc>
                <a:tc>
                  <a:txBody>
                    <a:bodyPr/>
                    <a:lstStyle/>
                    <a:p>
                      <a:pPr algn="ctr">
                        <a:lnSpc>
                          <a:spcPct val="105000"/>
                        </a:lnSpc>
                        <a:spcAft>
                          <a:spcPts val="0"/>
                        </a:spcAft>
                      </a:pPr>
                      <a:r>
                        <a:rPr sz="1150" b="0" i="0">
                          <a:solidFill>
                            <a:srgbClr val="1F2A33"/>
                          </a:solidFill>
                          <a:latin typeface="Nunito"/>
                        </a:rPr>
                        <a:t>SET IDENTITY_INSERT issues</a:t>
                      </a:r>
                    </a:p>
                  </a:txBody>
                  <a:tcPr marL="109728" marR="73152" marT="18288" marB="18288" anchor="ctr">
                    <a:solidFill>
                      <a:srgbClr val="F4F0E5"/>
                    </a:solidFill>
                  </a:tcPr>
                </a:tc>
              </a:tr>
            </a:tbl>
          </a:graphicData>
        </a:graphic>
      </p:graphicFrame>
      <p:sp>
        <p:nvSpPr>
          <p:cNvPr id="7" name="Rounded Rectangle 6"/>
          <p:cNvSpPr/>
          <p:nvPr/>
        </p:nvSpPr>
        <p:spPr>
          <a:xfrm>
            <a:off x="548640" y="3840480"/>
            <a:ext cx="11094415" cy="278892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995928"/>
            <a:ext cx="7315200" cy="384048"/>
          </a:xfrm>
          <a:prstGeom prst="rect">
            <a:avLst/>
          </a:prstGeom>
          <a:noFill/>
        </p:spPr>
        <p:txBody>
          <a:bodyPr wrap="square" lIns="0" rIns="0" tIns="0" bIns="0">
            <a:spAutoFit/>
          </a:bodyPr>
          <a:lstStyle/>
          <a:p>
            <a:pPr>
              <a:lnSpc>
                <a:spcPct val="105000"/>
              </a:lnSpc>
              <a:spcAft>
                <a:spcPts val="0"/>
              </a:spcAft>
            </a:pPr>
            <a:r>
              <a:rPr sz="1700" b="1" i="0">
                <a:solidFill>
                  <a:srgbClr val="1F2A33"/>
                </a:solidFill>
                <a:latin typeface="Bricolage Grotesque"/>
              </a:rPr>
              <a:t>Partitioning Strategy</a:t>
            </a:r>
          </a:p>
        </p:txBody>
      </p:sp>
      <p:sp>
        <p:nvSpPr>
          <p:cNvPr id="9" name="Oval 8"/>
          <p:cNvSpPr/>
          <p:nvPr/>
        </p:nvSpPr>
        <p:spPr>
          <a:xfrm>
            <a:off x="1051560" y="4498848"/>
            <a:ext cx="457200" cy="457200"/>
          </a:xfrm>
          <a:prstGeom prst="ellipse">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spcAft>
                <a:spcPts val="0"/>
              </a:spcAft>
            </a:pPr>
            <a:r>
              <a:rPr sz="1500" b="1" i="0">
                <a:solidFill>
                  <a:srgbClr val="F6F2EA"/>
                </a:solidFill>
                <a:latin typeface="Bricolage Grotesque"/>
              </a:rPr>
              <a:t>1</a:t>
            </a:r>
          </a:p>
        </p:txBody>
      </p:sp>
      <p:sp>
        <p:nvSpPr>
          <p:cNvPr id="10" name="TextBox 9"/>
          <p:cNvSpPr txBox="1"/>
          <p:nvPr/>
        </p:nvSpPr>
        <p:spPr>
          <a:xfrm>
            <a:off x="1655064" y="4425696"/>
            <a:ext cx="1914067" cy="658368"/>
          </a:xfrm>
          <a:prstGeom prst="rect">
            <a:avLst/>
          </a:prstGeom>
          <a:noFill/>
        </p:spPr>
        <p:txBody>
          <a:bodyPr wrap="square" lIns="0" rIns="0" tIns="0" bIns="0">
            <a:spAutoFit/>
          </a:bodyPr>
          <a:lstStyle/>
          <a:p>
            <a:pPr>
              <a:lnSpc>
                <a:spcPct val="102000"/>
              </a:lnSpc>
              <a:spcAft>
                <a:spcPts val="0"/>
              </a:spcAft>
            </a:pPr>
            <a:r>
              <a:rPr sz="1400" b="1" i="0">
                <a:solidFill>
                  <a:srgbClr val="1F2A33"/>
                </a:solidFill>
                <a:latin typeface="Bricolage Grotesque"/>
              </a:rPr>
              <a:t>Partition</a:t>
            </a:r>
          </a:p>
          <a:p>
            <a:pPr>
              <a:lnSpc>
                <a:spcPct val="102000"/>
              </a:lnSpc>
              <a:spcAft>
                <a:spcPts val="0"/>
              </a:spcAft>
            </a:pPr>
            <a:r>
              <a:rPr sz="1400" b="1" i="0">
                <a:solidFill>
                  <a:srgbClr val="1F2A33"/>
                </a:solidFill>
                <a:latin typeface="Bricolage Grotesque"/>
              </a:rPr>
              <a:t>Function</a:t>
            </a:r>
          </a:p>
        </p:txBody>
      </p:sp>
      <p:sp>
        <p:nvSpPr>
          <p:cNvPr id="11" name="Oval 10"/>
          <p:cNvSpPr/>
          <p:nvPr/>
        </p:nvSpPr>
        <p:spPr>
          <a:xfrm>
            <a:off x="3642283" y="4498848"/>
            <a:ext cx="457200" cy="457200"/>
          </a:xfrm>
          <a:prstGeom prst="ellipse">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spcAft>
                <a:spcPts val="0"/>
              </a:spcAft>
            </a:pPr>
            <a:r>
              <a:rPr sz="1500" b="1" i="0">
                <a:solidFill>
                  <a:srgbClr val="F6F2EA"/>
                </a:solidFill>
                <a:latin typeface="Bricolage Grotesque"/>
              </a:rPr>
              <a:t>2</a:t>
            </a:r>
          </a:p>
        </p:txBody>
      </p:sp>
      <p:sp>
        <p:nvSpPr>
          <p:cNvPr id="12" name="TextBox 11"/>
          <p:cNvSpPr txBox="1"/>
          <p:nvPr/>
        </p:nvSpPr>
        <p:spPr>
          <a:xfrm>
            <a:off x="4245787" y="4425696"/>
            <a:ext cx="1914067" cy="658368"/>
          </a:xfrm>
          <a:prstGeom prst="rect">
            <a:avLst/>
          </a:prstGeom>
          <a:noFill/>
        </p:spPr>
        <p:txBody>
          <a:bodyPr wrap="square" lIns="0" rIns="0" tIns="0" bIns="0">
            <a:spAutoFit/>
          </a:bodyPr>
          <a:lstStyle/>
          <a:p>
            <a:pPr>
              <a:lnSpc>
                <a:spcPct val="102000"/>
              </a:lnSpc>
              <a:spcAft>
                <a:spcPts val="0"/>
              </a:spcAft>
            </a:pPr>
            <a:r>
              <a:rPr sz="1400" b="1" i="0">
                <a:solidFill>
                  <a:srgbClr val="1F2A33"/>
                </a:solidFill>
                <a:latin typeface="Bricolage Grotesque"/>
              </a:rPr>
              <a:t>Partition</a:t>
            </a:r>
          </a:p>
          <a:p>
            <a:pPr>
              <a:lnSpc>
                <a:spcPct val="102000"/>
              </a:lnSpc>
              <a:spcAft>
                <a:spcPts val="0"/>
              </a:spcAft>
            </a:pPr>
            <a:r>
              <a:rPr sz="1400" b="1" i="0">
                <a:solidFill>
                  <a:srgbClr val="1F2A33"/>
                </a:solidFill>
                <a:latin typeface="Bricolage Grotesque"/>
              </a:rPr>
              <a:t>Scheme</a:t>
            </a:r>
          </a:p>
        </p:txBody>
      </p:sp>
      <p:sp>
        <p:nvSpPr>
          <p:cNvPr id="13" name="Oval 12"/>
          <p:cNvSpPr/>
          <p:nvPr/>
        </p:nvSpPr>
        <p:spPr>
          <a:xfrm>
            <a:off x="6233007" y="4498848"/>
            <a:ext cx="457200" cy="457200"/>
          </a:xfrm>
          <a:prstGeom prst="ellipse">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spcAft>
                <a:spcPts val="0"/>
              </a:spcAft>
            </a:pPr>
            <a:r>
              <a:rPr sz="1500" b="1" i="0">
                <a:solidFill>
                  <a:srgbClr val="F6F2EA"/>
                </a:solidFill>
                <a:latin typeface="Bricolage Grotesque"/>
              </a:rPr>
              <a:t>3</a:t>
            </a:r>
          </a:p>
        </p:txBody>
      </p:sp>
      <p:sp>
        <p:nvSpPr>
          <p:cNvPr id="14" name="TextBox 13"/>
          <p:cNvSpPr txBox="1"/>
          <p:nvPr/>
        </p:nvSpPr>
        <p:spPr>
          <a:xfrm>
            <a:off x="6836511" y="4425696"/>
            <a:ext cx="1914067" cy="658368"/>
          </a:xfrm>
          <a:prstGeom prst="rect">
            <a:avLst/>
          </a:prstGeom>
          <a:noFill/>
        </p:spPr>
        <p:txBody>
          <a:bodyPr wrap="square" lIns="0" rIns="0" tIns="0" bIns="0">
            <a:spAutoFit/>
          </a:bodyPr>
          <a:lstStyle/>
          <a:p>
            <a:pPr>
              <a:lnSpc>
                <a:spcPct val="102000"/>
              </a:lnSpc>
              <a:spcAft>
                <a:spcPts val="0"/>
              </a:spcAft>
            </a:pPr>
            <a:r>
              <a:rPr sz="1400" b="1" i="0">
                <a:solidFill>
                  <a:srgbClr val="1F2A33"/>
                </a:solidFill>
                <a:latin typeface="Bricolage Grotesque"/>
              </a:rPr>
              <a:t>Create</a:t>
            </a:r>
          </a:p>
          <a:p>
            <a:pPr>
              <a:lnSpc>
                <a:spcPct val="102000"/>
              </a:lnSpc>
              <a:spcAft>
                <a:spcPts val="0"/>
              </a:spcAft>
            </a:pPr>
            <a:r>
              <a:rPr sz="1400" b="1" i="0">
                <a:solidFill>
                  <a:srgbClr val="1F2A33"/>
                </a:solidFill>
                <a:latin typeface="Bricolage Grotesque"/>
              </a:rPr>
              <a:t>Table</a:t>
            </a:r>
          </a:p>
        </p:txBody>
      </p:sp>
      <p:sp>
        <p:nvSpPr>
          <p:cNvPr id="15" name="Oval 14"/>
          <p:cNvSpPr/>
          <p:nvPr/>
        </p:nvSpPr>
        <p:spPr>
          <a:xfrm>
            <a:off x="8823731" y="4498848"/>
            <a:ext cx="457200" cy="457200"/>
          </a:xfrm>
          <a:prstGeom prst="ellipse">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spcAft>
                <a:spcPts val="0"/>
              </a:spcAft>
            </a:pPr>
            <a:r>
              <a:rPr sz="1500" b="1" i="0">
                <a:solidFill>
                  <a:srgbClr val="F6F2EA"/>
                </a:solidFill>
                <a:latin typeface="Bricolage Grotesque"/>
              </a:rPr>
              <a:t>4</a:t>
            </a:r>
          </a:p>
        </p:txBody>
      </p:sp>
      <p:sp>
        <p:nvSpPr>
          <p:cNvPr id="16" name="TextBox 15"/>
          <p:cNvSpPr txBox="1"/>
          <p:nvPr/>
        </p:nvSpPr>
        <p:spPr>
          <a:xfrm>
            <a:off x="9427235" y="4425696"/>
            <a:ext cx="1914067" cy="658368"/>
          </a:xfrm>
          <a:prstGeom prst="rect">
            <a:avLst/>
          </a:prstGeom>
          <a:noFill/>
        </p:spPr>
        <p:txBody>
          <a:bodyPr wrap="square" lIns="0" rIns="0" tIns="0" bIns="0">
            <a:spAutoFit/>
          </a:bodyPr>
          <a:lstStyle/>
          <a:p>
            <a:pPr>
              <a:lnSpc>
                <a:spcPct val="102000"/>
              </a:lnSpc>
              <a:spcAft>
                <a:spcPts val="0"/>
              </a:spcAft>
            </a:pPr>
            <a:r>
              <a:rPr sz="1400" b="1" i="0">
                <a:solidFill>
                  <a:srgbClr val="1F2A33"/>
                </a:solidFill>
                <a:latin typeface="Bricolage Grotesque"/>
              </a:rPr>
              <a:t>Aligned</a:t>
            </a:r>
          </a:p>
          <a:p>
            <a:pPr>
              <a:lnSpc>
                <a:spcPct val="102000"/>
              </a:lnSpc>
              <a:spcAft>
                <a:spcPts val="0"/>
              </a:spcAft>
            </a:pPr>
            <a:r>
              <a:rPr sz="1400" b="1" i="0">
                <a:solidFill>
                  <a:srgbClr val="1F2A33"/>
                </a:solidFill>
                <a:latin typeface="Bricolage Grotesque"/>
              </a:rPr>
              <a:t>Indexes</a:t>
            </a:r>
          </a:p>
        </p:txBody>
      </p:sp>
      <p:sp>
        <p:nvSpPr>
          <p:cNvPr id="17" name="TextBox 16"/>
          <p:cNvSpPr txBox="1"/>
          <p:nvPr/>
        </p:nvSpPr>
        <p:spPr>
          <a:xfrm>
            <a:off x="1051560" y="5230368"/>
            <a:ext cx="10180015" cy="1325880"/>
          </a:xfrm>
          <a:prstGeom prst="rect">
            <a:avLst/>
          </a:prstGeom>
          <a:noFill/>
        </p:spPr>
        <p:txBody>
          <a:bodyPr wrap="square" lIns="0" rIns="0" tIns="0" bIns="0">
            <a:spAutoFit/>
          </a:bodyPr>
          <a:lstStyle/>
          <a:p>
            <a:pPr marL="182880" indent="-182880">
              <a:lnSpc>
                <a:spcPct val="105000"/>
              </a:lnSpc>
              <a:spcAft>
                <a:spcPts val="400"/>
              </a:spcAft>
              <a:buFont typeface="Nunito"/>
              <a:buChar char="•"/>
            </a:pPr>
            <a:r>
              <a:rPr sz="1250" b="0" i="0">
                <a:solidFill>
                  <a:srgbClr val="1F2A33"/>
                </a:solidFill>
                <a:latin typeface="Nunito"/>
              </a:rPr>
              <a:t>Partition elimination — queries scan only relevant partitions</a:t>
            </a:r>
          </a:p>
          <a:p>
            <a:pPr marL="182880" indent="-182880">
              <a:lnSpc>
                <a:spcPct val="105000"/>
              </a:lnSpc>
              <a:spcAft>
                <a:spcPts val="400"/>
              </a:spcAft>
              <a:buFont typeface="Nunito"/>
              <a:buChar char="•"/>
            </a:pPr>
            <a:r>
              <a:rPr sz="1250" b="0" i="0">
                <a:solidFill>
                  <a:srgbClr val="1F2A33"/>
                </a:solidFill>
                <a:latin typeface="Nunito"/>
              </a:rPr>
              <a:t>Instant archival with ALTER TABLE SWITCH</a:t>
            </a:r>
          </a:p>
          <a:p>
            <a:pPr marL="182880" indent="-182880">
              <a:lnSpc>
                <a:spcPct val="105000"/>
              </a:lnSpc>
              <a:spcAft>
                <a:spcPts val="400"/>
              </a:spcAft>
              <a:buFont typeface="Nunito"/>
              <a:buChar char="•"/>
            </a:pPr>
            <a:r>
              <a:rPr sz="1250" b="0" i="0">
                <a:solidFill>
                  <a:srgbClr val="1F2A33"/>
                </a:solidFill>
                <a:latin typeface="Nunito"/>
              </a:rPr>
              <a:t>Rebuild indexes per partition — minimize downtime</a:t>
            </a:r>
          </a:p>
          <a:p>
            <a:pPr marL="182880" indent="-182880">
              <a:lnSpc>
                <a:spcPct val="105000"/>
              </a:lnSpc>
              <a:spcAft>
                <a:spcPts val="400"/>
              </a:spcAft>
              <a:buFont typeface="Nunito"/>
              <a:buChar char="•"/>
            </a:pPr>
            <a:r>
              <a:rPr sz="1250" b="0" i="0">
                <a:solidFill>
                  <a:srgbClr val="1F2A33"/>
                </a:solidFill>
                <a:latin typeface="Nunito"/>
              </a:rPr>
              <a:t>Sliding window for automated data lifecycle management</a:t>
            </a:r>
          </a:p>
        </p:txBody>
      </p:sp>
      <p:sp>
        <p:nvSpPr>
          <p:cNvPr id="18" name="TextBox 17"/>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1</a:t>
            </a:r>
          </a:p>
        </p:txBody>
      </p:sp>
      <p:sp>
        <p:nvSpPr>
          <p:cNvPr id="19" name="TextBox 18"/>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1D24"/>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1A2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19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tretch>
            <a:fillRect/>
          </a:stretch>
        </p:blipFill>
        <p:spPr>
          <a:xfrm>
            <a:off x="777240" y="1965960"/>
            <a:ext cx="1691640" cy="1691640"/>
          </a:xfrm>
          <a:prstGeom prst="rect">
            <a:avLst/>
          </a:prstGeom>
        </p:spPr>
      </p:pic>
      <p:sp>
        <p:nvSpPr>
          <p:cNvPr id="5" name="TextBox 4"/>
          <p:cNvSpPr txBox="1"/>
          <p:nvPr/>
        </p:nvSpPr>
        <p:spPr>
          <a:xfrm>
            <a:off x="2880360" y="1481328"/>
            <a:ext cx="8503920" cy="457200"/>
          </a:xfrm>
          <a:prstGeom prst="rect">
            <a:avLst/>
          </a:prstGeom>
          <a:noFill/>
        </p:spPr>
        <p:txBody>
          <a:bodyPr wrap="square" lIns="0" rIns="0" tIns="0" bIns="0">
            <a:spAutoFit/>
          </a:bodyPr>
          <a:lstStyle/>
          <a:p>
            <a:pPr>
              <a:lnSpc>
                <a:spcPct val="105000"/>
              </a:lnSpc>
              <a:spcAft>
                <a:spcPts val="0"/>
              </a:spcAft>
            </a:pPr>
            <a:r>
              <a:rPr sz="1800" b="1" i="0">
                <a:solidFill>
                  <a:srgbClr val="3BB283"/>
                </a:solidFill>
                <a:latin typeface="Bricolage Grotesque"/>
              </a:rPr>
              <a:t>Module 2</a:t>
            </a:r>
          </a:p>
        </p:txBody>
      </p:sp>
      <p:sp>
        <p:nvSpPr>
          <p:cNvPr id="6" name="TextBox 5"/>
          <p:cNvSpPr txBox="1"/>
          <p:nvPr/>
        </p:nvSpPr>
        <p:spPr>
          <a:xfrm>
            <a:off x="2880360" y="1956816"/>
            <a:ext cx="8778240" cy="1920240"/>
          </a:xfrm>
          <a:prstGeom prst="rect">
            <a:avLst/>
          </a:prstGeom>
          <a:noFill/>
        </p:spPr>
        <p:txBody>
          <a:bodyPr wrap="square" lIns="0" rIns="0" tIns="0" bIns="0">
            <a:spAutoFit/>
          </a:bodyPr>
          <a:lstStyle/>
          <a:p>
            <a:pPr>
              <a:lnSpc>
                <a:spcPct val="104000"/>
              </a:lnSpc>
              <a:spcAft>
                <a:spcPts val="0"/>
              </a:spcAft>
            </a:pPr>
            <a:r>
              <a:rPr sz="4400" b="1" i="0">
                <a:solidFill>
                  <a:srgbClr val="F6F2EA"/>
                </a:solidFill>
                <a:latin typeface="Bricolage Grotesque"/>
              </a:rPr>
              <a:t>Implement</a:t>
            </a:r>
          </a:p>
          <a:p>
            <a:pPr>
              <a:lnSpc>
                <a:spcPct val="104000"/>
              </a:lnSpc>
              <a:spcAft>
                <a:spcPts val="0"/>
              </a:spcAft>
            </a:pPr>
            <a:r>
              <a:rPr sz="4400" b="1" i="0">
                <a:solidFill>
                  <a:srgbClr val="F6F2EA"/>
                </a:solidFill>
                <a:latin typeface="Bricolage Grotesque"/>
              </a:rPr>
              <a:t>Programmability Objects</a:t>
            </a:r>
          </a:p>
        </p:txBody>
      </p:sp>
      <p:sp>
        <p:nvSpPr>
          <p:cNvPr id="7" name="TextBox 6"/>
          <p:cNvSpPr txBox="1"/>
          <p:nvPr/>
        </p:nvSpPr>
        <p:spPr>
          <a:xfrm>
            <a:off x="2880360" y="3602736"/>
            <a:ext cx="8412480" cy="1188720"/>
          </a:xfrm>
          <a:prstGeom prst="rect">
            <a:avLst/>
          </a:prstGeom>
          <a:noFill/>
        </p:spPr>
        <p:txBody>
          <a:bodyPr wrap="square" lIns="0" rIns="0" tIns="0" bIns="0">
            <a:spAutoFit/>
          </a:bodyPr>
          <a:lstStyle/>
          <a:p>
            <a:pPr>
              <a:lnSpc>
                <a:spcPct val="105000"/>
              </a:lnSpc>
              <a:spcAft>
                <a:spcPts val="0"/>
              </a:spcAft>
            </a:pPr>
            <a:r>
              <a:rPr sz="1500" b="0" i="0">
                <a:solidFill>
                  <a:srgbClr val="C5BFB1"/>
                </a:solidFill>
                <a:latin typeface="Nunito"/>
              </a:rPr>
              <a:t>Views, stored procedures, scalar functions, table-valued functions, and triggers for maintainable, secure, and efficient database solutions.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Views</a:t>
            </a:r>
          </a:p>
        </p:txBody>
      </p:sp>
      <p:sp>
        <p:nvSpPr>
          <p:cNvPr id="3" name="Rounded Rectangle 2"/>
          <p:cNvSpPr/>
          <p:nvPr/>
        </p:nvSpPr>
        <p:spPr>
          <a:xfrm>
            <a:off x="548640" y="932688"/>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4415" cy="457200"/>
          </a:xfrm>
          <a:prstGeom prst="rect">
            <a:avLst/>
          </a:prstGeom>
          <a:noFill/>
        </p:spPr>
        <p:txBody>
          <a:bodyPr wrap="square" lIns="0" rIns="0" tIns="0" bIns="0">
            <a:spAutoFit/>
          </a:bodyPr>
          <a:lstStyle/>
          <a:p>
            <a:pPr>
              <a:lnSpc>
                <a:spcPct val="105000"/>
              </a:lnSpc>
              <a:spcAft>
                <a:spcPts val="0"/>
              </a:spcAft>
            </a:pPr>
            <a:r>
              <a:rPr sz="1500" b="0" i="0">
                <a:solidFill>
                  <a:srgbClr val="5A6B76"/>
                </a:solidFill>
                <a:latin typeface="Nunito"/>
              </a:rPr>
              <a:t>Virtual tables that simplify access, enforce security, and abstract schema changes.</a:t>
            </a:r>
          </a:p>
        </p:txBody>
      </p:sp>
      <p:sp>
        <p:nvSpPr>
          <p:cNvPr id="5" name="Rounded Rectangle 4"/>
          <p:cNvSpPr/>
          <p:nvPr/>
        </p:nvSpPr>
        <p:spPr>
          <a:xfrm>
            <a:off x="548640" y="1572768"/>
            <a:ext cx="3515258" cy="32918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572768"/>
            <a:ext cx="3222650"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55648"/>
            <a:ext cx="3076346" cy="2926080"/>
          </a:xfrm>
          <a:prstGeom prst="rect">
            <a:avLst/>
          </a:prstGeom>
          <a:noFill/>
        </p:spPr>
        <p:txBody>
          <a:bodyPr wrap="square" lIns="0" rIns="0" tIns="0" bIns="0">
            <a:spAutoFit/>
          </a:bodyPr>
          <a:lstStyle/>
          <a:p>
            <a:pPr>
              <a:lnSpc>
                <a:spcPct val="105000"/>
              </a:lnSpc>
              <a:spcAft>
                <a:spcPts val="800"/>
              </a:spcAft>
            </a:pPr>
            <a:r>
              <a:rPr sz="1600" b="1" i="0">
                <a:solidFill>
                  <a:srgbClr val="1F2A33"/>
                </a:solidFill>
                <a:latin typeface="Bricolage Grotesque"/>
              </a:rPr>
              <a:t>Standard Views</a:t>
            </a:r>
          </a:p>
          <a:p>
            <a:pPr marL="182880" indent="-182880">
              <a:lnSpc>
                <a:spcPct val="105000"/>
              </a:lnSpc>
              <a:spcAft>
                <a:spcPts val="800"/>
              </a:spcAft>
              <a:buFont typeface="Nunito"/>
              <a:buChar char="•"/>
            </a:pPr>
            <a:r>
              <a:rPr sz="1200" b="0" i="0">
                <a:solidFill>
                  <a:srgbClr val="1F2A33"/>
                </a:solidFill>
                <a:latin typeface="Nunito"/>
              </a:rPr>
              <a:t>Encapsulate complex JOINs into reusable queries</a:t>
            </a:r>
          </a:p>
          <a:p>
            <a:pPr marL="182880" indent="-182880">
              <a:lnSpc>
                <a:spcPct val="105000"/>
              </a:lnSpc>
              <a:spcAft>
                <a:spcPts val="800"/>
              </a:spcAft>
              <a:buFont typeface="Nunito"/>
              <a:buChar char="•"/>
            </a:pPr>
            <a:r>
              <a:rPr sz="1200" b="0" i="0">
                <a:solidFill>
                  <a:srgbClr val="1F2A33"/>
                </a:solidFill>
                <a:latin typeface="Nunito"/>
              </a:rPr>
              <a:t>Grant SELECT on view without exposing base tables</a:t>
            </a:r>
          </a:p>
          <a:p>
            <a:pPr marL="182880" indent="-182880">
              <a:lnSpc>
                <a:spcPct val="105000"/>
              </a:lnSpc>
              <a:spcAft>
                <a:spcPts val="800"/>
              </a:spcAft>
              <a:buFont typeface="Nunito"/>
              <a:buChar char="•"/>
            </a:pPr>
            <a:r>
              <a:rPr sz="1200" b="0" i="0">
                <a:solidFill>
                  <a:srgbClr val="1F2A33"/>
                </a:solidFill>
                <a:latin typeface="Nunito"/>
              </a:rPr>
              <a:t>WITH CHECK OPTION prevents inserts violating the view's WHERE</a:t>
            </a:r>
          </a:p>
        </p:txBody>
      </p:sp>
      <p:sp>
        <p:nvSpPr>
          <p:cNvPr id="8" name="Rounded Rectangle 7"/>
          <p:cNvSpPr/>
          <p:nvPr/>
        </p:nvSpPr>
        <p:spPr>
          <a:xfrm>
            <a:off x="4338218" y="1572768"/>
            <a:ext cx="3515258" cy="32918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84522" y="1572768"/>
            <a:ext cx="3222650"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7674" y="1755648"/>
            <a:ext cx="3076346" cy="2926080"/>
          </a:xfrm>
          <a:prstGeom prst="rect">
            <a:avLst/>
          </a:prstGeom>
          <a:noFill/>
        </p:spPr>
        <p:txBody>
          <a:bodyPr wrap="square" lIns="0" rIns="0" tIns="0" bIns="0">
            <a:spAutoFit/>
          </a:bodyPr>
          <a:lstStyle/>
          <a:p>
            <a:pPr>
              <a:lnSpc>
                <a:spcPct val="105000"/>
              </a:lnSpc>
              <a:spcAft>
                <a:spcPts val="800"/>
              </a:spcAft>
            </a:pPr>
            <a:r>
              <a:rPr sz="1600" b="1" i="0">
                <a:solidFill>
                  <a:srgbClr val="1F2A33"/>
                </a:solidFill>
                <a:latin typeface="Bricolage Grotesque"/>
              </a:rPr>
              <a:t>Indexed Views (Materialized)</a:t>
            </a:r>
          </a:p>
          <a:p>
            <a:pPr marL="182880" indent="-182880">
              <a:lnSpc>
                <a:spcPct val="105000"/>
              </a:lnSpc>
              <a:spcAft>
                <a:spcPts val="800"/>
              </a:spcAft>
              <a:buFont typeface="Nunito"/>
              <a:buChar char="•"/>
            </a:pPr>
            <a:r>
              <a:rPr sz="1200" b="0" i="0">
                <a:solidFill>
                  <a:srgbClr val="1F2A33"/>
                </a:solidFill>
                <a:latin typeface="Nunito"/>
              </a:rPr>
              <a:t>WITH SCHEMABINDING + unique clustered index</a:t>
            </a:r>
          </a:p>
          <a:p>
            <a:pPr marL="182880" indent="-182880">
              <a:lnSpc>
                <a:spcPct val="105000"/>
              </a:lnSpc>
              <a:spcAft>
                <a:spcPts val="800"/>
              </a:spcAft>
              <a:buFont typeface="Nunito"/>
              <a:buChar char="•"/>
            </a:pPr>
            <a:r>
              <a:rPr sz="1200" b="0" i="0">
                <a:solidFill>
                  <a:srgbClr val="1F2A33"/>
                </a:solidFill>
                <a:latin typeface="Nunito"/>
              </a:rPr>
              <a:t>Physically stores result set, Fast for aggregation-heavy reads</a:t>
            </a:r>
          </a:p>
          <a:p>
            <a:pPr marL="182880" indent="-182880">
              <a:lnSpc>
                <a:spcPct val="105000"/>
              </a:lnSpc>
              <a:spcAft>
                <a:spcPts val="800"/>
              </a:spcAft>
              <a:buFont typeface="Nunito"/>
              <a:buChar char="•"/>
            </a:pPr>
            <a:r>
              <a:rPr sz="1200" b="0" i="0">
                <a:solidFill>
                  <a:srgbClr val="1F2A33"/>
                </a:solidFill>
                <a:latin typeface="Nunito"/>
              </a:rPr>
              <a:t>Auto-maintained on DML; consider write overhead</a:t>
            </a:r>
          </a:p>
        </p:txBody>
      </p:sp>
      <p:sp>
        <p:nvSpPr>
          <p:cNvPr id="11" name="Rounded Rectangle 10"/>
          <p:cNvSpPr/>
          <p:nvPr/>
        </p:nvSpPr>
        <p:spPr>
          <a:xfrm>
            <a:off x="8127796" y="1572768"/>
            <a:ext cx="3515258" cy="32918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74100" y="1572768"/>
            <a:ext cx="3222650"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7252" y="1755648"/>
            <a:ext cx="3076346" cy="2926080"/>
          </a:xfrm>
          <a:prstGeom prst="rect">
            <a:avLst/>
          </a:prstGeom>
          <a:noFill/>
        </p:spPr>
        <p:txBody>
          <a:bodyPr wrap="square" lIns="0" rIns="0" tIns="0" bIns="0">
            <a:spAutoFit/>
          </a:bodyPr>
          <a:lstStyle/>
          <a:p>
            <a:pPr>
              <a:lnSpc>
                <a:spcPct val="105000"/>
              </a:lnSpc>
              <a:spcAft>
                <a:spcPts val="800"/>
              </a:spcAft>
            </a:pPr>
            <a:r>
              <a:rPr sz="1600" b="1" i="0">
                <a:solidFill>
                  <a:srgbClr val="1F2A33"/>
                </a:solidFill>
                <a:latin typeface="Bricolage Grotesque"/>
              </a:rPr>
              <a:t>Partitioned Views</a:t>
            </a:r>
          </a:p>
          <a:p>
            <a:pPr marL="182880" indent="-182880">
              <a:lnSpc>
                <a:spcPct val="105000"/>
              </a:lnSpc>
              <a:spcAft>
                <a:spcPts val="800"/>
              </a:spcAft>
              <a:buFont typeface="Nunito"/>
              <a:buChar char="•"/>
            </a:pPr>
            <a:r>
              <a:rPr sz="1200" b="0" i="0">
                <a:solidFill>
                  <a:srgbClr val="1F2A33"/>
                </a:solidFill>
                <a:latin typeface="Nunito"/>
              </a:rPr>
              <a:t>UNION ALL across member tables with CHECK constraints</a:t>
            </a:r>
          </a:p>
          <a:p>
            <a:pPr marL="182880" indent="-182880">
              <a:lnSpc>
                <a:spcPct val="105000"/>
              </a:lnSpc>
              <a:spcAft>
                <a:spcPts val="800"/>
              </a:spcAft>
              <a:buFont typeface="Nunito"/>
              <a:buChar char="•"/>
            </a:pPr>
            <a:r>
              <a:rPr sz="1200" b="0" i="0">
                <a:solidFill>
                  <a:srgbClr val="1F2A33"/>
                </a:solidFill>
                <a:latin typeface="Nunito"/>
              </a:rPr>
              <a:t>Distributed partitioned views span multiple servers</a:t>
            </a:r>
          </a:p>
          <a:p>
            <a:pPr marL="182880" indent="-182880">
              <a:lnSpc>
                <a:spcPct val="105000"/>
              </a:lnSpc>
              <a:spcAft>
                <a:spcPts val="800"/>
              </a:spcAft>
              <a:buFont typeface="Nunito"/>
              <a:buChar char="•"/>
            </a:pPr>
            <a:r>
              <a:rPr sz="1200" b="0" i="0">
                <a:solidFill>
                  <a:srgbClr val="1F2A33"/>
                </a:solidFill>
                <a:latin typeface="Nunito"/>
              </a:rPr>
              <a:t>Query optimizer routes to relevant member tables only</a:t>
            </a:r>
          </a:p>
        </p:txBody>
      </p:sp>
      <p:sp>
        <p:nvSpPr>
          <p:cNvPr id="14" name="Rounded Rectangle 13"/>
          <p:cNvSpPr/>
          <p:nvPr/>
        </p:nvSpPr>
        <p:spPr>
          <a:xfrm>
            <a:off x="548640" y="5047488"/>
            <a:ext cx="11094415" cy="14630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944" y="5047488"/>
            <a:ext cx="10801807" cy="68580"/>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5230368"/>
            <a:ext cx="10655503" cy="1097280"/>
          </a:xfrm>
          <a:prstGeom prst="rect">
            <a:avLst/>
          </a:prstGeom>
          <a:noFill/>
        </p:spPr>
        <p:txBody>
          <a:bodyPr wrap="square" lIns="0" rIns="0" tIns="0" bIns="0">
            <a:spAutoFit/>
          </a:bodyPr>
          <a:lstStyle/>
          <a:p>
            <a:pPr>
              <a:lnSpc>
                <a:spcPct val="105000"/>
              </a:lnSpc>
              <a:spcAft>
                <a:spcPts val="500"/>
              </a:spcAft>
            </a:pPr>
            <a:r>
              <a:rPr sz="1600" b="1" i="0">
                <a:solidFill>
                  <a:srgbClr val="1F2A33"/>
                </a:solidFill>
                <a:latin typeface="Bricolage Grotesque"/>
              </a:rPr>
              <a:t>Best Practices</a:t>
            </a:r>
          </a:p>
          <a:p>
            <a:pPr>
              <a:lnSpc>
                <a:spcPct val="105000"/>
              </a:lnSpc>
              <a:spcAft>
                <a:spcPts val="0"/>
              </a:spcAft>
            </a:pPr>
            <a:r>
              <a:rPr sz="1250" b="0" i="0">
                <a:solidFill>
                  <a:srgbClr val="1F2A33"/>
                </a:solidFill>
                <a:latin typeface="Nunito"/>
              </a:rPr>
              <a:t>Use SCHEMABINDING to prevent accidental base-table changes  •  Avoid SELECT *  •  Layer views for complex security rules  •  Don't nest views beyond 2 levels for readability</a:t>
            </a:r>
          </a:p>
        </p:txBody>
      </p:sp>
      <p:sp>
        <p:nvSpPr>
          <p:cNvPr id="17" name="TextBox 16"/>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2</a:t>
            </a:r>
          </a:p>
        </p:txBody>
      </p:sp>
      <p:sp>
        <p:nvSpPr>
          <p:cNvPr id="18" name="TextBox 17"/>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Stored Procedures</a:t>
            </a:r>
          </a:p>
        </p:txBody>
      </p:sp>
      <p:sp>
        <p:nvSpPr>
          <p:cNvPr id="3" name="Rounded Rectangle 2"/>
          <p:cNvSpPr/>
          <p:nvPr/>
        </p:nvSpPr>
        <p:spPr>
          <a:xfrm>
            <a:off x="548640" y="932688"/>
            <a:ext cx="658368" cy="73152"/>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4415" cy="457200"/>
          </a:xfrm>
          <a:prstGeom prst="rect">
            <a:avLst/>
          </a:prstGeom>
          <a:noFill/>
        </p:spPr>
        <p:txBody>
          <a:bodyPr wrap="square" lIns="0" rIns="0" tIns="0" bIns="0">
            <a:spAutoFit/>
          </a:bodyPr>
          <a:lstStyle/>
          <a:p>
            <a:pPr>
              <a:lnSpc>
                <a:spcPct val="105000"/>
              </a:lnSpc>
              <a:spcAft>
                <a:spcPts val="0"/>
              </a:spcAft>
            </a:pPr>
            <a:r>
              <a:rPr sz="1500" b="0" i="0">
                <a:solidFill>
                  <a:srgbClr val="5A6B76"/>
                </a:solidFill>
                <a:latin typeface="Nunito"/>
              </a:rPr>
              <a:t>Server-side compiled programs that encapsulate business logic, reduce network round-trips, and enforce security.</a:t>
            </a:r>
          </a:p>
        </p:txBody>
      </p:sp>
      <p:sp>
        <p:nvSpPr>
          <p:cNvPr id="5" name="Rounded Rectangle 4"/>
          <p:cNvSpPr/>
          <p:nvPr/>
        </p:nvSpPr>
        <p:spPr>
          <a:xfrm>
            <a:off x="548640" y="1609344"/>
            <a:ext cx="5364327" cy="49377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609344"/>
            <a:ext cx="5071719"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92224"/>
            <a:ext cx="4925415" cy="45720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Core Capabilities</a:t>
            </a:r>
          </a:p>
          <a:p>
            <a:pPr marL="182880" indent="-182880">
              <a:lnSpc>
                <a:spcPct val="105000"/>
              </a:lnSpc>
              <a:spcAft>
                <a:spcPts val="800"/>
              </a:spcAft>
              <a:buFont typeface="Nunito"/>
              <a:buChar char="•"/>
            </a:pPr>
            <a:r>
              <a:rPr sz="1200" b="0" i="0">
                <a:solidFill>
                  <a:srgbClr val="1F2A33"/>
                </a:solidFill>
                <a:latin typeface="Nunito"/>
              </a:rPr>
              <a:t>INPUT and OUTPUT parameters for flexible data exchange</a:t>
            </a:r>
          </a:p>
          <a:p>
            <a:pPr marL="182880" indent="-182880">
              <a:lnSpc>
                <a:spcPct val="105000"/>
              </a:lnSpc>
              <a:spcAft>
                <a:spcPts val="800"/>
              </a:spcAft>
              <a:buFont typeface="Nunito"/>
              <a:buChar char="•"/>
            </a:pPr>
            <a:r>
              <a:rPr sz="1200" b="0" i="0">
                <a:solidFill>
                  <a:srgbClr val="1F2A33"/>
                </a:solidFill>
                <a:latin typeface="Nunito"/>
              </a:rPr>
              <a:t>RETURN values for status codes and execution flow</a:t>
            </a:r>
          </a:p>
          <a:p>
            <a:pPr marL="182880" indent="-182880">
              <a:lnSpc>
                <a:spcPct val="105000"/>
              </a:lnSpc>
              <a:spcAft>
                <a:spcPts val="800"/>
              </a:spcAft>
              <a:buFont typeface="Nunito"/>
              <a:buChar char="•"/>
            </a:pPr>
            <a:r>
              <a:rPr sz="1200" b="0" i="0">
                <a:solidFill>
                  <a:srgbClr val="1F2A33"/>
                </a:solidFill>
                <a:latin typeface="Nunito"/>
              </a:rPr>
              <a:t>Temp tables and table variables for intermediate results</a:t>
            </a:r>
          </a:p>
          <a:p>
            <a:pPr marL="182880" indent="-182880">
              <a:lnSpc>
                <a:spcPct val="105000"/>
              </a:lnSpc>
              <a:spcAft>
                <a:spcPts val="800"/>
              </a:spcAft>
              <a:buFont typeface="Nunito"/>
              <a:buChar char="•"/>
            </a:pPr>
            <a:r>
              <a:rPr sz="1200" b="0" i="0">
                <a:solidFill>
                  <a:srgbClr val="1F2A33"/>
                </a:solidFill>
                <a:latin typeface="Nunito"/>
              </a:rPr>
              <a:t>Dynamic SQL with sp_executesql for runtime query building</a:t>
            </a:r>
          </a:p>
          <a:p>
            <a:pPr marL="182880" indent="-182880">
              <a:lnSpc>
                <a:spcPct val="105000"/>
              </a:lnSpc>
              <a:spcAft>
                <a:spcPts val="800"/>
              </a:spcAft>
              <a:buFont typeface="Nunito"/>
              <a:buChar char="•"/>
            </a:pPr>
            <a:r>
              <a:rPr sz="1200" b="0" i="0">
                <a:solidFill>
                  <a:srgbClr val="1F2A33"/>
                </a:solidFill>
                <a:latin typeface="Nunito"/>
              </a:rPr>
              <a:t>TRY...CATCH + transactions for atomic operations</a:t>
            </a:r>
          </a:p>
          <a:p>
            <a:pPr marL="182880" indent="-182880">
              <a:lnSpc>
                <a:spcPct val="105000"/>
              </a:lnSpc>
              <a:spcAft>
                <a:spcPts val="800"/>
              </a:spcAft>
              <a:buFont typeface="Nunito"/>
              <a:buChar char="•"/>
            </a:pPr>
            <a:r>
              <a:rPr sz="1200" b="0" i="0">
                <a:solidFill>
                  <a:srgbClr val="1F2A33"/>
                </a:solidFill>
                <a:latin typeface="Nunito"/>
              </a:rPr>
              <a:t>EXECUTE AS for security context switching</a:t>
            </a:r>
          </a:p>
          <a:p>
            <a:pPr marL="182880" indent="-182880">
              <a:lnSpc>
                <a:spcPct val="105000"/>
              </a:lnSpc>
              <a:spcAft>
                <a:spcPts val="800"/>
              </a:spcAft>
              <a:buFont typeface="Nunito"/>
              <a:buChar char="•"/>
            </a:pPr>
            <a:r>
              <a:rPr sz="1200" b="0" i="0">
                <a:solidFill>
                  <a:srgbClr val="1F2A33"/>
                </a:solidFill>
                <a:latin typeface="Nunito"/>
              </a:rPr>
              <a:t>SET NOCOUNT ON to suppress row-count messages</a:t>
            </a:r>
          </a:p>
        </p:txBody>
      </p:sp>
      <p:sp>
        <p:nvSpPr>
          <p:cNvPr id="8" name="Rounded Rectangle 7"/>
          <p:cNvSpPr/>
          <p:nvPr/>
        </p:nvSpPr>
        <p:spPr>
          <a:xfrm>
            <a:off x="6278727" y="1609344"/>
            <a:ext cx="5364327" cy="49377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25031" y="1609344"/>
            <a:ext cx="5071719"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8183" y="1792224"/>
            <a:ext cx="4925415" cy="45720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Design Patterns</a:t>
            </a:r>
          </a:p>
          <a:p>
            <a:pPr marL="182880" indent="-182880">
              <a:lnSpc>
                <a:spcPct val="105000"/>
              </a:lnSpc>
              <a:spcAft>
                <a:spcPts val="800"/>
              </a:spcAft>
              <a:buFont typeface="Nunito"/>
              <a:buChar char="•"/>
            </a:pPr>
            <a:r>
              <a:rPr sz="1200" b="0" i="0">
                <a:solidFill>
                  <a:srgbClr val="1F2A33"/>
                </a:solidFill>
                <a:latin typeface="Nunito"/>
              </a:rPr>
              <a:t>CRUD operations: encapsulate INSERT/UPDATE/DELETE logic</a:t>
            </a:r>
          </a:p>
          <a:p>
            <a:pPr marL="182880" indent="-182880">
              <a:lnSpc>
                <a:spcPct val="105000"/>
              </a:lnSpc>
              <a:spcAft>
                <a:spcPts val="800"/>
              </a:spcAft>
              <a:buFont typeface="Nunito"/>
              <a:buChar char="•"/>
            </a:pPr>
            <a:r>
              <a:rPr sz="1200" b="0" i="0">
                <a:solidFill>
                  <a:srgbClr val="1F2A33"/>
                </a:solidFill>
                <a:latin typeface="Nunito"/>
              </a:rPr>
              <a:t>ETL pipelines: orchestrate data movement and transformation</a:t>
            </a:r>
          </a:p>
          <a:p>
            <a:pPr marL="182880" indent="-182880">
              <a:lnSpc>
                <a:spcPct val="105000"/>
              </a:lnSpc>
              <a:spcAft>
                <a:spcPts val="800"/>
              </a:spcAft>
              <a:buFont typeface="Nunito"/>
              <a:buChar char="•"/>
            </a:pPr>
            <a:r>
              <a:rPr sz="1200" b="0" i="0">
                <a:solidFill>
                  <a:srgbClr val="1F2A33"/>
                </a:solidFill>
                <a:latin typeface="Nunito"/>
              </a:rPr>
              <a:t>Report generation: pre-aggregate data for dash</a:t>
            </a:r>
          </a:p>
          <a:p>
            <a:pPr marL="182880" indent="-182880">
              <a:lnSpc>
                <a:spcPct val="105000"/>
              </a:lnSpc>
              <a:spcAft>
                <a:spcPts val="800"/>
              </a:spcAft>
              <a:buFont typeface="Nunito"/>
              <a:buChar char="•"/>
            </a:pPr>
            <a:r>
              <a:rPr sz="1200" b="0" i="0">
                <a:solidFill>
                  <a:srgbClr val="1F2A33"/>
                </a:solidFill>
                <a:latin typeface="Nunito"/>
              </a:rPr>
              <a:t>Natively compiled SPs: compile to machine code for in-memory tables</a:t>
            </a:r>
          </a:p>
          <a:p>
            <a:pPr marL="182880" indent="-182880">
              <a:lnSpc>
                <a:spcPct val="105000"/>
              </a:lnSpc>
              <a:spcAft>
                <a:spcPts val="800"/>
              </a:spcAft>
              <a:buFont typeface="Nunito"/>
              <a:buChar char="•"/>
            </a:pPr>
            <a:r>
              <a:rPr sz="1200" b="0" i="0">
                <a:solidFill>
                  <a:srgbClr val="1F2A33"/>
                </a:solidFill>
                <a:latin typeface="Nunito"/>
              </a:rPr>
              <a:t>Grant EXECUTE without direct table access security layer</a:t>
            </a:r>
          </a:p>
          <a:p>
            <a:pPr marL="182880" indent="-182880">
              <a:lnSpc>
                <a:spcPct val="105000"/>
              </a:lnSpc>
              <a:spcAft>
                <a:spcPts val="800"/>
              </a:spcAft>
              <a:buFont typeface="Nunito"/>
              <a:buChar char="•"/>
            </a:pPr>
            <a:r>
              <a:rPr sz="1200" b="0" i="0">
                <a:solidFill>
                  <a:srgbClr val="1F2A33"/>
                </a:solidFill>
                <a:latin typeface="Nunito"/>
              </a:rPr>
              <a:t>Plan caching: compiled once, reused but watch for parameter sniffing</a:t>
            </a:r>
          </a:p>
          <a:p>
            <a:pPr marL="182880" indent="-182880">
              <a:lnSpc>
                <a:spcPct val="105000"/>
              </a:lnSpc>
              <a:spcAft>
                <a:spcPts val="800"/>
              </a:spcAft>
              <a:buFont typeface="Nunito"/>
              <a:buChar char="•"/>
            </a:pPr>
            <a:r>
              <a:rPr sz="1200" b="0" i="0">
                <a:solidFill>
                  <a:srgbClr val="1F2A33"/>
                </a:solidFill>
                <a:latin typeface="Nunito"/>
              </a:rPr>
              <a:t>Use OPTION (RECOMPILE) or OPTIMIZE FOR when plans skew</a:t>
            </a:r>
          </a:p>
        </p:txBody>
      </p:sp>
      <p:sp>
        <p:nvSpPr>
          <p:cNvPr id="11" name="TextBox 10"/>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2</a:t>
            </a:r>
          </a:p>
        </p:txBody>
      </p:sp>
      <p:sp>
        <p:nvSpPr>
          <p:cNvPr id="12" name="TextBox 11"/>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User-Defined Functions</a:t>
            </a:r>
          </a:p>
        </p:txBody>
      </p:sp>
      <p:sp>
        <p:nvSpPr>
          <p:cNvPr id="3" name="Rounded Rectangle 2"/>
          <p:cNvSpPr/>
          <p:nvPr/>
        </p:nvSpPr>
        <p:spPr>
          <a:xfrm>
            <a:off x="548640" y="932688"/>
            <a:ext cx="658368" cy="73152"/>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88720"/>
            <a:ext cx="3515258" cy="53492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188720"/>
            <a:ext cx="3222650"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371600"/>
            <a:ext cx="3076346" cy="4983480"/>
          </a:xfrm>
          <a:prstGeom prst="rect">
            <a:avLst/>
          </a:prstGeom>
          <a:noFill/>
        </p:spPr>
        <p:txBody>
          <a:bodyPr wrap="square" lIns="0" rIns="0" tIns="0" bIns="0">
            <a:spAutoFit/>
          </a:bodyPr>
          <a:lstStyle/>
          <a:p>
            <a:pPr>
              <a:lnSpc>
                <a:spcPct val="105000"/>
              </a:lnSpc>
              <a:spcAft>
                <a:spcPts val="800"/>
              </a:spcAft>
            </a:pPr>
            <a:r>
              <a:rPr sz="1600" b="1" i="0">
                <a:solidFill>
                  <a:srgbClr val="1F2A33"/>
                </a:solidFill>
                <a:latin typeface="Bricolage Grotesque"/>
              </a:rPr>
              <a:t>Scalar Functions</a:t>
            </a:r>
          </a:p>
          <a:p>
            <a:pPr>
              <a:lnSpc>
                <a:spcPct val="105000"/>
              </a:lnSpc>
              <a:spcAft>
                <a:spcPts val="1100"/>
              </a:spcAft>
            </a:pPr>
            <a:r>
              <a:rPr sz="1250" b="0" i="1">
                <a:solidFill>
                  <a:srgbClr val="4290A6"/>
                </a:solidFill>
                <a:latin typeface="Nunito"/>
              </a:rPr>
              <a:t>Return a single value (INT, VARCHAR, etc.)</a:t>
            </a:r>
          </a:p>
          <a:p>
            <a:pPr marL="182880" indent="-182880">
              <a:lnSpc>
                <a:spcPct val="105000"/>
              </a:lnSpc>
              <a:spcAft>
                <a:spcPts val="900"/>
              </a:spcAft>
              <a:buFont typeface="Nunito"/>
              <a:buChar char="•"/>
            </a:pPr>
            <a:r>
              <a:rPr sz="1200" b="0" i="0">
                <a:solidFill>
                  <a:srgbClr val="1F2A33"/>
                </a:solidFill>
                <a:latin typeface="Nunito"/>
              </a:rPr>
              <a:t>Callable in SELECT, WHERE, CHECK constraints</a:t>
            </a:r>
          </a:p>
          <a:p>
            <a:pPr marL="182880" indent="-182880">
              <a:lnSpc>
                <a:spcPct val="105000"/>
              </a:lnSpc>
              <a:spcAft>
                <a:spcPts val="900"/>
              </a:spcAft>
              <a:buFont typeface="Nunito"/>
              <a:buChar char="•"/>
            </a:pPr>
            <a:r>
              <a:rPr sz="1200" b="0" i="0">
                <a:solidFill>
                  <a:srgbClr val="1F2A33"/>
                </a:solidFill>
                <a:latin typeface="Nunito"/>
              </a:rPr>
              <a:t>Deterministic = indexable computed columns</a:t>
            </a:r>
          </a:p>
          <a:p>
            <a:pPr marL="182880" indent="-182880">
              <a:lnSpc>
                <a:spcPct val="105000"/>
              </a:lnSpc>
              <a:spcAft>
                <a:spcPts val="900"/>
              </a:spcAft>
              <a:buFont typeface="Nunito"/>
              <a:buChar char="•"/>
            </a:pPr>
            <a:r>
              <a:rPr sz="1200" b="0" i="0">
                <a:solidFill>
                  <a:srgbClr val="1F2A33"/>
                </a:solidFill>
                <a:latin typeface="Nunito"/>
              </a:rPr>
              <a:t>Caution: row-by-row execution can hurt large datasets</a:t>
            </a:r>
          </a:p>
          <a:p>
            <a:pPr marL="182880" indent="-182880">
              <a:lnSpc>
                <a:spcPct val="105000"/>
              </a:lnSpc>
              <a:spcAft>
                <a:spcPts val="900"/>
              </a:spcAft>
              <a:buFont typeface="Nunito"/>
              <a:buChar char="•"/>
            </a:pPr>
            <a:r>
              <a:rPr sz="1200" b="0" i="0">
                <a:solidFill>
                  <a:srgbClr val="1F2A33"/>
                </a:solidFill>
                <a:latin typeface="Nunito"/>
              </a:rPr>
              <a:t>Use WITH SCHEMABINDING for optimization</a:t>
            </a:r>
          </a:p>
        </p:txBody>
      </p:sp>
      <p:sp>
        <p:nvSpPr>
          <p:cNvPr id="7" name="Rounded Rectangle 6"/>
          <p:cNvSpPr/>
          <p:nvPr/>
        </p:nvSpPr>
        <p:spPr>
          <a:xfrm>
            <a:off x="4338218" y="1188720"/>
            <a:ext cx="3515258" cy="53492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84522" y="1188720"/>
            <a:ext cx="3222650"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7674" y="1371600"/>
            <a:ext cx="3076346" cy="4983480"/>
          </a:xfrm>
          <a:prstGeom prst="rect">
            <a:avLst/>
          </a:prstGeom>
          <a:noFill/>
        </p:spPr>
        <p:txBody>
          <a:bodyPr wrap="square" lIns="0" rIns="0" tIns="0" bIns="0">
            <a:spAutoFit/>
          </a:bodyPr>
          <a:lstStyle/>
          <a:p>
            <a:pPr>
              <a:lnSpc>
                <a:spcPct val="105000"/>
              </a:lnSpc>
              <a:spcAft>
                <a:spcPts val="800"/>
              </a:spcAft>
            </a:pPr>
            <a:r>
              <a:rPr sz="1600" b="1" i="0">
                <a:solidFill>
                  <a:srgbClr val="1F2A33"/>
                </a:solidFill>
                <a:latin typeface="Bricolage Grotesque"/>
              </a:rPr>
              <a:t>Inline Table-Valued (iTVF)</a:t>
            </a:r>
          </a:p>
          <a:p>
            <a:pPr>
              <a:lnSpc>
                <a:spcPct val="105000"/>
              </a:lnSpc>
              <a:spcAft>
                <a:spcPts val="1100"/>
              </a:spcAft>
            </a:pPr>
            <a:r>
              <a:rPr sz="1250" b="0" i="1">
                <a:solidFill>
                  <a:srgbClr val="33896B"/>
                </a:solidFill>
                <a:latin typeface="Nunito"/>
              </a:rPr>
              <a:t>Single SELECT returning a table — best performance</a:t>
            </a:r>
          </a:p>
          <a:p>
            <a:pPr marL="182880" indent="-182880">
              <a:lnSpc>
                <a:spcPct val="105000"/>
              </a:lnSpc>
              <a:spcAft>
                <a:spcPts val="900"/>
              </a:spcAft>
              <a:buFont typeface="Nunito"/>
              <a:buChar char="•"/>
            </a:pPr>
            <a:r>
              <a:rPr sz="1200" b="0" i="0">
                <a:solidFill>
                  <a:srgbClr val="1F2A33"/>
                </a:solidFill>
                <a:latin typeface="Nunito"/>
              </a:rPr>
              <a:t>Inlined by optimizer like a parameterized view</a:t>
            </a:r>
          </a:p>
          <a:p>
            <a:pPr marL="182880" indent="-182880">
              <a:lnSpc>
                <a:spcPct val="105000"/>
              </a:lnSpc>
              <a:spcAft>
                <a:spcPts val="900"/>
              </a:spcAft>
              <a:buFont typeface="Nunito"/>
              <a:buChar char="•"/>
            </a:pPr>
            <a:r>
              <a:rPr sz="1200" b="0" i="0">
                <a:solidFill>
                  <a:srgbClr val="1F2A33"/>
                </a:solidFill>
                <a:latin typeface="Nunito"/>
              </a:rPr>
              <a:t>Supports JOIN, WHERE, aggregation in the body</a:t>
            </a:r>
          </a:p>
          <a:p>
            <a:pPr marL="182880" indent="-182880">
              <a:lnSpc>
                <a:spcPct val="105000"/>
              </a:lnSpc>
              <a:spcAft>
                <a:spcPts val="900"/>
              </a:spcAft>
              <a:buFont typeface="Nunito"/>
              <a:buChar char="•"/>
            </a:pPr>
            <a:r>
              <a:rPr sz="1200" b="0" i="0">
                <a:solidFill>
                  <a:srgbClr val="1F2A33"/>
                </a:solidFill>
                <a:latin typeface="Nunito"/>
              </a:rPr>
              <a:t>Preferred over multi-statement TVFs for read queries</a:t>
            </a:r>
          </a:p>
          <a:p>
            <a:pPr marL="182880" indent="-182880">
              <a:lnSpc>
                <a:spcPct val="105000"/>
              </a:lnSpc>
              <a:spcAft>
                <a:spcPts val="900"/>
              </a:spcAft>
              <a:buFont typeface="Nunito"/>
              <a:buChar char="•"/>
            </a:pPr>
            <a:r>
              <a:rPr sz="1200" b="0" i="0">
                <a:solidFill>
                  <a:srgbClr val="1F2A33"/>
                </a:solidFill>
                <a:latin typeface="Nunito"/>
              </a:rPr>
              <a:t>Can reference in CROSS APPLY / OUTER APPLY</a:t>
            </a:r>
          </a:p>
        </p:txBody>
      </p:sp>
      <p:sp>
        <p:nvSpPr>
          <p:cNvPr id="10" name="Rounded Rectangle 9"/>
          <p:cNvSpPr/>
          <p:nvPr/>
        </p:nvSpPr>
        <p:spPr>
          <a:xfrm>
            <a:off x="8127796" y="1188720"/>
            <a:ext cx="3515258" cy="53492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74100" y="1188720"/>
            <a:ext cx="3222650"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7252" y="1371600"/>
            <a:ext cx="3076346" cy="4983480"/>
          </a:xfrm>
          <a:prstGeom prst="rect">
            <a:avLst/>
          </a:prstGeom>
          <a:noFill/>
        </p:spPr>
        <p:txBody>
          <a:bodyPr wrap="square" lIns="0" rIns="0" tIns="0" bIns="0">
            <a:spAutoFit/>
          </a:bodyPr>
          <a:lstStyle/>
          <a:p>
            <a:pPr>
              <a:lnSpc>
                <a:spcPct val="105000"/>
              </a:lnSpc>
              <a:spcAft>
                <a:spcPts val="800"/>
              </a:spcAft>
            </a:pPr>
            <a:r>
              <a:rPr sz="1600" b="1" i="0">
                <a:solidFill>
                  <a:srgbClr val="1F2A33"/>
                </a:solidFill>
                <a:latin typeface="Bricolage Grotesque"/>
              </a:rPr>
              <a:t>Multi-Statement TVF</a:t>
            </a:r>
          </a:p>
          <a:p>
            <a:pPr>
              <a:lnSpc>
                <a:spcPct val="105000"/>
              </a:lnSpc>
              <a:spcAft>
                <a:spcPts val="1100"/>
              </a:spcAft>
            </a:pPr>
            <a:r>
              <a:rPr sz="1250" b="0" i="1">
                <a:solidFill>
                  <a:srgbClr val="345F73"/>
                </a:solidFill>
                <a:latin typeface="Nunito"/>
              </a:rPr>
              <a:t>Multiple statements, explicit RETURNS TABLE variable</a:t>
            </a:r>
          </a:p>
          <a:p>
            <a:pPr marL="182880" indent="-182880">
              <a:lnSpc>
                <a:spcPct val="105000"/>
              </a:lnSpc>
              <a:spcAft>
                <a:spcPts val="900"/>
              </a:spcAft>
              <a:buFont typeface="Nunito"/>
              <a:buChar char="•"/>
            </a:pPr>
            <a:r>
              <a:rPr sz="1200" b="0" i="0">
                <a:solidFill>
                  <a:srgbClr val="1F2A33"/>
                </a:solidFill>
                <a:latin typeface="Nunito"/>
              </a:rPr>
              <a:t>Populate @table with INSERT...SELECT loops</a:t>
            </a:r>
          </a:p>
          <a:p>
            <a:pPr marL="182880" indent="-182880">
              <a:lnSpc>
                <a:spcPct val="105000"/>
              </a:lnSpc>
              <a:spcAft>
                <a:spcPts val="900"/>
              </a:spcAft>
              <a:buFont typeface="Nunito"/>
              <a:buChar char="•"/>
            </a:pPr>
            <a:r>
              <a:rPr sz="1200" b="0" i="0">
                <a:solidFill>
                  <a:srgbClr val="1F2A33"/>
                </a:solidFill>
                <a:latin typeface="Nunito"/>
              </a:rPr>
              <a:t>Not inlined — often estimated at 1 or 100 rows</a:t>
            </a:r>
          </a:p>
          <a:p>
            <a:pPr marL="182880" indent="-182880">
              <a:lnSpc>
                <a:spcPct val="105000"/>
              </a:lnSpc>
              <a:spcAft>
                <a:spcPts val="900"/>
              </a:spcAft>
              <a:buFont typeface="Nunito"/>
              <a:buChar char="•"/>
            </a:pPr>
            <a:r>
              <a:rPr sz="1200" b="0" i="0">
                <a:solidFill>
                  <a:srgbClr val="1F2A33"/>
                </a:solidFill>
                <a:latin typeface="Nunito"/>
              </a:rPr>
              <a:t>Use for complex logic that can't be a single query</a:t>
            </a:r>
          </a:p>
          <a:p>
            <a:pPr marL="182880" indent="-182880">
              <a:lnSpc>
                <a:spcPct val="105000"/>
              </a:lnSpc>
              <a:spcAft>
                <a:spcPts val="900"/>
              </a:spcAft>
              <a:buFont typeface="Nunito"/>
              <a:buChar char="•"/>
            </a:pPr>
            <a:r>
              <a:rPr sz="1200" b="0" i="0">
                <a:solidFill>
                  <a:srgbClr val="1F2A33"/>
                </a:solidFill>
                <a:latin typeface="Nunito"/>
              </a:rPr>
              <a:t>SQL Server 2019+ interleaved execution helps cardinality</a:t>
            </a:r>
          </a:p>
        </p:txBody>
      </p:sp>
      <p:sp>
        <p:nvSpPr>
          <p:cNvPr id="13" name="TextBox 12"/>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2</a:t>
            </a:r>
          </a:p>
        </p:txBody>
      </p:sp>
      <p:sp>
        <p:nvSpPr>
          <p:cNvPr id="14" name="TextBox 13"/>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Triggers</a:t>
            </a:r>
          </a:p>
        </p:txBody>
      </p:sp>
      <p:sp>
        <p:nvSpPr>
          <p:cNvPr id="3" name="Rounded Rectangle 2"/>
          <p:cNvSpPr/>
          <p:nvPr/>
        </p:nvSpPr>
        <p:spPr>
          <a:xfrm>
            <a:off x="548640" y="932688"/>
            <a:ext cx="658368" cy="73152"/>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4415" cy="457200"/>
          </a:xfrm>
          <a:prstGeom prst="rect">
            <a:avLst/>
          </a:prstGeom>
          <a:noFill/>
        </p:spPr>
        <p:txBody>
          <a:bodyPr wrap="square" lIns="0" rIns="0" tIns="0" bIns="0">
            <a:spAutoFit/>
          </a:bodyPr>
          <a:lstStyle/>
          <a:p>
            <a:pPr>
              <a:lnSpc>
                <a:spcPct val="105000"/>
              </a:lnSpc>
              <a:spcAft>
                <a:spcPts val="0"/>
              </a:spcAft>
            </a:pPr>
            <a:r>
              <a:rPr sz="1500" b="0" i="0">
                <a:solidFill>
                  <a:srgbClr val="5A6B76"/>
                </a:solidFill>
                <a:latin typeface="Nunito"/>
              </a:rPr>
              <a:t>Automatically respond to data modifications or database events — use sparingly for audit, validation, and enforcement.</a:t>
            </a:r>
          </a:p>
        </p:txBody>
      </p:sp>
      <p:sp>
        <p:nvSpPr>
          <p:cNvPr id="5" name="Rounded Rectangle 4"/>
          <p:cNvSpPr/>
          <p:nvPr/>
        </p:nvSpPr>
        <p:spPr>
          <a:xfrm>
            <a:off x="548640" y="1609344"/>
            <a:ext cx="3515258" cy="347472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609344"/>
            <a:ext cx="3222650"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92224"/>
            <a:ext cx="3076346" cy="3108960"/>
          </a:xfrm>
          <a:prstGeom prst="rect">
            <a:avLst/>
          </a:prstGeom>
          <a:noFill/>
        </p:spPr>
        <p:txBody>
          <a:bodyPr wrap="square" lIns="0" rIns="0" tIns="0" bIns="0">
            <a:spAutoFit/>
          </a:bodyPr>
          <a:lstStyle/>
          <a:p>
            <a:pPr>
              <a:lnSpc>
                <a:spcPct val="105000"/>
              </a:lnSpc>
              <a:spcAft>
                <a:spcPts val="200"/>
              </a:spcAft>
            </a:pPr>
            <a:r>
              <a:rPr sz="1600" b="1" i="0">
                <a:solidFill>
                  <a:srgbClr val="1F2A33"/>
                </a:solidFill>
                <a:latin typeface="Bricolage Grotesque"/>
              </a:rPr>
              <a:t>DML Triggers</a:t>
            </a:r>
          </a:p>
          <a:p>
            <a:pPr>
              <a:lnSpc>
                <a:spcPct val="105000"/>
              </a:lnSpc>
              <a:spcAft>
                <a:spcPts val="800"/>
              </a:spcAft>
            </a:pPr>
            <a:r>
              <a:rPr sz="1100" b="1" i="0">
                <a:solidFill>
                  <a:srgbClr val="4497AE"/>
                </a:solidFill>
                <a:latin typeface="Nunito"/>
              </a:rPr>
              <a:t>AFTER / INSTEAD OF</a:t>
            </a:r>
          </a:p>
          <a:p>
            <a:pPr marL="182880" indent="-182880">
              <a:lnSpc>
                <a:spcPct val="105000"/>
              </a:lnSpc>
              <a:spcAft>
                <a:spcPts val="600"/>
              </a:spcAft>
              <a:buFont typeface="Nunito"/>
              <a:buChar char="•"/>
            </a:pPr>
            <a:r>
              <a:rPr sz="1200" b="0" i="0">
                <a:solidFill>
                  <a:srgbClr val="1F2A33"/>
                </a:solidFill>
                <a:latin typeface="Nunito"/>
              </a:rPr>
              <a:t>Fire on INSERT, UPDATE, DELETE on tables/views</a:t>
            </a:r>
          </a:p>
          <a:p>
            <a:pPr marL="182880" indent="-182880">
              <a:lnSpc>
                <a:spcPct val="105000"/>
              </a:lnSpc>
              <a:spcAft>
                <a:spcPts val="600"/>
              </a:spcAft>
              <a:buFont typeface="Nunito"/>
              <a:buChar char="•"/>
            </a:pPr>
            <a:r>
              <a:rPr sz="1200" b="0" i="0">
                <a:solidFill>
                  <a:srgbClr val="1F2A33"/>
                </a:solidFill>
                <a:latin typeface="Nunito"/>
              </a:rPr>
              <a:t>AFTER: runs after the DML statement completes</a:t>
            </a:r>
          </a:p>
          <a:p>
            <a:pPr marL="182880" indent="-182880">
              <a:lnSpc>
                <a:spcPct val="105000"/>
              </a:lnSpc>
              <a:spcAft>
                <a:spcPts val="600"/>
              </a:spcAft>
              <a:buFont typeface="Nunito"/>
              <a:buChar char="•"/>
            </a:pPr>
            <a:r>
              <a:rPr sz="1200" b="0" i="0">
                <a:solidFill>
                  <a:srgbClr val="1F2A33"/>
                </a:solidFill>
                <a:latin typeface="Nunito"/>
              </a:rPr>
              <a:t>INSTEAD OF: replaces the DML — enables updatable views</a:t>
            </a:r>
          </a:p>
          <a:p>
            <a:pPr marL="182880" indent="-182880">
              <a:lnSpc>
                <a:spcPct val="105000"/>
              </a:lnSpc>
              <a:spcAft>
                <a:spcPts val="600"/>
              </a:spcAft>
              <a:buFont typeface="Nunito"/>
              <a:buChar char="•"/>
            </a:pPr>
            <a:r>
              <a:rPr sz="1200" b="0" i="0">
                <a:solidFill>
                  <a:srgbClr val="1F2A33"/>
                </a:solidFill>
                <a:latin typeface="Nunito"/>
              </a:rPr>
              <a:t>Access inserted/deleted pseudo-tables for old/new values</a:t>
            </a:r>
          </a:p>
        </p:txBody>
      </p:sp>
      <p:sp>
        <p:nvSpPr>
          <p:cNvPr id="8" name="Rounded Rectangle 7"/>
          <p:cNvSpPr/>
          <p:nvPr/>
        </p:nvSpPr>
        <p:spPr>
          <a:xfrm>
            <a:off x="4338218" y="1609344"/>
            <a:ext cx="3515258" cy="347472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84522" y="1609344"/>
            <a:ext cx="3222650"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7674" y="1792224"/>
            <a:ext cx="3076346" cy="3108960"/>
          </a:xfrm>
          <a:prstGeom prst="rect">
            <a:avLst/>
          </a:prstGeom>
          <a:noFill/>
        </p:spPr>
        <p:txBody>
          <a:bodyPr wrap="square" lIns="0" rIns="0" tIns="0" bIns="0">
            <a:spAutoFit/>
          </a:bodyPr>
          <a:lstStyle/>
          <a:p>
            <a:pPr>
              <a:lnSpc>
                <a:spcPct val="105000"/>
              </a:lnSpc>
              <a:spcAft>
                <a:spcPts val="200"/>
              </a:spcAft>
            </a:pPr>
            <a:r>
              <a:rPr sz="1600" b="1" i="0">
                <a:solidFill>
                  <a:srgbClr val="1F2A33"/>
                </a:solidFill>
                <a:latin typeface="Bricolage Grotesque"/>
              </a:rPr>
              <a:t>DDL Triggers</a:t>
            </a:r>
          </a:p>
          <a:p>
            <a:pPr>
              <a:lnSpc>
                <a:spcPct val="105000"/>
              </a:lnSpc>
              <a:spcAft>
                <a:spcPts val="800"/>
              </a:spcAft>
            </a:pPr>
            <a:r>
              <a:rPr sz="1100" b="1" i="0">
                <a:solidFill>
                  <a:srgbClr val="34906F"/>
                </a:solidFill>
                <a:latin typeface="Nunito"/>
              </a:rPr>
              <a:t>Database / Server</a:t>
            </a:r>
          </a:p>
          <a:p>
            <a:pPr marL="182880" indent="-182880">
              <a:lnSpc>
                <a:spcPct val="105000"/>
              </a:lnSpc>
              <a:spcAft>
                <a:spcPts val="600"/>
              </a:spcAft>
              <a:buFont typeface="Nunito"/>
              <a:buChar char="•"/>
            </a:pPr>
            <a:r>
              <a:rPr sz="1200" b="0" i="0">
                <a:solidFill>
                  <a:srgbClr val="1F2A33"/>
                </a:solidFill>
                <a:latin typeface="Nunito"/>
              </a:rPr>
              <a:t>Respond to CREATE, ALTER, DROP events</a:t>
            </a:r>
          </a:p>
          <a:p>
            <a:pPr marL="182880" indent="-182880">
              <a:lnSpc>
                <a:spcPct val="105000"/>
              </a:lnSpc>
              <a:spcAft>
                <a:spcPts val="600"/>
              </a:spcAft>
              <a:buFont typeface="Nunito"/>
              <a:buChar char="•"/>
            </a:pPr>
            <a:r>
              <a:rPr sz="1200" b="0" i="0">
                <a:solidFill>
                  <a:srgbClr val="1F2A33"/>
                </a:solidFill>
                <a:latin typeface="Nunito"/>
              </a:rPr>
              <a:t>Database-scoped or server-scoped</a:t>
            </a:r>
          </a:p>
          <a:p>
            <a:pPr marL="182880" indent="-182880">
              <a:lnSpc>
                <a:spcPct val="105000"/>
              </a:lnSpc>
              <a:spcAft>
                <a:spcPts val="600"/>
              </a:spcAft>
              <a:buFont typeface="Nunito"/>
              <a:buChar char="•"/>
            </a:pPr>
            <a:r>
              <a:rPr sz="1200" b="0" i="0">
                <a:solidFill>
                  <a:srgbClr val="1F2A33"/>
                </a:solidFill>
                <a:latin typeface="Nunito"/>
              </a:rPr>
              <a:t>EVENTDATA() returns XML with event details</a:t>
            </a:r>
          </a:p>
          <a:p>
            <a:pPr marL="182880" indent="-182880">
              <a:lnSpc>
                <a:spcPct val="105000"/>
              </a:lnSpc>
              <a:spcAft>
                <a:spcPts val="600"/>
              </a:spcAft>
              <a:buFont typeface="Nunito"/>
              <a:buChar char="•"/>
            </a:pPr>
            <a:r>
              <a:rPr sz="1200" b="0" i="0">
                <a:solidFill>
                  <a:srgbClr val="1F2A33"/>
                </a:solidFill>
                <a:latin typeface="Nunito"/>
              </a:rPr>
              <a:t>Audit schema changes or prevent unauthorized DDL</a:t>
            </a:r>
          </a:p>
        </p:txBody>
      </p:sp>
      <p:sp>
        <p:nvSpPr>
          <p:cNvPr id="11" name="Rounded Rectangle 10"/>
          <p:cNvSpPr/>
          <p:nvPr/>
        </p:nvSpPr>
        <p:spPr>
          <a:xfrm>
            <a:off x="8127796" y="1609344"/>
            <a:ext cx="3515258" cy="347472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74100" y="1609344"/>
            <a:ext cx="3222650"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7252" y="1792224"/>
            <a:ext cx="3076346" cy="3108960"/>
          </a:xfrm>
          <a:prstGeom prst="rect">
            <a:avLst/>
          </a:prstGeom>
          <a:noFill/>
        </p:spPr>
        <p:txBody>
          <a:bodyPr wrap="square" lIns="0" rIns="0" tIns="0" bIns="0">
            <a:spAutoFit/>
          </a:bodyPr>
          <a:lstStyle/>
          <a:p>
            <a:pPr>
              <a:lnSpc>
                <a:spcPct val="105000"/>
              </a:lnSpc>
              <a:spcAft>
                <a:spcPts val="200"/>
              </a:spcAft>
            </a:pPr>
            <a:r>
              <a:rPr sz="1600" b="1" i="0">
                <a:solidFill>
                  <a:srgbClr val="1F2A33"/>
                </a:solidFill>
                <a:latin typeface="Bricolage Grotesque"/>
              </a:rPr>
              <a:t>Logon Triggers</a:t>
            </a:r>
          </a:p>
          <a:p>
            <a:pPr>
              <a:lnSpc>
                <a:spcPct val="105000"/>
              </a:lnSpc>
              <a:spcAft>
                <a:spcPts val="800"/>
              </a:spcAft>
            </a:pPr>
            <a:r>
              <a:rPr sz="1100" b="1" i="0">
                <a:solidFill>
                  <a:srgbClr val="C5710F"/>
                </a:solidFill>
                <a:latin typeface="Nunito"/>
              </a:rPr>
              <a:t>Server-Level</a:t>
            </a:r>
          </a:p>
          <a:p>
            <a:pPr marL="182880" indent="-182880">
              <a:lnSpc>
                <a:spcPct val="105000"/>
              </a:lnSpc>
              <a:spcAft>
                <a:spcPts val="600"/>
              </a:spcAft>
              <a:buFont typeface="Nunito"/>
              <a:buChar char="•"/>
            </a:pPr>
            <a:r>
              <a:rPr sz="1200" b="0" i="0">
                <a:solidFill>
                  <a:srgbClr val="1F2A33"/>
                </a:solidFill>
                <a:latin typeface="Nunito"/>
              </a:rPr>
              <a:t>Fire on LOGON events after authentication</a:t>
            </a:r>
          </a:p>
          <a:p>
            <a:pPr marL="182880" indent="-182880">
              <a:lnSpc>
                <a:spcPct val="105000"/>
              </a:lnSpc>
              <a:spcAft>
                <a:spcPts val="600"/>
              </a:spcAft>
              <a:buFont typeface="Nunito"/>
              <a:buChar char="•"/>
            </a:pPr>
            <a:r>
              <a:rPr sz="1200" b="0" i="0">
                <a:solidFill>
                  <a:srgbClr val="1F2A33"/>
                </a:solidFill>
                <a:latin typeface="Nunito"/>
              </a:rPr>
              <a:t>Control session creation based on time/IP/count</a:t>
            </a:r>
          </a:p>
          <a:p>
            <a:pPr marL="182880" indent="-182880">
              <a:lnSpc>
                <a:spcPct val="105000"/>
              </a:lnSpc>
              <a:spcAft>
                <a:spcPts val="600"/>
              </a:spcAft>
              <a:buFont typeface="Nunito"/>
              <a:buChar char="•"/>
            </a:pPr>
            <a:r>
              <a:rPr sz="1200" b="0" i="0">
                <a:solidFill>
                  <a:srgbClr val="1F2A33"/>
                </a:solidFill>
                <a:latin typeface="Nunito"/>
              </a:rPr>
              <a:t>Limit concurrent sessions per login</a:t>
            </a:r>
          </a:p>
          <a:p>
            <a:pPr marL="182880" indent="-182880">
              <a:lnSpc>
                <a:spcPct val="105000"/>
              </a:lnSpc>
              <a:spcAft>
                <a:spcPts val="600"/>
              </a:spcAft>
              <a:buFont typeface="Nunito"/>
              <a:buChar char="•"/>
            </a:pPr>
            <a:r>
              <a:rPr sz="1200" b="0" i="0">
                <a:solidFill>
                  <a:srgbClr val="1F2A33"/>
                </a:solidFill>
                <a:latin typeface="Nunito"/>
              </a:rPr>
              <a:t>Use carefully — can lock out all users if broken</a:t>
            </a:r>
          </a:p>
        </p:txBody>
      </p:sp>
      <p:sp>
        <p:nvSpPr>
          <p:cNvPr id="14" name="Rounded Rectangle 13"/>
          <p:cNvSpPr/>
          <p:nvPr/>
        </p:nvSpPr>
        <p:spPr>
          <a:xfrm>
            <a:off x="548640" y="5266944"/>
            <a:ext cx="11094415" cy="137160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944" y="5266944"/>
            <a:ext cx="10801807" cy="68580"/>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5449824"/>
            <a:ext cx="10655503" cy="1005840"/>
          </a:xfrm>
          <a:prstGeom prst="rect">
            <a:avLst/>
          </a:prstGeom>
          <a:noFill/>
        </p:spPr>
        <p:txBody>
          <a:bodyPr wrap="square" lIns="0" rIns="0" tIns="0" bIns="0">
            <a:spAutoFit/>
          </a:bodyPr>
          <a:lstStyle/>
          <a:p>
            <a:pPr>
              <a:lnSpc>
                <a:spcPct val="105000"/>
              </a:lnSpc>
              <a:spcAft>
                <a:spcPts val="300"/>
              </a:spcAft>
            </a:pPr>
            <a:r>
              <a:rPr sz="1500" b="1" i="0">
                <a:solidFill>
                  <a:srgbClr val="1F2A33"/>
                </a:solidFill>
                <a:latin typeface="Bricolage Grotesque"/>
              </a:rPr>
              <a:t>Best Practices</a:t>
            </a:r>
          </a:p>
          <a:p>
            <a:pPr>
              <a:lnSpc>
                <a:spcPct val="105000"/>
              </a:lnSpc>
              <a:spcAft>
                <a:spcPts val="0"/>
              </a:spcAft>
            </a:pPr>
            <a:r>
              <a:rPr sz="1200" b="0" i="0">
                <a:solidFill>
                  <a:srgbClr val="1F2A33"/>
                </a:solidFill>
                <a:latin typeface="Nunito"/>
              </a:rPr>
              <a:t>Keep trigger logic minimal  •  Avoid nested triggers  •  Never rely on trigger firing order  •  Consider temporal tables as an alternative for audit  •  Test with multi-row operations</a:t>
            </a:r>
          </a:p>
        </p:txBody>
      </p:sp>
      <p:sp>
        <p:nvSpPr>
          <p:cNvPr id="17" name="TextBox 16"/>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2</a:t>
            </a:r>
          </a:p>
        </p:txBody>
      </p:sp>
      <p:sp>
        <p:nvSpPr>
          <p:cNvPr id="18" name="TextBox 17"/>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1D24"/>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2C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25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tretch>
            <a:fillRect/>
          </a:stretch>
        </p:blipFill>
        <p:spPr>
          <a:xfrm>
            <a:off x="777240" y="1965960"/>
            <a:ext cx="1691640" cy="1691640"/>
          </a:xfrm>
          <a:prstGeom prst="rect">
            <a:avLst/>
          </a:prstGeom>
        </p:spPr>
      </p:pic>
      <p:sp>
        <p:nvSpPr>
          <p:cNvPr id="5" name="TextBox 4"/>
          <p:cNvSpPr txBox="1"/>
          <p:nvPr/>
        </p:nvSpPr>
        <p:spPr>
          <a:xfrm>
            <a:off x="2880360" y="1481328"/>
            <a:ext cx="8503920" cy="457200"/>
          </a:xfrm>
          <a:prstGeom prst="rect">
            <a:avLst/>
          </a:prstGeom>
          <a:noFill/>
        </p:spPr>
        <p:txBody>
          <a:bodyPr wrap="square" lIns="0" rIns="0" tIns="0" bIns="0">
            <a:spAutoFit/>
          </a:bodyPr>
          <a:lstStyle/>
          <a:p>
            <a:pPr>
              <a:lnSpc>
                <a:spcPct val="105000"/>
              </a:lnSpc>
              <a:spcAft>
                <a:spcPts val="0"/>
              </a:spcAft>
            </a:pPr>
            <a:r>
              <a:rPr sz="1800" b="1" i="0">
                <a:solidFill>
                  <a:srgbClr val="F2A8BC"/>
                </a:solidFill>
                <a:latin typeface="Bricolage Grotesque"/>
              </a:rPr>
              <a:t>Module 3</a:t>
            </a:r>
          </a:p>
        </p:txBody>
      </p:sp>
      <p:sp>
        <p:nvSpPr>
          <p:cNvPr id="6" name="TextBox 5"/>
          <p:cNvSpPr txBox="1"/>
          <p:nvPr/>
        </p:nvSpPr>
        <p:spPr>
          <a:xfrm>
            <a:off x="2880360" y="1956816"/>
            <a:ext cx="8778240" cy="1920240"/>
          </a:xfrm>
          <a:prstGeom prst="rect">
            <a:avLst/>
          </a:prstGeom>
          <a:noFill/>
        </p:spPr>
        <p:txBody>
          <a:bodyPr wrap="square" lIns="0" rIns="0" tIns="0" bIns="0">
            <a:spAutoFit/>
          </a:bodyPr>
          <a:lstStyle/>
          <a:p>
            <a:pPr>
              <a:lnSpc>
                <a:spcPct val="104000"/>
              </a:lnSpc>
              <a:spcAft>
                <a:spcPts val="0"/>
              </a:spcAft>
            </a:pPr>
            <a:r>
              <a:rPr sz="4400" b="1" i="0">
                <a:solidFill>
                  <a:srgbClr val="F6F2EA"/>
                </a:solidFill>
                <a:latin typeface="Bricolage Grotesque"/>
              </a:rPr>
              <a:t>Write Advanced</a:t>
            </a:r>
          </a:p>
          <a:p>
            <a:pPr>
              <a:lnSpc>
                <a:spcPct val="104000"/>
              </a:lnSpc>
              <a:spcAft>
                <a:spcPts val="0"/>
              </a:spcAft>
            </a:pPr>
            <a:r>
              <a:rPr sz="4400" b="1" i="0">
                <a:solidFill>
                  <a:srgbClr val="F6F2EA"/>
                </a:solidFill>
                <a:latin typeface="Bricolage Grotesque"/>
              </a:rPr>
              <a:t>T-SQL Code</a:t>
            </a:r>
          </a:p>
        </p:txBody>
      </p:sp>
      <p:sp>
        <p:nvSpPr>
          <p:cNvPr id="7" name="TextBox 6"/>
          <p:cNvSpPr txBox="1"/>
          <p:nvPr/>
        </p:nvSpPr>
        <p:spPr>
          <a:xfrm>
            <a:off x="2880360" y="3602736"/>
            <a:ext cx="8412480" cy="1188720"/>
          </a:xfrm>
          <a:prstGeom prst="rect">
            <a:avLst/>
          </a:prstGeom>
          <a:noFill/>
        </p:spPr>
        <p:txBody>
          <a:bodyPr wrap="square" lIns="0" rIns="0" tIns="0" bIns="0">
            <a:spAutoFit/>
          </a:bodyPr>
          <a:lstStyle/>
          <a:p>
            <a:pPr>
              <a:lnSpc>
                <a:spcPct val="105000"/>
              </a:lnSpc>
              <a:spcAft>
                <a:spcPts val="0"/>
              </a:spcAft>
            </a:pPr>
            <a:r>
              <a:rPr sz="1500" b="0" i="0">
                <a:solidFill>
                  <a:srgbClr val="C5BFB1"/>
                </a:solidFill>
                <a:latin typeface="Nunito"/>
              </a:rPr>
              <a:t>CTEs, window functions, JSON processing, regular expressions, fuzzy matching, graph queries, and structured error handling.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CTEs &amp; Correlated Subqueries</a:t>
            </a:r>
          </a:p>
        </p:txBody>
      </p:sp>
      <p:sp>
        <p:nvSpPr>
          <p:cNvPr id="3" name="Rounded Rectangle 2"/>
          <p:cNvSpPr/>
          <p:nvPr/>
        </p:nvSpPr>
        <p:spPr>
          <a:xfrm>
            <a:off x="548640" y="932688"/>
            <a:ext cx="658368" cy="73152"/>
          </a:xfrm>
          <a:prstGeom prst="roundRect">
            <a:avLst>
              <a:gd name="adj" fmla="val 50000"/>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88720"/>
            <a:ext cx="5364327" cy="5394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188720"/>
            <a:ext cx="5071719"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371600"/>
            <a:ext cx="4925415" cy="50292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Common Table Expressions</a:t>
            </a:r>
          </a:p>
          <a:p>
            <a:pPr marL="182880" indent="-182880">
              <a:lnSpc>
                <a:spcPct val="105000"/>
              </a:lnSpc>
              <a:spcAft>
                <a:spcPts val="700"/>
              </a:spcAft>
              <a:buFont typeface="Nunito"/>
              <a:buChar char="•"/>
            </a:pPr>
            <a:r>
              <a:rPr sz="1200" b="0" i="0">
                <a:solidFill>
                  <a:srgbClr val="1F2A33"/>
                </a:solidFill>
                <a:latin typeface="Nunito"/>
              </a:rPr>
              <a:t>WITH clause defines named, temporary result sets</a:t>
            </a:r>
          </a:p>
          <a:p>
            <a:pPr marL="182880" indent="-182880">
              <a:lnSpc>
                <a:spcPct val="105000"/>
              </a:lnSpc>
              <a:spcAft>
                <a:spcPts val="700"/>
              </a:spcAft>
              <a:buFont typeface="Nunito"/>
              <a:buChar char="•"/>
            </a:pPr>
            <a:r>
              <a:rPr sz="1200" b="0" i="0">
                <a:solidFill>
                  <a:srgbClr val="1F2A33"/>
                </a:solidFill>
                <a:latin typeface="Nunito"/>
              </a:rPr>
              <a:t>Scope: single SELECT, INSERT, UPDATE, or DELETE statement</a:t>
            </a:r>
          </a:p>
          <a:p>
            <a:pPr marL="182880" indent="-182880">
              <a:lnSpc>
                <a:spcPct val="105000"/>
              </a:lnSpc>
              <a:spcAft>
                <a:spcPts val="700"/>
              </a:spcAft>
              <a:buFont typeface="Nunito"/>
              <a:buChar char="•"/>
            </a:pPr>
            <a:r>
              <a:rPr sz="1200" b="0" i="0">
                <a:solidFill>
                  <a:srgbClr val="1F2A33"/>
                </a:solidFill>
                <a:latin typeface="Nunito"/>
              </a:rPr>
              <a:t>Recursive CTEs for hierarchical data: org charts, BOMs, tree traversal</a:t>
            </a:r>
          </a:p>
          <a:p>
            <a:pPr marL="182880" indent="-182880">
              <a:lnSpc>
                <a:spcPct val="105000"/>
              </a:lnSpc>
              <a:spcAft>
                <a:spcPts val="700"/>
              </a:spcAft>
              <a:buFont typeface="Nunito"/>
              <a:buChar char="•"/>
            </a:pPr>
            <a:r>
              <a:rPr sz="1200" b="0" i="0">
                <a:solidFill>
                  <a:srgbClr val="1F2A33"/>
                </a:solidFill>
                <a:latin typeface="Nunito"/>
              </a:rPr>
              <a:t>Anchor member + recursive member joined by UNION ALL</a:t>
            </a:r>
          </a:p>
          <a:p>
            <a:pPr marL="182880" indent="-182880">
              <a:lnSpc>
                <a:spcPct val="105000"/>
              </a:lnSpc>
              <a:spcAft>
                <a:spcPts val="700"/>
              </a:spcAft>
              <a:buFont typeface="Nunito"/>
              <a:buChar char="•"/>
            </a:pPr>
            <a:r>
              <a:rPr sz="1200" b="0" i="0">
                <a:solidFill>
                  <a:srgbClr val="1F2A33"/>
                </a:solidFill>
                <a:latin typeface="Nunito"/>
              </a:rPr>
              <a:t>MAXRECURSION hint controls depth (default 100, max 32767)</a:t>
            </a:r>
          </a:p>
          <a:p>
            <a:pPr marL="182880" indent="-182880">
              <a:lnSpc>
                <a:spcPct val="105000"/>
              </a:lnSpc>
              <a:spcAft>
                <a:spcPts val="700"/>
              </a:spcAft>
              <a:buFont typeface="Nunito"/>
              <a:buChar char="•"/>
            </a:pPr>
            <a:r>
              <a:rPr sz="1200" b="0" i="0">
                <a:solidFill>
                  <a:srgbClr val="1F2A33"/>
                </a:solidFill>
                <a:latin typeface="Nunito"/>
              </a:rPr>
              <a:t>Multiple CTEs in a single WITH — separate with commas</a:t>
            </a:r>
          </a:p>
          <a:p>
            <a:pPr marL="182880" indent="-182880">
              <a:lnSpc>
                <a:spcPct val="105000"/>
              </a:lnSpc>
              <a:spcAft>
                <a:spcPts val="700"/>
              </a:spcAft>
              <a:buFont typeface="Nunito"/>
              <a:buChar char="•"/>
            </a:pPr>
            <a:r>
              <a:rPr sz="1200" b="0" i="0">
                <a:solidFill>
                  <a:srgbClr val="1F2A33"/>
                </a:solidFill>
                <a:latin typeface="Nunito"/>
              </a:rPr>
              <a:t>Improves readability vs deeply nested subqueries</a:t>
            </a:r>
          </a:p>
          <a:p>
            <a:pPr marL="182880" indent="-182880">
              <a:lnSpc>
                <a:spcPct val="105000"/>
              </a:lnSpc>
              <a:spcAft>
                <a:spcPts val="700"/>
              </a:spcAft>
              <a:buFont typeface="Nunito"/>
              <a:buChar char="•"/>
            </a:pPr>
            <a:r>
              <a:rPr sz="1200" b="0" i="0">
                <a:solidFill>
                  <a:srgbClr val="1F2A33"/>
                </a:solidFill>
                <a:latin typeface="Nunito"/>
              </a:rPr>
              <a:t>Not persisted — recalculated each reference (use temp tables if needed twice)</a:t>
            </a:r>
          </a:p>
        </p:txBody>
      </p:sp>
      <p:sp>
        <p:nvSpPr>
          <p:cNvPr id="7" name="Rounded Rectangle 6"/>
          <p:cNvSpPr/>
          <p:nvPr/>
        </p:nvSpPr>
        <p:spPr>
          <a:xfrm>
            <a:off x="6278727" y="1188720"/>
            <a:ext cx="5364327" cy="5394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25031" y="1188720"/>
            <a:ext cx="5071719"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8183" y="1371600"/>
            <a:ext cx="4925415" cy="50292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Correlated Subqueries</a:t>
            </a:r>
          </a:p>
          <a:p>
            <a:pPr marL="182880" indent="-182880">
              <a:lnSpc>
                <a:spcPct val="105000"/>
              </a:lnSpc>
              <a:spcAft>
                <a:spcPts val="700"/>
              </a:spcAft>
              <a:buFont typeface="Nunito"/>
              <a:buChar char="•"/>
            </a:pPr>
            <a:r>
              <a:rPr sz="1200" b="0" i="0">
                <a:solidFill>
                  <a:srgbClr val="1F2A33"/>
                </a:solidFill>
                <a:latin typeface="Nunito"/>
              </a:rPr>
              <a:t>Inner query references columns from the outer query</a:t>
            </a:r>
          </a:p>
          <a:p>
            <a:pPr marL="182880" indent="-182880">
              <a:lnSpc>
                <a:spcPct val="105000"/>
              </a:lnSpc>
              <a:spcAft>
                <a:spcPts val="700"/>
              </a:spcAft>
              <a:buFont typeface="Nunito"/>
              <a:buChar char="•"/>
            </a:pPr>
            <a:r>
              <a:rPr sz="1200" b="0" i="0">
                <a:solidFill>
                  <a:srgbClr val="1F2A33"/>
                </a:solidFill>
                <a:latin typeface="Nunito"/>
              </a:rPr>
              <a:t>Executes once per outer row — watch for O(n²) performance</a:t>
            </a:r>
          </a:p>
          <a:p>
            <a:pPr marL="182880" indent="-182880">
              <a:lnSpc>
                <a:spcPct val="105000"/>
              </a:lnSpc>
              <a:spcAft>
                <a:spcPts val="700"/>
              </a:spcAft>
              <a:buFont typeface="Nunito"/>
              <a:buChar char="•"/>
            </a:pPr>
            <a:r>
              <a:rPr sz="1200" b="0" i="0">
                <a:solidFill>
                  <a:srgbClr val="1F2A33"/>
                </a:solidFill>
                <a:latin typeface="Nunito"/>
              </a:rPr>
              <a:t>EXISTS / NOT EXISTS for semi-join patterns</a:t>
            </a:r>
          </a:p>
          <a:p>
            <a:pPr marL="182880" indent="-182880">
              <a:lnSpc>
                <a:spcPct val="105000"/>
              </a:lnSpc>
              <a:spcAft>
                <a:spcPts val="700"/>
              </a:spcAft>
              <a:buFont typeface="Nunito"/>
              <a:buChar char="•"/>
            </a:pPr>
            <a:r>
              <a:rPr sz="1200" b="0" i="0">
                <a:solidFill>
                  <a:srgbClr val="1F2A33"/>
                </a:solidFill>
                <a:latin typeface="Nunito"/>
              </a:rPr>
              <a:t>Row-by-row comparisons: find max per group, running differences</a:t>
            </a:r>
          </a:p>
          <a:p>
            <a:pPr marL="182880" indent="-182880">
              <a:lnSpc>
                <a:spcPct val="105000"/>
              </a:lnSpc>
              <a:spcAft>
                <a:spcPts val="700"/>
              </a:spcAft>
              <a:buFont typeface="Nunito"/>
              <a:buChar char="•"/>
            </a:pPr>
            <a:r>
              <a:rPr sz="1200" b="0" i="0">
                <a:solidFill>
                  <a:srgbClr val="1F2A33"/>
                </a:solidFill>
                <a:latin typeface="Nunito"/>
              </a:rPr>
              <a:t>Can often be rewritten as JOINs or window functions for speed</a:t>
            </a:r>
          </a:p>
          <a:p>
            <a:pPr marL="182880" indent="-182880">
              <a:lnSpc>
                <a:spcPct val="105000"/>
              </a:lnSpc>
              <a:spcAft>
                <a:spcPts val="700"/>
              </a:spcAft>
              <a:buFont typeface="Nunito"/>
              <a:buChar char="•"/>
            </a:pPr>
            <a:r>
              <a:rPr sz="1200" b="0" i="0">
                <a:solidFill>
                  <a:srgbClr val="1F2A33"/>
                </a:solidFill>
                <a:latin typeface="Nunito"/>
              </a:rPr>
              <a:t>Useful in UPDATE/DELETE with correlated conditions</a:t>
            </a:r>
          </a:p>
          <a:p>
            <a:pPr marL="182880" indent="-182880">
              <a:lnSpc>
                <a:spcPct val="105000"/>
              </a:lnSpc>
              <a:spcAft>
                <a:spcPts val="700"/>
              </a:spcAft>
              <a:buFont typeface="Nunito"/>
              <a:buChar char="•"/>
            </a:pPr>
            <a:r>
              <a:rPr sz="1200" b="0" i="0">
                <a:solidFill>
                  <a:srgbClr val="1F2A33"/>
                </a:solidFill>
                <a:latin typeface="Nunito"/>
              </a:rPr>
              <a:t>Derived tables: subquery in FROM clause with an alias</a:t>
            </a:r>
          </a:p>
          <a:p>
            <a:pPr marL="182880" indent="-182880">
              <a:lnSpc>
                <a:spcPct val="105000"/>
              </a:lnSpc>
              <a:spcAft>
                <a:spcPts val="700"/>
              </a:spcAft>
              <a:buFont typeface="Nunito"/>
              <a:buChar char="•"/>
            </a:pPr>
            <a:r>
              <a:rPr sz="1200" b="0" i="0">
                <a:solidFill>
                  <a:srgbClr val="1F2A33"/>
                </a:solidFill>
                <a:latin typeface="Nunito"/>
              </a:rPr>
              <a:t>CROSS APPLY / OUTER APPLY for table-valued expressions</a:t>
            </a:r>
          </a:p>
        </p:txBody>
      </p:sp>
      <p:sp>
        <p:nvSpPr>
          <p:cNvPr id="10" name="TextBox 9"/>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3</a:t>
            </a:r>
          </a:p>
        </p:txBody>
      </p:sp>
      <p:sp>
        <p:nvSpPr>
          <p:cNvPr id="11" name="TextBox 10"/>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Window Functions</a:t>
            </a:r>
          </a:p>
        </p:txBody>
      </p:sp>
      <p:sp>
        <p:nvSpPr>
          <p:cNvPr id="3" name="Rounded Rectangle 2"/>
          <p:cNvSpPr/>
          <p:nvPr/>
        </p:nvSpPr>
        <p:spPr>
          <a:xfrm>
            <a:off x="548640" y="932688"/>
            <a:ext cx="658368" cy="73152"/>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4415" cy="457200"/>
          </a:xfrm>
          <a:prstGeom prst="rect">
            <a:avLst/>
          </a:prstGeom>
          <a:noFill/>
        </p:spPr>
        <p:txBody>
          <a:bodyPr wrap="square" lIns="0" rIns="0" tIns="0" bIns="0">
            <a:spAutoFit/>
          </a:bodyPr>
          <a:lstStyle/>
          <a:p>
            <a:pPr>
              <a:lnSpc>
                <a:spcPct val="105000"/>
              </a:lnSpc>
              <a:spcAft>
                <a:spcPts val="0"/>
              </a:spcAft>
            </a:pPr>
            <a:r>
              <a:rPr sz="1500" b="0" i="0">
                <a:solidFill>
                  <a:srgbClr val="5A6B76"/>
                </a:solidFill>
                <a:latin typeface="Nunito"/>
              </a:rPr>
              <a:t>Perform calculations across rows related to the current row, without collapsing result sets like GROUP BY.</a:t>
            </a:r>
          </a:p>
        </p:txBody>
      </p:sp>
      <p:sp>
        <p:nvSpPr>
          <p:cNvPr id="5" name="Rounded Rectangle 4"/>
          <p:cNvSpPr/>
          <p:nvPr/>
        </p:nvSpPr>
        <p:spPr>
          <a:xfrm>
            <a:off x="548640" y="1591056"/>
            <a:ext cx="2602153" cy="40690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591056"/>
            <a:ext cx="2309545"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73936"/>
            <a:ext cx="2163241" cy="3703320"/>
          </a:xfrm>
          <a:prstGeom prst="rect">
            <a:avLst/>
          </a:prstGeom>
          <a:noFill/>
        </p:spPr>
        <p:txBody>
          <a:bodyPr wrap="square" lIns="0" rIns="0" tIns="0" bIns="0">
            <a:spAutoFit/>
          </a:bodyPr>
          <a:lstStyle/>
          <a:p>
            <a:pPr>
              <a:lnSpc>
                <a:spcPct val="105000"/>
              </a:lnSpc>
              <a:spcAft>
                <a:spcPts val="700"/>
              </a:spcAft>
            </a:pPr>
            <a:r>
              <a:rPr sz="1600" b="1" i="0">
                <a:solidFill>
                  <a:srgbClr val="1F2A33"/>
                </a:solidFill>
                <a:latin typeface="Bricolage Grotesque"/>
              </a:rPr>
              <a:t>Ranking</a:t>
            </a:r>
          </a:p>
          <a:p>
            <a:pPr>
              <a:lnSpc>
                <a:spcPct val="105000"/>
              </a:lnSpc>
              <a:spcAft>
                <a:spcPts val="300"/>
              </a:spcAft>
            </a:pPr>
            <a:r>
              <a:rPr sz="1150" b="1" i="0">
                <a:solidFill>
                  <a:srgbClr val="4497AE"/>
                </a:solidFill>
                <a:latin typeface="JetBrains Mono"/>
              </a:rPr>
              <a:t>ROW_NUMBER</a:t>
            </a:r>
          </a:p>
          <a:p>
            <a:pPr>
              <a:lnSpc>
                <a:spcPct val="105000"/>
              </a:lnSpc>
              <a:spcAft>
                <a:spcPts val="300"/>
              </a:spcAft>
            </a:pPr>
            <a:r>
              <a:rPr sz="1150" b="1" i="0">
                <a:solidFill>
                  <a:srgbClr val="4497AE"/>
                </a:solidFill>
                <a:latin typeface="JetBrains Mono"/>
              </a:rPr>
              <a:t>RANK</a:t>
            </a:r>
          </a:p>
          <a:p>
            <a:pPr>
              <a:lnSpc>
                <a:spcPct val="105000"/>
              </a:lnSpc>
              <a:spcAft>
                <a:spcPts val="300"/>
              </a:spcAft>
            </a:pPr>
            <a:r>
              <a:rPr sz="1150" b="1" i="0">
                <a:solidFill>
                  <a:srgbClr val="4497AE"/>
                </a:solidFill>
                <a:latin typeface="JetBrains Mono"/>
              </a:rPr>
              <a:t>DENSE_RANK</a:t>
            </a:r>
          </a:p>
          <a:p>
            <a:pPr>
              <a:lnSpc>
                <a:spcPct val="105000"/>
              </a:lnSpc>
              <a:spcAft>
                <a:spcPts val="300"/>
              </a:spcAft>
            </a:pPr>
            <a:r>
              <a:rPr sz="1150" b="1" i="0">
                <a:solidFill>
                  <a:srgbClr val="4497AE"/>
                </a:solidFill>
                <a:latin typeface="JetBrains Mono"/>
              </a:rPr>
              <a:t>NTILE</a:t>
            </a:r>
          </a:p>
          <a:p>
            <a:pPr>
              <a:lnSpc>
                <a:spcPct val="105000"/>
              </a:lnSpc>
              <a:spcBef>
                <a:spcPts val="1000"/>
              </a:spcBef>
              <a:spcAft>
                <a:spcPts val="0"/>
              </a:spcAft>
            </a:pPr>
            <a:r>
              <a:rPr sz="1200" b="0" i="0">
                <a:solidFill>
                  <a:srgbClr val="1F2A33"/>
                </a:solidFill>
                <a:latin typeface="Nunito"/>
              </a:rPr>
              <a:t>Assign positions within partitions. ROW_NUMBER is always unique; RANK allows ties.</a:t>
            </a:r>
          </a:p>
        </p:txBody>
      </p:sp>
      <p:sp>
        <p:nvSpPr>
          <p:cNvPr id="8" name="Rounded Rectangle 7"/>
          <p:cNvSpPr/>
          <p:nvPr/>
        </p:nvSpPr>
        <p:spPr>
          <a:xfrm>
            <a:off x="3379393" y="1591056"/>
            <a:ext cx="2602153" cy="40690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25697" y="1591056"/>
            <a:ext cx="2309545"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8849" y="1773936"/>
            <a:ext cx="2163241" cy="3703320"/>
          </a:xfrm>
          <a:prstGeom prst="rect">
            <a:avLst/>
          </a:prstGeom>
          <a:noFill/>
        </p:spPr>
        <p:txBody>
          <a:bodyPr wrap="square" lIns="0" rIns="0" tIns="0" bIns="0">
            <a:spAutoFit/>
          </a:bodyPr>
          <a:lstStyle/>
          <a:p>
            <a:pPr>
              <a:lnSpc>
                <a:spcPct val="105000"/>
              </a:lnSpc>
              <a:spcAft>
                <a:spcPts val="700"/>
              </a:spcAft>
            </a:pPr>
            <a:r>
              <a:rPr sz="1600" b="1" i="0">
                <a:solidFill>
                  <a:srgbClr val="1F2A33"/>
                </a:solidFill>
                <a:latin typeface="Bricolage Grotesque"/>
              </a:rPr>
              <a:t>Offset</a:t>
            </a:r>
          </a:p>
          <a:p>
            <a:pPr>
              <a:lnSpc>
                <a:spcPct val="105000"/>
              </a:lnSpc>
              <a:spcAft>
                <a:spcPts val="300"/>
              </a:spcAft>
            </a:pPr>
            <a:r>
              <a:rPr sz="1150" b="1" i="0">
                <a:solidFill>
                  <a:srgbClr val="34906F"/>
                </a:solidFill>
                <a:latin typeface="JetBrains Mono"/>
              </a:rPr>
              <a:t>LAG / LEAD</a:t>
            </a:r>
          </a:p>
          <a:p>
            <a:pPr>
              <a:lnSpc>
                <a:spcPct val="105000"/>
              </a:lnSpc>
              <a:spcAft>
                <a:spcPts val="300"/>
              </a:spcAft>
            </a:pPr>
            <a:r>
              <a:rPr sz="1150" b="1" i="0">
                <a:solidFill>
                  <a:srgbClr val="34906F"/>
                </a:solidFill>
                <a:latin typeface="JetBrains Mono"/>
              </a:rPr>
              <a:t>FIRST_VALUE</a:t>
            </a:r>
          </a:p>
          <a:p>
            <a:pPr>
              <a:lnSpc>
                <a:spcPct val="105000"/>
              </a:lnSpc>
              <a:spcAft>
                <a:spcPts val="300"/>
              </a:spcAft>
            </a:pPr>
            <a:r>
              <a:rPr sz="1150" b="1" i="0">
                <a:solidFill>
                  <a:srgbClr val="34906F"/>
                </a:solidFill>
                <a:latin typeface="JetBrains Mono"/>
              </a:rPr>
              <a:t>LAST_VALUE</a:t>
            </a:r>
          </a:p>
          <a:p>
            <a:pPr>
              <a:lnSpc>
                <a:spcPct val="105000"/>
              </a:lnSpc>
              <a:spcBef>
                <a:spcPts val="1000"/>
              </a:spcBef>
              <a:spcAft>
                <a:spcPts val="0"/>
              </a:spcAft>
            </a:pPr>
            <a:r>
              <a:rPr sz="1200" b="0" i="0">
                <a:solidFill>
                  <a:srgbClr val="1F2A33"/>
                </a:solidFill>
                <a:latin typeface="Nunito"/>
              </a:rPr>
              <a:t>Access previous/next rows or partition boundaries without self-joins.</a:t>
            </a:r>
          </a:p>
        </p:txBody>
      </p:sp>
      <p:sp>
        <p:nvSpPr>
          <p:cNvPr id="11" name="Rounded Rectangle 10"/>
          <p:cNvSpPr/>
          <p:nvPr/>
        </p:nvSpPr>
        <p:spPr>
          <a:xfrm>
            <a:off x="6210147" y="1591056"/>
            <a:ext cx="2602153" cy="40690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6451" y="1591056"/>
            <a:ext cx="2309545"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9603" y="1773936"/>
            <a:ext cx="2163241" cy="3703320"/>
          </a:xfrm>
          <a:prstGeom prst="rect">
            <a:avLst/>
          </a:prstGeom>
          <a:noFill/>
        </p:spPr>
        <p:txBody>
          <a:bodyPr wrap="square" lIns="0" rIns="0" tIns="0" bIns="0">
            <a:spAutoFit/>
          </a:bodyPr>
          <a:lstStyle/>
          <a:p>
            <a:pPr>
              <a:lnSpc>
                <a:spcPct val="105000"/>
              </a:lnSpc>
              <a:spcAft>
                <a:spcPts val="700"/>
              </a:spcAft>
            </a:pPr>
            <a:r>
              <a:rPr sz="1600" b="1" i="0">
                <a:solidFill>
                  <a:srgbClr val="1F2A33"/>
                </a:solidFill>
                <a:latin typeface="Bricolage Grotesque"/>
              </a:rPr>
              <a:t>Aggregate</a:t>
            </a:r>
          </a:p>
          <a:p>
            <a:pPr>
              <a:lnSpc>
                <a:spcPct val="105000"/>
              </a:lnSpc>
              <a:spcAft>
                <a:spcPts val="300"/>
              </a:spcAft>
            </a:pPr>
            <a:r>
              <a:rPr sz="1150" b="1" i="0">
                <a:solidFill>
                  <a:srgbClr val="366377"/>
                </a:solidFill>
                <a:latin typeface="JetBrains Mono"/>
              </a:rPr>
              <a:t>SUM / AVG</a:t>
            </a:r>
          </a:p>
          <a:p>
            <a:pPr>
              <a:lnSpc>
                <a:spcPct val="105000"/>
              </a:lnSpc>
              <a:spcAft>
                <a:spcPts val="300"/>
              </a:spcAft>
            </a:pPr>
            <a:r>
              <a:rPr sz="1150" b="1" i="0">
                <a:solidFill>
                  <a:srgbClr val="366377"/>
                </a:solidFill>
                <a:latin typeface="JetBrains Mono"/>
              </a:rPr>
              <a:t>COUNT / MIN</a:t>
            </a:r>
          </a:p>
          <a:p>
            <a:pPr>
              <a:lnSpc>
                <a:spcPct val="105000"/>
              </a:lnSpc>
              <a:spcAft>
                <a:spcPts val="300"/>
              </a:spcAft>
            </a:pPr>
            <a:r>
              <a:rPr sz="1150" b="1" i="0">
                <a:solidFill>
                  <a:srgbClr val="366377"/>
                </a:solidFill>
                <a:latin typeface="JetBrains Mono"/>
              </a:rPr>
              <a:t>MAX</a:t>
            </a:r>
          </a:p>
          <a:p>
            <a:pPr>
              <a:lnSpc>
                <a:spcPct val="105000"/>
              </a:lnSpc>
              <a:spcBef>
                <a:spcPts val="1000"/>
              </a:spcBef>
              <a:spcAft>
                <a:spcPts val="0"/>
              </a:spcAft>
            </a:pPr>
            <a:r>
              <a:rPr sz="1200" b="0" i="0">
                <a:solidFill>
                  <a:srgbClr val="1F2A33"/>
                </a:solidFill>
                <a:latin typeface="Nunito"/>
              </a:rPr>
              <a:t>Running totals, moving averages over ROWS BETWEEN or RANGE frames.</a:t>
            </a:r>
          </a:p>
        </p:txBody>
      </p:sp>
      <p:sp>
        <p:nvSpPr>
          <p:cNvPr id="14" name="Rounded Rectangle 13"/>
          <p:cNvSpPr/>
          <p:nvPr/>
        </p:nvSpPr>
        <p:spPr>
          <a:xfrm>
            <a:off x="9040901" y="1591056"/>
            <a:ext cx="2602153" cy="406908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87205" y="1591056"/>
            <a:ext cx="2309545"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60357" y="1773936"/>
            <a:ext cx="2163241" cy="3703320"/>
          </a:xfrm>
          <a:prstGeom prst="rect">
            <a:avLst/>
          </a:prstGeom>
          <a:noFill/>
        </p:spPr>
        <p:txBody>
          <a:bodyPr wrap="square" lIns="0" rIns="0" tIns="0" bIns="0">
            <a:spAutoFit/>
          </a:bodyPr>
          <a:lstStyle/>
          <a:p>
            <a:pPr>
              <a:lnSpc>
                <a:spcPct val="105000"/>
              </a:lnSpc>
              <a:spcAft>
                <a:spcPts val="700"/>
              </a:spcAft>
            </a:pPr>
            <a:r>
              <a:rPr sz="1600" b="1" i="0">
                <a:solidFill>
                  <a:srgbClr val="1F2A33"/>
                </a:solidFill>
                <a:latin typeface="Bricolage Grotesque"/>
              </a:rPr>
              <a:t>Distribution</a:t>
            </a:r>
          </a:p>
          <a:p>
            <a:pPr>
              <a:lnSpc>
                <a:spcPct val="105000"/>
              </a:lnSpc>
              <a:spcAft>
                <a:spcPts val="300"/>
              </a:spcAft>
            </a:pPr>
            <a:r>
              <a:rPr sz="1150" b="1" i="0">
                <a:solidFill>
                  <a:srgbClr val="C5710F"/>
                </a:solidFill>
                <a:latin typeface="JetBrains Mono"/>
              </a:rPr>
              <a:t>PERCENT_RANK</a:t>
            </a:r>
          </a:p>
          <a:p>
            <a:pPr>
              <a:lnSpc>
                <a:spcPct val="105000"/>
              </a:lnSpc>
              <a:spcAft>
                <a:spcPts val="300"/>
              </a:spcAft>
            </a:pPr>
            <a:r>
              <a:rPr sz="1150" b="1" i="0">
                <a:solidFill>
                  <a:srgbClr val="C5710F"/>
                </a:solidFill>
                <a:latin typeface="JetBrains Mono"/>
              </a:rPr>
              <a:t>CUME_DIST</a:t>
            </a:r>
          </a:p>
          <a:p>
            <a:pPr>
              <a:lnSpc>
                <a:spcPct val="105000"/>
              </a:lnSpc>
              <a:spcAft>
                <a:spcPts val="300"/>
              </a:spcAft>
            </a:pPr>
            <a:r>
              <a:rPr sz="1150" b="1" i="0">
                <a:solidFill>
                  <a:srgbClr val="C5710F"/>
                </a:solidFill>
                <a:latin typeface="JetBrains Mono"/>
              </a:rPr>
              <a:t>PERCENTILE_CONT</a:t>
            </a:r>
          </a:p>
          <a:p>
            <a:pPr>
              <a:lnSpc>
                <a:spcPct val="105000"/>
              </a:lnSpc>
              <a:spcAft>
                <a:spcPts val="300"/>
              </a:spcAft>
            </a:pPr>
            <a:r>
              <a:rPr sz="1150" b="1" i="0">
                <a:solidFill>
                  <a:srgbClr val="C5710F"/>
                </a:solidFill>
                <a:latin typeface="JetBrains Mono"/>
              </a:rPr>
              <a:t>PERCENTILE_DISC</a:t>
            </a:r>
          </a:p>
          <a:p>
            <a:pPr>
              <a:lnSpc>
                <a:spcPct val="105000"/>
              </a:lnSpc>
              <a:spcBef>
                <a:spcPts val="1000"/>
              </a:spcBef>
              <a:spcAft>
                <a:spcPts val="0"/>
              </a:spcAft>
            </a:pPr>
            <a:r>
              <a:rPr sz="1200" b="0" i="0">
                <a:solidFill>
                  <a:srgbClr val="1F2A33"/>
                </a:solidFill>
                <a:latin typeface="Nunito"/>
              </a:rPr>
              <a:t>Statistical distribution and percentile calculations within groups.</a:t>
            </a:r>
          </a:p>
        </p:txBody>
      </p:sp>
      <p:sp>
        <p:nvSpPr>
          <p:cNvPr id="17" name="Rounded Rectangle 16"/>
          <p:cNvSpPr/>
          <p:nvPr/>
        </p:nvSpPr>
        <p:spPr>
          <a:xfrm>
            <a:off x="548640" y="5897880"/>
            <a:ext cx="11094415" cy="566928"/>
          </a:xfrm>
          <a:prstGeom prst="roundRect">
            <a:avLst>
              <a:gd name="adj" fmla="val 35000"/>
            </a:avLst>
          </a:prstGeom>
          <a:solidFill>
            <a:srgbClr val="1F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05000"/>
              </a:lnSpc>
              <a:spcAft>
                <a:spcPts val="0"/>
              </a:spcAft>
            </a:pPr>
            <a:r>
              <a:rPr sz="1200" b="0" i="0">
                <a:solidFill>
                  <a:srgbClr val="ECE2D0"/>
                </a:solidFill>
                <a:latin typeface="Nunito"/>
              </a:rPr>
              <a:t>Syntax:  function() OVER ( PARTITION BY col ORDER BY col ROWS BETWEEN UNBOUNDED PRECEDING AND CURRENT ROW )</a:t>
            </a:r>
          </a:p>
        </p:txBody>
      </p:sp>
      <p:sp>
        <p:nvSpPr>
          <p:cNvPr id="18" name="TextBox 17"/>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3</a:t>
            </a:r>
          </a:p>
        </p:txBody>
      </p:sp>
      <p:sp>
        <p:nvSpPr>
          <p:cNvPr id="19" name="TextBox 18"/>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JSON &amp; XML Processing in T-SQL</a:t>
            </a:r>
          </a:p>
        </p:txBody>
      </p:sp>
      <p:sp>
        <p:nvSpPr>
          <p:cNvPr id="3" name="Rounded Rectangle 2"/>
          <p:cNvSpPr/>
          <p:nvPr/>
        </p:nvSpPr>
        <p:spPr>
          <a:xfrm>
            <a:off x="548640" y="932688"/>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88720"/>
            <a:ext cx="5364327" cy="5394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188720"/>
            <a:ext cx="5071719"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371600"/>
            <a:ext cx="4925415" cy="50292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JSON Functions</a:t>
            </a:r>
          </a:p>
          <a:p>
            <a:pPr marL="182880" indent="-182880">
              <a:lnSpc>
                <a:spcPct val="105000"/>
              </a:lnSpc>
              <a:spcAft>
                <a:spcPts val="800"/>
              </a:spcAft>
              <a:buFont typeface="Nunito"/>
              <a:buChar char="•"/>
            </a:pPr>
            <a:r>
              <a:rPr sz="1200" b="0" i="0">
                <a:solidFill>
                  <a:srgbClr val="1F2A33"/>
                </a:solidFill>
                <a:latin typeface="Nunito"/>
              </a:rPr>
              <a:t>FOR JSON PATH / AUTO — convert result sets to JSON</a:t>
            </a:r>
          </a:p>
          <a:p>
            <a:pPr marL="182880" indent="-182880">
              <a:lnSpc>
                <a:spcPct val="105000"/>
              </a:lnSpc>
              <a:spcAft>
                <a:spcPts val="800"/>
              </a:spcAft>
              <a:buFont typeface="Nunito"/>
              <a:buChar char="•"/>
            </a:pPr>
            <a:r>
              <a:rPr sz="1200" b="0" i="0">
                <a:solidFill>
                  <a:srgbClr val="1F2A33"/>
                </a:solidFill>
                <a:latin typeface="Nunito"/>
              </a:rPr>
              <a:t>OPENJSON — shred JSON arrays/objects into rows with schema</a:t>
            </a:r>
          </a:p>
          <a:p>
            <a:pPr marL="182880" indent="-182880">
              <a:lnSpc>
                <a:spcPct val="105000"/>
              </a:lnSpc>
              <a:spcAft>
                <a:spcPts val="800"/>
              </a:spcAft>
              <a:buFont typeface="Nunito"/>
              <a:buChar char="•"/>
            </a:pPr>
            <a:r>
              <a:rPr sz="1200" b="0" i="0">
                <a:solidFill>
                  <a:srgbClr val="1F2A33"/>
                </a:solidFill>
                <a:latin typeface="Nunito"/>
              </a:rPr>
              <a:t>JSON_VALUE — extract scalar from $.path expression</a:t>
            </a:r>
          </a:p>
          <a:p>
            <a:pPr marL="182880" indent="-182880">
              <a:lnSpc>
                <a:spcPct val="105000"/>
              </a:lnSpc>
              <a:spcAft>
                <a:spcPts val="800"/>
              </a:spcAft>
              <a:buFont typeface="Nunito"/>
              <a:buChar char="•"/>
            </a:pPr>
            <a:r>
              <a:rPr sz="1200" b="0" i="0">
                <a:solidFill>
                  <a:srgbClr val="1F2A33"/>
                </a:solidFill>
                <a:latin typeface="Nunito"/>
              </a:rPr>
              <a:t>JSON_QUERY — extract object or array sub-document</a:t>
            </a:r>
          </a:p>
          <a:p>
            <a:pPr marL="182880" indent="-182880">
              <a:lnSpc>
                <a:spcPct val="105000"/>
              </a:lnSpc>
              <a:spcAft>
                <a:spcPts val="800"/>
              </a:spcAft>
              <a:buFont typeface="Nunito"/>
              <a:buChar char="•"/>
            </a:pPr>
            <a:r>
              <a:rPr sz="1200" b="0" i="0">
                <a:solidFill>
                  <a:srgbClr val="1F2A33"/>
                </a:solidFill>
                <a:latin typeface="Nunito"/>
              </a:rPr>
              <a:t>JSON_MODIFY — update values in-place without full rewrite</a:t>
            </a:r>
          </a:p>
          <a:p>
            <a:pPr marL="182880" indent="-182880">
              <a:lnSpc>
                <a:spcPct val="105000"/>
              </a:lnSpc>
              <a:spcAft>
                <a:spcPts val="800"/>
              </a:spcAft>
              <a:buFont typeface="Nunito"/>
              <a:buChar char="•"/>
            </a:pPr>
            <a:r>
              <a:rPr sz="1200" b="0" i="0">
                <a:solidFill>
                  <a:srgbClr val="1F2A33"/>
                </a:solidFill>
                <a:latin typeface="Nunito"/>
              </a:rPr>
              <a:t>JSON_OBJECT / JSON_ARRAY — construct JSON (SQL 2022+)</a:t>
            </a:r>
          </a:p>
          <a:p>
            <a:pPr marL="182880" indent="-182880">
              <a:lnSpc>
                <a:spcPct val="105000"/>
              </a:lnSpc>
              <a:spcAft>
                <a:spcPts val="800"/>
              </a:spcAft>
              <a:buFont typeface="Nunito"/>
              <a:buChar char="•"/>
            </a:pPr>
            <a:r>
              <a:rPr sz="1200" b="0" i="0">
                <a:solidFill>
                  <a:srgbClr val="1F2A33"/>
                </a:solidFill>
                <a:latin typeface="Nunito"/>
              </a:rPr>
              <a:t>ISJSON — validate JSON before storage or processing</a:t>
            </a:r>
          </a:p>
          <a:p>
            <a:pPr marL="182880" indent="-182880">
              <a:lnSpc>
                <a:spcPct val="105000"/>
              </a:lnSpc>
              <a:spcAft>
                <a:spcPts val="800"/>
              </a:spcAft>
              <a:buFont typeface="Nunito"/>
              <a:buChar char="•"/>
            </a:pPr>
            <a:r>
              <a:rPr sz="1200" b="0" i="0">
                <a:solidFill>
                  <a:srgbClr val="1F2A33"/>
                </a:solidFill>
                <a:latin typeface="Nunito"/>
              </a:rPr>
              <a:t>JSON_CONTAINS — check if value exists (SQL 2025)</a:t>
            </a:r>
          </a:p>
        </p:txBody>
      </p:sp>
      <p:sp>
        <p:nvSpPr>
          <p:cNvPr id="7" name="Rounded Rectangle 6"/>
          <p:cNvSpPr/>
          <p:nvPr/>
        </p:nvSpPr>
        <p:spPr>
          <a:xfrm>
            <a:off x="6278727" y="1188720"/>
            <a:ext cx="5364327" cy="5394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25031" y="1188720"/>
            <a:ext cx="5071719"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8183" y="1371600"/>
            <a:ext cx="4925415" cy="50292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XML Functions</a:t>
            </a:r>
          </a:p>
          <a:p>
            <a:pPr marL="182880" indent="-182880">
              <a:lnSpc>
                <a:spcPct val="105000"/>
              </a:lnSpc>
              <a:spcAft>
                <a:spcPts val="800"/>
              </a:spcAft>
              <a:buFont typeface="Nunito"/>
              <a:buChar char="•"/>
            </a:pPr>
            <a:r>
              <a:rPr sz="1200" b="0" i="0">
                <a:solidFill>
                  <a:srgbClr val="1F2A33"/>
                </a:solidFill>
                <a:latin typeface="Nunito"/>
              </a:rPr>
              <a:t>FOR XML PATH / RAW / AUTO — convert to XML output</a:t>
            </a:r>
          </a:p>
          <a:p>
            <a:pPr marL="182880" indent="-182880">
              <a:lnSpc>
                <a:spcPct val="105000"/>
              </a:lnSpc>
              <a:spcAft>
                <a:spcPts val="800"/>
              </a:spcAft>
              <a:buFont typeface="Nunito"/>
              <a:buChar char="•"/>
            </a:pPr>
            <a:r>
              <a:rPr sz="1200" b="0" i="0">
                <a:solidFill>
                  <a:srgbClr val="1F2A33"/>
                </a:solidFill>
                <a:latin typeface="Nunito"/>
              </a:rPr>
              <a:t>.query() — XQuery expressions on XML columns</a:t>
            </a:r>
          </a:p>
          <a:p>
            <a:pPr marL="182880" indent="-182880">
              <a:lnSpc>
                <a:spcPct val="105000"/>
              </a:lnSpc>
              <a:spcAft>
                <a:spcPts val="800"/>
              </a:spcAft>
              <a:buFont typeface="Nunito"/>
              <a:buChar char="•"/>
            </a:pPr>
            <a:r>
              <a:rPr sz="1200" b="0" i="0">
                <a:solidFill>
                  <a:srgbClr val="1F2A33"/>
                </a:solidFill>
                <a:latin typeface="Nunito"/>
              </a:rPr>
              <a:t>.value() — extract scalar from XPath expression</a:t>
            </a:r>
          </a:p>
          <a:p>
            <a:pPr marL="182880" indent="-182880">
              <a:lnSpc>
                <a:spcPct val="105000"/>
              </a:lnSpc>
              <a:spcAft>
                <a:spcPts val="800"/>
              </a:spcAft>
              <a:buFont typeface="Nunito"/>
              <a:buChar char="•"/>
            </a:pPr>
            <a:r>
              <a:rPr sz="1200" b="0" i="0">
                <a:solidFill>
                  <a:srgbClr val="1F2A33"/>
                </a:solidFill>
                <a:latin typeface="Nunito"/>
              </a:rPr>
              <a:t>.modify() — insert, delete, or replace XML nodes</a:t>
            </a:r>
          </a:p>
          <a:p>
            <a:pPr marL="182880" indent="-182880">
              <a:lnSpc>
                <a:spcPct val="105000"/>
              </a:lnSpc>
              <a:spcAft>
                <a:spcPts val="800"/>
              </a:spcAft>
              <a:buFont typeface="Nunito"/>
              <a:buChar char="•"/>
            </a:pPr>
            <a:r>
              <a:rPr sz="1200" b="0" i="0">
                <a:solidFill>
                  <a:srgbClr val="1F2A33"/>
                </a:solidFill>
                <a:latin typeface="Nunito"/>
              </a:rPr>
              <a:t>.nodes() — shred XML into relational rows</a:t>
            </a:r>
          </a:p>
          <a:p>
            <a:pPr marL="182880" indent="-182880">
              <a:lnSpc>
                <a:spcPct val="105000"/>
              </a:lnSpc>
              <a:spcAft>
                <a:spcPts val="800"/>
              </a:spcAft>
              <a:buFont typeface="Nunito"/>
              <a:buChar char="•"/>
            </a:pPr>
            <a:r>
              <a:rPr sz="1200" b="0" i="0">
                <a:solidFill>
                  <a:srgbClr val="1F2A33"/>
                </a:solidFill>
                <a:latin typeface="Nunito"/>
              </a:rPr>
              <a:t>OPENXML + sp_xml_preparedocument for legacy parsing</a:t>
            </a:r>
          </a:p>
          <a:p>
            <a:pPr marL="182880" indent="-182880">
              <a:lnSpc>
                <a:spcPct val="105000"/>
              </a:lnSpc>
              <a:spcAft>
                <a:spcPts val="800"/>
              </a:spcAft>
              <a:buFont typeface="Nunito"/>
              <a:buChar char="•"/>
            </a:pPr>
            <a:r>
              <a:rPr sz="1200" b="0" i="0">
                <a:solidFill>
                  <a:srgbClr val="1F2A33"/>
                </a:solidFill>
                <a:latin typeface="Nunito"/>
              </a:rPr>
              <a:t>XML indexes: primary + secondary (PATH, VALUE, PROPERTY)</a:t>
            </a:r>
          </a:p>
          <a:p>
            <a:pPr marL="182880" indent="-182880">
              <a:lnSpc>
                <a:spcPct val="105000"/>
              </a:lnSpc>
              <a:spcAft>
                <a:spcPts val="800"/>
              </a:spcAft>
              <a:buFont typeface="Nunito"/>
              <a:buChar char="•"/>
            </a:pPr>
            <a:r>
              <a:rPr sz="1200" b="0" i="0">
                <a:solidFill>
                  <a:srgbClr val="1F2A33"/>
                </a:solidFill>
                <a:latin typeface="Nunito"/>
              </a:rPr>
              <a:t>XML Schema Collections for strong typing and validation</a:t>
            </a:r>
          </a:p>
        </p:txBody>
      </p:sp>
      <p:sp>
        <p:nvSpPr>
          <p:cNvPr id="10" name="TextBox 9"/>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3</a:t>
            </a:r>
          </a:p>
        </p:txBody>
      </p:sp>
      <p:sp>
        <p:nvSpPr>
          <p:cNvPr id="11" name="TextBox 10"/>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200" b="1" i="0">
                <a:solidFill>
                  <a:srgbClr val="1F2A33"/>
                </a:solidFill>
                <a:latin typeface="Bricolage Grotesque"/>
              </a:rPr>
              <a:t>SQL Server 2025: Regex &amp; Fuzzy Matching</a:t>
            </a:r>
          </a:p>
        </p:txBody>
      </p:sp>
      <p:sp>
        <p:nvSpPr>
          <p:cNvPr id="3" name="Rounded Rectangle 2"/>
          <p:cNvSpPr/>
          <p:nvPr/>
        </p:nvSpPr>
        <p:spPr>
          <a:xfrm>
            <a:off x="548640" y="932688"/>
            <a:ext cx="658368" cy="73152"/>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88720"/>
            <a:ext cx="5364327" cy="5394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188720"/>
            <a:ext cx="5071719"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371600"/>
            <a:ext cx="4925415" cy="50292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Regular Expressions</a:t>
            </a:r>
          </a:p>
          <a:p>
            <a:pPr marL="182880" indent="-182880">
              <a:lnSpc>
                <a:spcPct val="105000"/>
              </a:lnSpc>
              <a:spcAft>
                <a:spcPts val="800"/>
              </a:spcAft>
              <a:buFont typeface="Nunito"/>
              <a:buChar char="•"/>
            </a:pPr>
            <a:r>
              <a:rPr sz="1200" b="0" i="0">
                <a:solidFill>
                  <a:srgbClr val="1F2A33"/>
                </a:solidFill>
                <a:latin typeface="Nunito"/>
              </a:rPr>
              <a:t>REGEXP_LIKE — filter rows matching a pattern (replaces complex LIKE chains)</a:t>
            </a:r>
          </a:p>
          <a:p>
            <a:pPr marL="182880" indent="-182880">
              <a:lnSpc>
                <a:spcPct val="105000"/>
              </a:lnSpc>
              <a:spcAft>
                <a:spcPts val="800"/>
              </a:spcAft>
              <a:buFont typeface="Nunito"/>
              <a:buChar char="•"/>
            </a:pPr>
            <a:r>
              <a:rPr sz="1200" b="0" i="0">
                <a:solidFill>
                  <a:srgbClr val="1F2A33"/>
                </a:solidFill>
                <a:latin typeface="Nunito"/>
              </a:rPr>
              <a:t>REGEXP_REPLACE — pattern-based string replacement with capture groups</a:t>
            </a:r>
          </a:p>
          <a:p>
            <a:pPr marL="182880" indent="-182880">
              <a:lnSpc>
                <a:spcPct val="105000"/>
              </a:lnSpc>
              <a:spcAft>
                <a:spcPts val="800"/>
              </a:spcAft>
              <a:buFont typeface="Nunito"/>
              <a:buChar char="•"/>
            </a:pPr>
            <a:r>
              <a:rPr sz="1200" b="0" i="0">
                <a:solidFill>
                  <a:srgbClr val="1F2A33"/>
                </a:solidFill>
                <a:latin typeface="Nunito"/>
              </a:rPr>
              <a:t>REGEXP_SUBSTR — extract substrings matching a pattern</a:t>
            </a:r>
          </a:p>
          <a:p>
            <a:pPr marL="182880" indent="-182880">
              <a:lnSpc>
                <a:spcPct val="105000"/>
              </a:lnSpc>
              <a:spcAft>
                <a:spcPts val="800"/>
              </a:spcAft>
              <a:buFont typeface="Nunito"/>
              <a:buChar char="•"/>
            </a:pPr>
            <a:r>
              <a:rPr sz="1200" b="0" i="0">
                <a:solidFill>
                  <a:srgbClr val="1F2A33"/>
                </a:solidFill>
                <a:latin typeface="Nunito"/>
              </a:rPr>
              <a:t>REGEXP_COUNT — count occurrences of a pattern in text</a:t>
            </a:r>
          </a:p>
          <a:p>
            <a:pPr marL="182880" indent="-182880">
              <a:lnSpc>
                <a:spcPct val="105000"/>
              </a:lnSpc>
              <a:spcAft>
                <a:spcPts val="800"/>
              </a:spcAft>
              <a:buFont typeface="Nunito"/>
              <a:buChar char="•"/>
            </a:pPr>
            <a:r>
              <a:rPr sz="1200" b="0" i="0">
                <a:solidFill>
                  <a:srgbClr val="1F2A33"/>
                </a:solidFill>
                <a:latin typeface="Nunito"/>
              </a:rPr>
              <a:t>SARGable: can use indexes for efficient execution</a:t>
            </a:r>
          </a:p>
          <a:p>
            <a:pPr marL="182880" indent="-182880">
              <a:lnSpc>
                <a:spcPct val="105000"/>
              </a:lnSpc>
              <a:spcAft>
                <a:spcPts val="800"/>
              </a:spcAft>
              <a:buFont typeface="Nunito"/>
              <a:buChar char="•"/>
            </a:pPr>
            <a:r>
              <a:rPr sz="1200" b="0" i="0">
                <a:solidFill>
                  <a:srgbClr val="1F2A33"/>
                </a:solidFill>
                <a:latin typeface="Nunito"/>
              </a:rPr>
              <a:t>ICU regex engine — full Unicode support, POSIX classes</a:t>
            </a:r>
          </a:p>
          <a:p>
            <a:pPr marL="182880" indent="-182880">
              <a:lnSpc>
                <a:spcPct val="105000"/>
              </a:lnSpc>
              <a:spcAft>
                <a:spcPts val="800"/>
              </a:spcAft>
              <a:buFont typeface="Nunito"/>
              <a:buChar char="•"/>
            </a:pPr>
            <a:r>
              <a:rPr sz="1200" b="0" i="0">
                <a:solidFill>
                  <a:srgbClr val="1F2A33"/>
                </a:solidFill>
                <a:latin typeface="Nunito"/>
              </a:rPr>
              <a:t>Use cases: email validation, phone parsing, data cleansing, log analysis</a:t>
            </a:r>
          </a:p>
        </p:txBody>
      </p:sp>
      <p:sp>
        <p:nvSpPr>
          <p:cNvPr id="7" name="Rounded Rectangle 6"/>
          <p:cNvSpPr/>
          <p:nvPr/>
        </p:nvSpPr>
        <p:spPr>
          <a:xfrm>
            <a:off x="6278727" y="1188720"/>
            <a:ext cx="5364327" cy="5394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25031" y="1188720"/>
            <a:ext cx="5071719"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8183" y="1371600"/>
            <a:ext cx="4925415" cy="50292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Fuzzy String Matching</a:t>
            </a:r>
          </a:p>
          <a:p>
            <a:pPr marL="182880" indent="-182880">
              <a:lnSpc>
                <a:spcPct val="105000"/>
              </a:lnSpc>
              <a:spcAft>
                <a:spcPts val="800"/>
              </a:spcAft>
              <a:buFont typeface="Nunito"/>
              <a:buChar char="•"/>
            </a:pPr>
            <a:r>
              <a:rPr sz="1200" b="0" i="0">
                <a:solidFill>
                  <a:srgbClr val="1F2A33"/>
                </a:solidFill>
                <a:latin typeface="Nunito"/>
              </a:rPr>
              <a:t>EDIT_DISTANCE — Levenshtein distance between two strings</a:t>
            </a:r>
          </a:p>
          <a:p>
            <a:pPr marL="182880" indent="-182880">
              <a:lnSpc>
                <a:spcPct val="105000"/>
              </a:lnSpc>
              <a:spcAft>
                <a:spcPts val="800"/>
              </a:spcAft>
              <a:buFont typeface="Nunito"/>
              <a:buChar char="•"/>
            </a:pPr>
            <a:r>
              <a:rPr sz="1200" b="0" i="0">
                <a:solidFill>
                  <a:srgbClr val="1F2A33"/>
                </a:solidFill>
                <a:latin typeface="Nunito"/>
              </a:rPr>
              <a:t>EDIT_DISTANCE_SIMILARITY — percentage similarity (0–100)</a:t>
            </a:r>
          </a:p>
          <a:p>
            <a:pPr marL="182880" indent="-182880">
              <a:lnSpc>
                <a:spcPct val="105000"/>
              </a:lnSpc>
              <a:spcAft>
                <a:spcPts val="800"/>
              </a:spcAft>
              <a:buFont typeface="Nunito"/>
              <a:buChar char="•"/>
            </a:pPr>
            <a:r>
              <a:rPr sz="1200" b="0" i="0">
                <a:solidFill>
                  <a:srgbClr val="1F2A33"/>
                </a:solidFill>
                <a:latin typeface="Nunito"/>
              </a:rPr>
              <a:t>SOUNDEX — phonetic encoding for English names</a:t>
            </a:r>
          </a:p>
          <a:p>
            <a:pPr marL="182880" indent="-182880">
              <a:lnSpc>
                <a:spcPct val="105000"/>
              </a:lnSpc>
              <a:spcAft>
                <a:spcPts val="800"/>
              </a:spcAft>
              <a:buFont typeface="Nunito"/>
              <a:buChar char="•"/>
            </a:pPr>
            <a:r>
              <a:rPr sz="1200" b="0" i="0">
                <a:solidFill>
                  <a:srgbClr val="1F2A33"/>
                </a:solidFill>
                <a:latin typeface="Nunito"/>
              </a:rPr>
              <a:t>DIFFERENCE — compare SOUNDEX codes (0–4 scale, 4 = exact)</a:t>
            </a:r>
          </a:p>
          <a:p>
            <a:pPr marL="182880" indent="-182880">
              <a:lnSpc>
                <a:spcPct val="105000"/>
              </a:lnSpc>
              <a:spcAft>
                <a:spcPts val="800"/>
              </a:spcAft>
              <a:buFont typeface="Nunito"/>
              <a:buChar char="•"/>
            </a:pPr>
            <a:r>
              <a:rPr sz="1200" b="0" i="0">
                <a:solidFill>
                  <a:srgbClr val="1F2A33"/>
                </a:solidFill>
                <a:latin typeface="Nunito"/>
              </a:rPr>
              <a:t>Combine with thresholds: WHERE EDIT_DISTANCE_SIMILARITY &gt; 80</a:t>
            </a:r>
          </a:p>
          <a:p>
            <a:pPr marL="182880" indent="-182880">
              <a:lnSpc>
                <a:spcPct val="105000"/>
              </a:lnSpc>
              <a:spcAft>
                <a:spcPts val="800"/>
              </a:spcAft>
              <a:buFont typeface="Nunito"/>
              <a:buChar char="•"/>
            </a:pPr>
            <a:r>
              <a:rPr sz="1200" b="0" i="0">
                <a:solidFill>
                  <a:srgbClr val="1F2A33"/>
                </a:solidFill>
                <a:latin typeface="Nunito"/>
              </a:rPr>
              <a:t>Use cases: deduplication, address matching, customer name resolution</a:t>
            </a:r>
          </a:p>
          <a:p>
            <a:pPr marL="182880" indent="-182880">
              <a:lnSpc>
                <a:spcPct val="105000"/>
              </a:lnSpc>
              <a:spcAft>
                <a:spcPts val="800"/>
              </a:spcAft>
              <a:buFont typeface="Nunito"/>
              <a:buChar char="•"/>
            </a:pPr>
            <a:r>
              <a:rPr sz="1200" b="0" i="0">
                <a:solidFill>
                  <a:srgbClr val="1F2A33"/>
                </a:solidFill>
                <a:latin typeface="Nunito"/>
              </a:rPr>
              <a:t>Pair with regex: clean first (regex) → match (fuzzy) → deduplicate</a:t>
            </a:r>
          </a:p>
        </p:txBody>
      </p:sp>
      <p:sp>
        <p:nvSpPr>
          <p:cNvPr id="10" name="TextBox 9"/>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3</a:t>
            </a:r>
          </a:p>
        </p:txBody>
      </p:sp>
      <p:sp>
        <p:nvSpPr>
          <p:cNvPr id="11" name="TextBox 10"/>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Graph Queries &amp; Error Handling</a:t>
            </a:r>
          </a:p>
        </p:txBody>
      </p:sp>
      <p:sp>
        <p:nvSpPr>
          <p:cNvPr id="3" name="Rounded Rectangle 2"/>
          <p:cNvSpPr/>
          <p:nvPr/>
        </p:nvSpPr>
        <p:spPr>
          <a:xfrm>
            <a:off x="548640" y="932688"/>
            <a:ext cx="658368" cy="73152"/>
          </a:xfrm>
          <a:prstGeom prst="roundRect">
            <a:avLst>
              <a:gd name="adj" fmla="val 50000"/>
            </a:avLst>
          </a:prstGeom>
          <a:solidFill>
            <a:srgbClr val="E13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88720"/>
            <a:ext cx="5364327" cy="5394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188720"/>
            <a:ext cx="5071719" cy="68580"/>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371600"/>
            <a:ext cx="4925415" cy="50292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Graph Queries (MATCH)</a:t>
            </a:r>
          </a:p>
          <a:p>
            <a:pPr marL="182880" indent="-182880">
              <a:lnSpc>
                <a:spcPct val="105000"/>
              </a:lnSpc>
              <a:spcAft>
                <a:spcPts val="800"/>
              </a:spcAft>
              <a:buFont typeface="Nunito"/>
              <a:buChar char="•"/>
            </a:pPr>
            <a:r>
              <a:rPr sz="1200" b="0" i="0">
                <a:solidFill>
                  <a:srgbClr val="1F2A33"/>
                </a:solidFill>
                <a:latin typeface="Nunito"/>
              </a:rPr>
              <a:t>NODE tables store entities; EDGE tables store relationships</a:t>
            </a:r>
          </a:p>
          <a:p>
            <a:pPr marL="182880" indent="-182880">
              <a:lnSpc>
                <a:spcPct val="105000"/>
              </a:lnSpc>
              <a:spcAft>
                <a:spcPts val="800"/>
              </a:spcAft>
              <a:buFont typeface="Nunito"/>
              <a:buChar char="•"/>
            </a:pPr>
            <a:r>
              <a:rPr sz="1200" b="0" i="0">
                <a:solidFill>
                  <a:srgbClr val="1F2A33"/>
                </a:solidFill>
                <a:latin typeface="Nunito"/>
              </a:rPr>
              <a:t>MATCH clause: WHERE MATCH(Person-(Follows)-&gt;Person)</a:t>
            </a:r>
          </a:p>
          <a:p>
            <a:pPr marL="182880" indent="-182880">
              <a:lnSpc>
                <a:spcPct val="105000"/>
              </a:lnSpc>
              <a:spcAft>
                <a:spcPts val="800"/>
              </a:spcAft>
              <a:buFont typeface="Nunito"/>
              <a:buChar char="•"/>
            </a:pPr>
            <a:r>
              <a:rPr sz="1200" b="0" i="0">
                <a:solidFill>
                  <a:srgbClr val="1F2A33"/>
                </a:solidFill>
                <a:latin typeface="Nunito"/>
              </a:rPr>
              <a:t>SHORTEST_PATH for finding shortest route between nodes</a:t>
            </a:r>
          </a:p>
          <a:p>
            <a:pPr marL="182880" indent="-182880">
              <a:lnSpc>
                <a:spcPct val="105000"/>
              </a:lnSpc>
              <a:spcAft>
                <a:spcPts val="800"/>
              </a:spcAft>
              <a:buFont typeface="Nunito"/>
              <a:buChar char="•"/>
            </a:pPr>
            <a:r>
              <a:rPr sz="1200" b="0" i="0">
                <a:solidFill>
                  <a:srgbClr val="1F2A33"/>
                </a:solidFill>
                <a:latin typeface="Nunito"/>
              </a:rPr>
              <a:t>Variable-length traversal with + quantifier</a:t>
            </a:r>
          </a:p>
          <a:p>
            <a:pPr marL="182880" indent="-182880">
              <a:lnSpc>
                <a:spcPct val="105000"/>
              </a:lnSpc>
              <a:spcAft>
                <a:spcPts val="800"/>
              </a:spcAft>
              <a:buFont typeface="Nunito"/>
              <a:buChar char="•"/>
            </a:pPr>
            <a:r>
              <a:rPr sz="1200" b="0" i="0">
                <a:solidFill>
                  <a:srgbClr val="1F2A33"/>
                </a:solidFill>
                <a:latin typeface="Nunito"/>
              </a:rPr>
              <a:t>CONNECTION constraint restricts which nodes an edge can connect</a:t>
            </a:r>
          </a:p>
          <a:p>
            <a:pPr marL="182880" indent="-182880">
              <a:lnSpc>
                <a:spcPct val="105000"/>
              </a:lnSpc>
              <a:spcAft>
                <a:spcPts val="800"/>
              </a:spcAft>
              <a:buFont typeface="Nunito"/>
              <a:buChar char="•"/>
            </a:pPr>
            <a:r>
              <a:rPr sz="1200" b="0" i="0">
                <a:solidFill>
                  <a:srgbClr val="1F2A33"/>
                </a:solidFill>
                <a:latin typeface="Nunito"/>
              </a:rPr>
              <a:t>Combine graph + relational queries in single T-SQL statements</a:t>
            </a:r>
          </a:p>
          <a:p>
            <a:pPr marL="182880" indent="-182880">
              <a:lnSpc>
                <a:spcPct val="105000"/>
              </a:lnSpc>
              <a:spcAft>
                <a:spcPts val="800"/>
              </a:spcAft>
              <a:buFont typeface="Nunito"/>
              <a:buChar char="•"/>
            </a:pPr>
            <a:r>
              <a:rPr sz="1200" b="0" i="0">
                <a:solidFill>
                  <a:srgbClr val="1F2A33"/>
                </a:solidFill>
                <a:latin typeface="Nunito"/>
              </a:rPr>
              <a:t>Use cases: social networks, fraud rings, org hierarchies, recommendations</a:t>
            </a:r>
          </a:p>
        </p:txBody>
      </p:sp>
      <p:sp>
        <p:nvSpPr>
          <p:cNvPr id="7" name="Rounded Rectangle 6"/>
          <p:cNvSpPr/>
          <p:nvPr/>
        </p:nvSpPr>
        <p:spPr>
          <a:xfrm>
            <a:off x="6278727" y="1188720"/>
            <a:ext cx="5364327" cy="5394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25031" y="1188720"/>
            <a:ext cx="5071719"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8183" y="1371600"/>
            <a:ext cx="4925415" cy="5029200"/>
          </a:xfrm>
          <a:prstGeom prst="rect">
            <a:avLst/>
          </a:prstGeom>
          <a:noFill/>
        </p:spPr>
        <p:txBody>
          <a:bodyPr wrap="square" lIns="0" rIns="0" tIns="0" bIns="0">
            <a:spAutoFit/>
          </a:bodyPr>
          <a:lstStyle/>
          <a:p>
            <a:pPr>
              <a:lnSpc>
                <a:spcPct val="105000"/>
              </a:lnSpc>
              <a:spcAft>
                <a:spcPts val="900"/>
              </a:spcAft>
            </a:pPr>
            <a:r>
              <a:rPr sz="1800" b="1" i="0">
                <a:solidFill>
                  <a:srgbClr val="1F2A33"/>
                </a:solidFill>
                <a:latin typeface="Bricolage Grotesque"/>
              </a:rPr>
              <a:t>TRY...CATCH Error Handling</a:t>
            </a:r>
          </a:p>
          <a:p>
            <a:pPr marL="182880" indent="-182880">
              <a:lnSpc>
                <a:spcPct val="105000"/>
              </a:lnSpc>
              <a:spcAft>
                <a:spcPts val="800"/>
              </a:spcAft>
              <a:buFont typeface="Nunito"/>
              <a:buChar char="•"/>
            </a:pPr>
            <a:r>
              <a:rPr sz="1200" b="0" i="0">
                <a:solidFill>
                  <a:srgbClr val="1F2A33"/>
                </a:solidFill>
                <a:latin typeface="Nunito"/>
              </a:rPr>
              <a:t>TRY block wraps statements; CATCH block handles errors</a:t>
            </a:r>
          </a:p>
          <a:p>
            <a:pPr marL="182880" indent="-182880">
              <a:lnSpc>
                <a:spcPct val="105000"/>
              </a:lnSpc>
              <a:spcAft>
                <a:spcPts val="800"/>
              </a:spcAft>
              <a:buFont typeface="Nunito"/>
              <a:buChar char="•"/>
            </a:pPr>
            <a:r>
              <a:rPr sz="1200" b="0" i="0">
                <a:solidFill>
                  <a:srgbClr val="1F2A33"/>
                </a:solidFill>
                <a:latin typeface="Nunito"/>
              </a:rPr>
              <a:t>ERROR_NUMBER(), ERROR_MESSAGE(), ERROR_SEVERITY(), ERROR_LINE()</a:t>
            </a:r>
          </a:p>
          <a:p>
            <a:pPr marL="182880" indent="-182880">
              <a:lnSpc>
                <a:spcPct val="105000"/>
              </a:lnSpc>
              <a:spcAft>
                <a:spcPts val="800"/>
              </a:spcAft>
              <a:buFont typeface="Nunito"/>
              <a:buChar char="•"/>
            </a:pPr>
            <a:r>
              <a:rPr sz="1200" b="0" i="0">
                <a:solidFill>
                  <a:srgbClr val="1F2A33"/>
                </a:solidFill>
                <a:latin typeface="Nunito"/>
              </a:rPr>
              <a:t>THROW — re-raise or raise custom errors (replaces RAISERROR)</a:t>
            </a:r>
          </a:p>
          <a:p>
            <a:pPr marL="182880" indent="-182880">
              <a:lnSpc>
                <a:spcPct val="105000"/>
              </a:lnSpc>
              <a:spcAft>
                <a:spcPts val="800"/>
              </a:spcAft>
              <a:buFont typeface="Nunito"/>
              <a:buChar char="•"/>
            </a:pPr>
            <a:r>
              <a:rPr sz="1200" b="0" i="0">
                <a:solidFill>
                  <a:srgbClr val="1F2A33"/>
                </a:solidFill>
                <a:latin typeface="Nunito"/>
              </a:rPr>
              <a:t>XACT_ABORT ON: auto-rollback on any error — simplifies cleanup</a:t>
            </a:r>
          </a:p>
          <a:p>
            <a:pPr marL="182880" indent="-182880">
              <a:lnSpc>
                <a:spcPct val="105000"/>
              </a:lnSpc>
              <a:spcAft>
                <a:spcPts val="800"/>
              </a:spcAft>
              <a:buFont typeface="Nunito"/>
              <a:buChar char="•"/>
            </a:pPr>
            <a:r>
              <a:rPr sz="1200" b="0" i="0">
                <a:solidFill>
                  <a:srgbClr val="1F2A33"/>
                </a:solidFill>
                <a:latin typeface="Nunito"/>
              </a:rPr>
              <a:t>Nest TRY...CATCH with transactions for atomic multi-step operations</a:t>
            </a:r>
          </a:p>
          <a:p>
            <a:pPr marL="182880" indent="-182880">
              <a:lnSpc>
                <a:spcPct val="105000"/>
              </a:lnSpc>
              <a:spcAft>
                <a:spcPts val="800"/>
              </a:spcAft>
              <a:buFont typeface="Nunito"/>
              <a:buChar char="•"/>
            </a:pPr>
            <a:r>
              <a:rPr sz="1200" b="0" i="0">
                <a:solidFill>
                  <a:srgbClr val="1F2A33"/>
                </a:solidFill>
                <a:latin typeface="Nunito"/>
              </a:rPr>
              <a:t>@@TRANCOUNT checks active transaction depth before COMMIT/ROLLBACK</a:t>
            </a:r>
          </a:p>
          <a:p>
            <a:pPr marL="182880" indent="-182880">
              <a:lnSpc>
                <a:spcPct val="105000"/>
              </a:lnSpc>
              <a:spcAft>
                <a:spcPts val="800"/>
              </a:spcAft>
              <a:buFont typeface="Nunito"/>
              <a:buChar char="•"/>
            </a:pPr>
            <a:r>
              <a:rPr sz="1200" b="0" i="0">
                <a:solidFill>
                  <a:srgbClr val="1F2A33"/>
                </a:solidFill>
                <a:latin typeface="Nunito"/>
              </a:rPr>
              <a:t>Log errors to a table in CATCH before re-throwing</a:t>
            </a:r>
          </a:p>
        </p:txBody>
      </p:sp>
      <p:sp>
        <p:nvSpPr>
          <p:cNvPr id="10" name="TextBox 9"/>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3</a:t>
            </a:r>
          </a:p>
        </p:txBody>
      </p:sp>
      <p:sp>
        <p:nvSpPr>
          <p:cNvPr id="11" name="TextBox 10"/>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1D24"/>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2D2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262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tretch>
            <a:fillRect/>
          </a:stretch>
        </p:blipFill>
        <p:spPr>
          <a:xfrm>
            <a:off x="777240" y="1965960"/>
            <a:ext cx="1691640" cy="1691640"/>
          </a:xfrm>
          <a:prstGeom prst="rect">
            <a:avLst/>
          </a:prstGeom>
        </p:spPr>
      </p:pic>
      <p:sp>
        <p:nvSpPr>
          <p:cNvPr id="5" name="TextBox 4"/>
          <p:cNvSpPr txBox="1"/>
          <p:nvPr/>
        </p:nvSpPr>
        <p:spPr>
          <a:xfrm>
            <a:off x="2880360" y="1481328"/>
            <a:ext cx="8503920" cy="457200"/>
          </a:xfrm>
          <a:prstGeom prst="rect">
            <a:avLst/>
          </a:prstGeom>
          <a:noFill/>
        </p:spPr>
        <p:txBody>
          <a:bodyPr wrap="square" lIns="0" rIns="0" tIns="0" bIns="0">
            <a:spAutoFit/>
          </a:bodyPr>
          <a:lstStyle/>
          <a:p>
            <a:pPr>
              <a:lnSpc>
                <a:spcPct val="105000"/>
              </a:lnSpc>
              <a:spcAft>
                <a:spcPts val="0"/>
              </a:spcAft>
            </a:pPr>
            <a:r>
              <a:rPr sz="1800" b="1" i="0">
                <a:solidFill>
                  <a:srgbClr val="FC8903"/>
                </a:solidFill>
                <a:latin typeface="Bricolage Grotesque"/>
              </a:rPr>
              <a:t>Module 4</a:t>
            </a:r>
          </a:p>
        </p:txBody>
      </p:sp>
      <p:sp>
        <p:nvSpPr>
          <p:cNvPr id="6" name="TextBox 5"/>
          <p:cNvSpPr txBox="1"/>
          <p:nvPr/>
        </p:nvSpPr>
        <p:spPr>
          <a:xfrm>
            <a:off x="2880360" y="1956816"/>
            <a:ext cx="8778240" cy="1920240"/>
          </a:xfrm>
          <a:prstGeom prst="rect">
            <a:avLst/>
          </a:prstGeom>
          <a:noFill/>
        </p:spPr>
        <p:txBody>
          <a:bodyPr wrap="square" lIns="0" rIns="0" tIns="0" bIns="0">
            <a:spAutoFit/>
          </a:bodyPr>
          <a:lstStyle/>
          <a:p>
            <a:pPr>
              <a:lnSpc>
                <a:spcPct val="104000"/>
              </a:lnSpc>
              <a:spcAft>
                <a:spcPts val="0"/>
              </a:spcAft>
            </a:pPr>
            <a:r>
              <a:rPr sz="4400" b="1" i="0">
                <a:solidFill>
                  <a:srgbClr val="F6F2EA"/>
                </a:solidFill>
                <a:latin typeface="Bricolage Grotesque"/>
              </a:rPr>
              <a:t>AI-Assisted Database</a:t>
            </a:r>
          </a:p>
          <a:p>
            <a:pPr>
              <a:lnSpc>
                <a:spcPct val="104000"/>
              </a:lnSpc>
              <a:spcAft>
                <a:spcPts val="0"/>
              </a:spcAft>
            </a:pPr>
            <a:r>
              <a:rPr sz="4400" b="1" i="0">
                <a:solidFill>
                  <a:srgbClr val="F6F2EA"/>
                </a:solidFill>
                <a:latin typeface="Bricolage Grotesque"/>
              </a:rPr>
              <a:t>Development</a:t>
            </a:r>
          </a:p>
        </p:txBody>
      </p:sp>
      <p:sp>
        <p:nvSpPr>
          <p:cNvPr id="7" name="TextBox 6"/>
          <p:cNvSpPr txBox="1"/>
          <p:nvPr/>
        </p:nvSpPr>
        <p:spPr>
          <a:xfrm>
            <a:off x="2880360" y="3602736"/>
            <a:ext cx="8412480" cy="1188720"/>
          </a:xfrm>
          <a:prstGeom prst="rect">
            <a:avLst/>
          </a:prstGeom>
          <a:noFill/>
        </p:spPr>
        <p:txBody>
          <a:bodyPr wrap="square" lIns="0" rIns="0" tIns="0" bIns="0">
            <a:spAutoFit/>
          </a:bodyPr>
          <a:lstStyle/>
          <a:p>
            <a:pPr>
              <a:lnSpc>
                <a:spcPct val="105000"/>
              </a:lnSpc>
              <a:spcAft>
                <a:spcPts val="0"/>
              </a:spcAft>
            </a:pPr>
            <a:r>
              <a:rPr sz="1500" b="0" i="0">
                <a:solidFill>
                  <a:srgbClr val="C5BFB1"/>
                </a:solidFill>
                <a:latin typeface="Nunito"/>
              </a:rPr>
              <a:t>Accelerate SQL authoring with GitHub Copilot, Fabric Copilot, and Model Context Protocol (MCP) for agent-driven database operations.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GitHub Copilot for SQL</a:t>
            </a:r>
          </a:p>
        </p:txBody>
      </p:sp>
      <p:sp>
        <p:nvSpPr>
          <p:cNvPr id="3" name="Rounded Rectangle 2"/>
          <p:cNvSpPr/>
          <p:nvPr/>
        </p:nvSpPr>
        <p:spPr>
          <a:xfrm>
            <a:off x="548640" y="932688"/>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4415" cy="457200"/>
          </a:xfrm>
          <a:prstGeom prst="rect">
            <a:avLst/>
          </a:prstGeom>
          <a:noFill/>
        </p:spPr>
        <p:txBody>
          <a:bodyPr wrap="square" lIns="0" rIns="0" tIns="0" bIns="0">
            <a:spAutoFit/>
          </a:bodyPr>
          <a:lstStyle/>
          <a:p>
            <a:pPr>
              <a:lnSpc>
                <a:spcPct val="105000"/>
              </a:lnSpc>
              <a:spcAft>
                <a:spcPts val="0"/>
              </a:spcAft>
            </a:pPr>
            <a:r>
              <a:rPr sz="1500" b="0" i="0">
                <a:solidFill>
                  <a:srgbClr val="5A6B76"/>
                </a:solidFill>
                <a:latin typeface="Nunito"/>
              </a:rPr>
              <a:t>AI-powered assistant inside SSMS 22 and VS Code — schema-aware, version-specific T-SQL generation.</a:t>
            </a:r>
          </a:p>
        </p:txBody>
      </p:sp>
      <p:sp>
        <p:nvSpPr>
          <p:cNvPr id="5" name="Rounded Rectangle 4"/>
          <p:cNvSpPr/>
          <p:nvPr/>
        </p:nvSpPr>
        <p:spPr>
          <a:xfrm>
            <a:off x="548640" y="1609344"/>
            <a:ext cx="5387187" cy="1965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609344"/>
            <a:ext cx="5094579"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92224"/>
            <a:ext cx="4948275" cy="1600200"/>
          </a:xfrm>
          <a:prstGeom prst="rect">
            <a:avLst/>
          </a:prstGeom>
          <a:noFill/>
        </p:spPr>
        <p:txBody>
          <a:bodyPr wrap="square" lIns="0" rIns="0" tIns="0" bIns="0">
            <a:spAutoFit/>
          </a:bodyPr>
          <a:lstStyle/>
          <a:p>
            <a:pPr>
              <a:lnSpc>
                <a:spcPct val="105000"/>
              </a:lnSpc>
              <a:spcAft>
                <a:spcPts val="600"/>
              </a:spcAft>
            </a:pPr>
            <a:r>
              <a:rPr sz="1800" b="1" i="0">
                <a:solidFill>
                  <a:srgbClr val="1F2A33"/>
                </a:solidFill>
                <a:latin typeface="Bricolage Grotesque"/>
              </a:rPr>
              <a:t>Natural Language to SQL</a:t>
            </a:r>
          </a:p>
          <a:p>
            <a:pPr>
              <a:lnSpc>
                <a:spcPct val="105000"/>
              </a:lnSpc>
              <a:spcAft>
                <a:spcPts val="0"/>
              </a:spcAft>
            </a:pPr>
            <a:r>
              <a:rPr sz="1250" b="0" i="0">
                <a:solidFill>
                  <a:srgbClr val="1F2A33"/>
                </a:solidFill>
                <a:latin typeface="Nunito"/>
              </a:rPr>
              <a:t>Describe what you need in plain English. Copilot generates schema-aware T-SQL with correct table/column references and JOINs.</a:t>
            </a:r>
          </a:p>
        </p:txBody>
      </p:sp>
      <p:sp>
        <p:nvSpPr>
          <p:cNvPr id="8" name="Rounded Rectangle 7"/>
          <p:cNvSpPr/>
          <p:nvPr/>
        </p:nvSpPr>
        <p:spPr>
          <a:xfrm>
            <a:off x="6255867" y="1609344"/>
            <a:ext cx="5387187" cy="1965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2171" y="1609344"/>
            <a:ext cx="5094579"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5323" y="1792224"/>
            <a:ext cx="4948275" cy="1600200"/>
          </a:xfrm>
          <a:prstGeom prst="rect">
            <a:avLst/>
          </a:prstGeom>
          <a:noFill/>
        </p:spPr>
        <p:txBody>
          <a:bodyPr wrap="square" lIns="0" rIns="0" tIns="0" bIns="0">
            <a:spAutoFit/>
          </a:bodyPr>
          <a:lstStyle/>
          <a:p>
            <a:pPr>
              <a:lnSpc>
                <a:spcPct val="105000"/>
              </a:lnSpc>
              <a:spcAft>
                <a:spcPts val="600"/>
              </a:spcAft>
            </a:pPr>
            <a:r>
              <a:rPr sz="1800" b="1" i="0">
                <a:solidFill>
                  <a:srgbClr val="1F2A33"/>
                </a:solidFill>
                <a:latin typeface="Bricolage Grotesque"/>
              </a:rPr>
              <a:t>Code Completions</a:t>
            </a:r>
          </a:p>
          <a:p>
            <a:pPr>
              <a:lnSpc>
                <a:spcPct val="105000"/>
              </a:lnSpc>
              <a:spcAft>
                <a:spcPts val="0"/>
              </a:spcAft>
            </a:pPr>
            <a:r>
              <a:rPr sz="1250" b="0" i="0">
                <a:solidFill>
                  <a:srgbClr val="1F2A33"/>
                </a:solidFill>
                <a:latin typeface="Nunito"/>
              </a:rPr>
              <a:t>Real-time "ghost text" suggestions as you type. Tab to accept, keep typing to ignore. Reduces syntax errors and boilerplate.</a:t>
            </a:r>
          </a:p>
        </p:txBody>
      </p:sp>
      <p:sp>
        <p:nvSpPr>
          <p:cNvPr id="11" name="Rounded Rectangle 10"/>
          <p:cNvSpPr/>
          <p:nvPr/>
        </p:nvSpPr>
        <p:spPr>
          <a:xfrm>
            <a:off x="548640" y="3803904"/>
            <a:ext cx="5387187" cy="1965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4944" y="3803904"/>
            <a:ext cx="5094579"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986784"/>
            <a:ext cx="4948275" cy="1600200"/>
          </a:xfrm>
          <a:prstGeom prst="rect">
            <a:avLst/>
          </a:prstGeom>
          <a:noFill/>
        </p:spPr>
        <p:txBody>
          <a:bodyPr wrap="square" lIns="0" rIns="0" tIns="0" bIns="0">
            <a:spAutoFit/>
          </a:bodyPr>
          <a:lstStyle/>
          <a:p>
            <a:pPr>
              <a:lnSpc>
                <a:spcPct val="105000"/>
              </a:lnSpc>
              <a:spcAft>
                <a:spcPts val="600"/>
              </a:spcAft>
            </a:pPr>
            <a:r>
              <a:rPr sz="1800" b="1" i="0">
                <a:solidFill>
                  <a:srgbClr val="1F2A33"/>
                </a:solidFill>
                <a:latin typeface="Bricolage Grotesque"/>
              </a:rPr>
              <a:t>Explain &amp; Optimize</a:t>
            </a:r>
          </a:p>
          <a:p>
            <a:pPr>
              <a:lnSpc>
                <a:spcPct val="105000"/>
              </a:lnSpc>
              <a:spcAft>
                <a:spcPts val="0"/>
              </a:spcAft>
            </a:pPr>
            <a:r>
              <a:rPr sz="1250" b="0" i="0">
                <a:solidFill>
                  <a:srgbClr val="1F2A33"/>
                </a:solidFill>
                <a:latin typeface="Nunito"/>
              </a:rPr>
              <a:t>Select any query and ask Copilot to explain what it does or suggest optimizations. Great for debugging legacy code.</a:t>
            </a:r>
          </a:p>
        </p:txBody>
      </p:sp>
      <p:sp>
        <p:nvSpPr>
          <p:cNvPr id="14" name="Rounded Rectangle 13"/>
          <p:cNvSpPr/>
          <p:nvPr/>
        </p:nvSpPr>
        <p:spPr>
          <a:xfrm>
            <a:off x="6255867" y="3803904"/>
            <a:ext cx="5387187" cy="196596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2171" y="3803904"/>
            <a:ext cx="5094579"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5323" y="3986784"/>
            <a:ext cx="4948275" cy="1600200"/>
          </a:xfrm>
          <a:prstGeom prst="rect">
            <a:avLst/>
          </a:prstGeom>
          <a:noFill/>
        </p:spPr>
        <p:txBody>
          <a:bodyPr wrap="square" lIns="0" rIns="0" tIns="0" bIns="0">
            <a:spAutoFit/>
          </a:bodyPr>
          <a:lstStyle/>
          <a:p>
            <a:pPr>
              <a:lnSpc>
                <a:spcPct val="105000"/>
              </a:lnSpc>
              <a:spcAft>
                <a:spcPts val="600"/>
              </a:spcAft>
            </a:pPr>
            <a:r>
              <a:rPr sz="1800" b="1" i="0">
                <a:solidFill>
                  <a:srgbClr val="1F2A33"/>
                </a:solidFill>
                <a:latin typeface="Bricolage Grotesque"/>
              </a:rPr>
              <a:t>Schema Awareness</a:t>
            </a:r>
          </a:p>
          <a:p>
            <a:pPr>
              <a:lnSpc>
                <a:spcPct val="105000"/>
              </a:lnSpc>
              <a:spcAft>
                <a:spcPts val="0"/>
              </a:spcAft>
            </a:pPr>
            <a:r>
              <a:rPr sz="1250" b="0" i="0">
                <a:solidFill>
                  <a:srgbClr val="1F2A33"/>
                </a:solidFill>
                <a:latin typeface="Nunito"/>
              </a:rPr>
              <a:t>Reads your active database connection — knows SQL version, tables, columns, keys, and relationships for contextual suggestions.</a:t>
            </a:r>
          </a:p>
        </p:txBody>
      </p:sp>
      <p:sp>
        <p:nvSpPr>
          <p:cNvPr id="17" name="Rounded Rectangle 16"/>
          <p:cNvSpPr/>
          <p:nvPr/>
        </p:nvSpPr>
        <p:spPr>
          <a:xfrm>
            <a:off x="548640" y="5989320"/>
            <a:ext cx="11094415" cy="530352"/>
          </a:xfrm>
          <a:prstGeom prst="roundRect">
            <a:avLst>
              <a:gd name="adj" fmla="val 35000"/>
            </a:avLst>
          </a:prstGeom>
          <a:solidFill>
            <a:srgbClr val="1F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05000"/>
              </a:lnSpc>
              <a:spcAft>
                <a:spcPts val="0"/>
              </a:spcAft>
            </a:pPr>
            <a:r>
              <a:rPr sz="1200" b="0" i="0">
                <a:solidFill>
                  <a:srgbClr val="ECE2D0"/>
                </a:solidFill>
                <a:latin typeface="Nunito"/>
              </a:rPr>
              <a:t>Requires SSMS 22+ or VS Code MSSQL extension  •  GitHub Copilot subscription (Free tier: 50 requests)  •  Respects DB permissions</a:t>
            </a:r>
          </a:p>
        </p:txBody>
      </p:sp>
      <p:sp>
        <p:nvSpPr>
          <p:cNvPr id="18" name="TextBox 17"/>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4</a:t>
            </a:r>
          </a:p>
        </p:txBody>
      </p:sp>
      <p:sp>
        <p:nvSpPr>
          <p:cNvPr id="19" name="TextBox 18"/>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Fabric Copilot for SQL</a:t>
            </a:r>
          </a:p>
        </p:txBody>
      </p:sp>
      <p:sp>
        <p:nvSpPr>
          <p:cNvPr id="3" name="Rounded Rectangle 2"/>
          <p:cNvSpPr/>
          <p:nvPr/>
        </p:nvSpPr>
        <p:spPr>
          <a:xfrm>
            <a:off x="548640" y="932688"/>
            <a:ext cx="658368" cy="73152"/>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4415" cy="457200"/>
          </a:xfrm>
          <a:prstGeom prst="rect">
            <a:avLst/>
          </a:prstGeom>
          <a:noFill/>
        </p:spPr>
        <p:txBody>
          <a:bodyPr wrap="square" lIns="0" rIns="0" tIns="0" bIns="0">
            <a:spAutoFit/>
          </a:bodyPr>
          <a:lstStyle/>
          <a:p>
            <a:pPr>
              <a:lnSpc>
                <a:spcPct val="105000"/>
              </a:lnSpc>
              <a:spcAft>
                <a:spcPts val="0"/>
              </a:spcAft>
            </a:pPr>
            <a:r>
              <a:rPr sz="1500" b="0" i="0">
                <a:solidFill>
                  <a:srgbClr val="5A6B76"/>
                </a:solidFill>
                <a:latin typeface="Nunito"/>
              </a:rPr>
              <a:t>AI assistant in the Fabric SQL database workload — natural language queries, code completion, and quick actions.</a:t>
            </a:r>
          </a:p>
        </p:txBody>
      </p:sp>
      <p:sp>
        <p:nvSpPr>
          <p:cNvPr id="5" name="Rounded Rectangle 4"/>
          <p:cNvSpPr/>
          <p:nvPr/>
        </p:nvSpPr>
        <p:spPr>
          <a:xfrm>
            <a:off x="548640" y="1591056"/>
            <a:ext cx="11094415" cy="932688"/>
          </a:xfrm>
          <a:prstGeom prst="roundRect">
            <a:avLst>
              <a:gd name="adj" fmla="val 1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09928"/>
            <a:ext cx="68580" cy="694944"/>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91056"/>
            <a:ext cx="2423160" cy="932688"/>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Chat Pane</a:t>
            </a:r>
          </a:p>
        </p:txBody>
      </p:sp>
      <p:sp>
        <p:nvSpPr>
          <p:cNvPr id="8" name="TextBox 7"/>
          <p:cNvSpPr txBox="1"/>
          <p:nvPr/>
        </p:nvSpPr>
        <p:spPr>
          <a:xfrm>
            <a:off x="3474720" y="1591056"/>
            <a:ext cx="8046720" cy="932688"/>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Ask natural language questions about your database. Get T-SQL queries or documentation answers directly in the Fabric portal.</a:t>
            </a:r>
          </a:p>
        </p:txBody>
      </p:sp>
      <p:sp>
        <p:nvSpPr>
          <p:cNvPr id="9" name="Rounded Rectangle 8"/>
          <p:cNvSpPr/>
          <p:nvPr/>
        </p:nvSpPr>
        <p:spPr>
          <a:xfrm>
            <a:off x="548640" y="2651760"/>
            <a:ext cx="11094415" cy="932688"/>
          </a:xfrm>
          <a:prstGeom prst="roundRect">
            <a:avLst>
              <a:gd name="adj" fmla="val 1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2770632"/>
            <a:ext cx="68580" cy="69494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51760"/>
            <a:ext cx="2423160" cy="932688"/>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Code Completion</a:t>
            </a:r>
          </a:p>
        </p:txBody>
      </p:sp>
      <p:sp>
        <p:nvSpPr>
          <p:cNvPr id="12" name="TextBox 11"/>
          <p:cNvSpPr txBox="1"/>
          <p:nvPr/>
        </p:nvSpPr>
        <p:spPr>
          <a:xfrm>
            <a:off x="3474720" y="2651760"/>
            <a:ext cx="8046720" cy="932688"/>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Start typing in the SQL query editor — Copilot suggests completions for table names, functions, and full queries. Tab to accept.</a:t>
            </a:r>
          </a:p>
        </p:txBody>
      </p:sp>
      <p:sp>
        <p:nvSpPr>
          <p:cNvPr id="13" name="Rounded Rectangle 12"/>
          <p:cNvSpPr/>
          <p:nvPr/>
        </p:nvSpPr>
        <p:spPr>
          <a:xfrm>
            <a:off x="548640" y="3712463"/>
            <a:ext cx="11094415" cy="932688"/>
          </a:xfrm>
          <a:prstGeom prst="roundRect">
            <a:avLst>
              <a:gd name="adj" fmla="val 1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831335"/>
            <a:ext cx="68580" cy="694944"/>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12463"/>
            <a:ext cx="2423160" cy="932688"/>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Quick Actions: Fix</a:t>
            </a:r>
          </a:p>
        </p:txBody>
      </p:sp>
      <p:sp>
        <p:nvSpPr>
          <p:cNvPr id="16" name="TextBox 15"/>
          <p:cNvSpPr txBox="1"/>
          <p:nvPr/>
        </p:nvSpPr>
        <p:spPr>
          <a:xfrm>
            <a:off x="3474720" y="3712463"/>
            <a:ext cx="8046720" cy="932688"/>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Highlight a failing query and click Fix. Copilot identifies errors, corrects syntax, and adds comments explaining changes.</a:t>
            </a:r>
          </a:p>
        </p:txBody>
      </p:sp>
      <p:sp>
        <p:nvSpPr>
          <p:cNvPr id="17" name="Rounded Rectangle 16"/>
          <p:cNvSpPr/>
          <p:nvPr/>
        </p:nvSpPr>
        <p:spPr>
          <a:xfrm>
            <a:off x="548640" y="4773168"/>
            <a:ext cx="11094415" cy="932688"/>
          </a:xfrm>
          <a:prstGeom prst="roundRect">
            <a:avLst>
              <a:gd name="adj" fmla="val 1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4892040"/>
            <a:ext cx="68580" cy="694944"/>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773168"/>
            <a:ext cx="2423160" cy="932688"/>
          </a:xfrm>
          <a:prstGeom prst="rect">
            <a:avLst/>
          </a:prstGeom>
          <a:noFill/>
        </p:spPr>
        <p:txBody>
          <a:bodyPr wrap="square" lIns="0" rIns="0" tIns="0" bIns="0" anchor="ctr">
            <a:spAutoFit/>
          </a:bodyPr>
          <a:lstStyle/>
          <a:p>
            <a:pPr>
              <a:lnSpc>
                <a:spcPct val="105000"/>
              </a:lnSpc>
              <a:spcAft>
                <a:spcPts val="0"/>
              </a:spcAft>
            </a:pPr>
            <a:r>
              <a:rPr sz="1600" b="1" i="0">
                <a:solidFill>
                  <a:srgbClr val="1F2A33"/>
                </a:solidFill>
                <a:latin typeface="Bricolage Grotesque"/>
              </a:rPr>
              <a:t>Quick Actions: Explain</a:t>
            </a:r>
          </a:p>
        </p:txBody>
      </p:sp>
      <p:sp>
        <p:nvSpPr>
          <p:cNvPr id="20" name="TextBox 19"/>
          <p:cNvSpPr txBox="1"/>
          <p:nvPr/>
        </p:nvSpPr>
        <p:spPr>
          <a:xfrm>
            <a:off x="3474720" y="4773168"/>
            <a:ext cx="8046720" cy="932688"/>
          </a:xfrm>
          <a:prstGeom prst="rect">
            <a:avLst/>
          </a:prstGeom>
          <a:noFill/>
        </p:spPr>
        <p:txBody>
          <a:bodyPr wrap="square" lIns="0" rIns="0" tIns="0" bIns="0" anchor="ctr">
            <a:spAutoFit/>
          </a:bodyPr>
          <a:lstStyle/>
          <a:p>
            <a:pPr>
              <a:lnSpc>
                <a:spcPct val="105000"/>
              </a:lnSpc>
              <a:spcAft>
                <a:spcPts val="0"/>
              </a:spcAft>
            </a:pPr>
            <a:r>
              <a:rPr sz="1250" b="0" i="0">
                <a:solidFill>
                  <a:srgbClr val="1F2A33"/>
                </a:solidFill>
                <a:latin typeface="Nunito"/>
              </a:rPr>
              <a:t>Select any SQL block and click Explain. Copilot provides natural language explanation of query logic and schema usage.</a:t>
            </a:r>
          </a:p>
        </p:txBody>
      </p:sp>
      <p:sp>
        <p:nvSpPr>
          <p:cNvPr id="21" name="Rounded Rectangle 20"/>
          <p:cNvSpPr/>
          <p:nvPr/>
        </p:nvSpPr>
        <p:spPr>
          <a:xfrm>
            <a:off x="548640" y="5925312"/>
            <a:ext cx="11094415" cy="530352"/>
          </a:xfrm>
          <a:prstGeom prst="roundRect">
            <a:avLst>
              <a:gd name="adj" fmla="val 35000"/>
            </a:avLst>
          </a:prstGeom>
          <a:solidFill>
            <a:srgbClr val="F7E7B9"/>
          </a:solidFill>
          <a:ln w="12700">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05000"/>
              </a:lnSpc>
              <a:spcAft>
                <a:spcPts val="0"/>
              </a:spcAft>
            </a:pPr>
            <a:r>
              <a:rPr sz="1200" b="0" i="0">
                <a:solidFill>
                  <a:srgbClr val="1F2A33"/>
                </a:solidFill>
                <a:latin typeface="Nunito"/>
              </a:rPr>
              <a:t>Built on same AI tools as SSMS Copilot  •  Consistent experience across Fabric portal, SSMS 22, and VS Code</a:t>
            </a:r>
          </a:p>
        </p:txBody>
      </p:sp>
      <p:sp>
        <p:nvSpPr>
          <p:cNvPr id="22" name="TextBox 21"/>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4</a:t>
            </a:r>
          </a:p>
        </p:txBody>
      </p:sp>
      <p:sp>
        <p:nvSpPr>
          <p:cNvPr id="23" name="TextBox 2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Model Context Protocol (MCP)</a:t>
            </a:r>
          </a:p>
        </p:txBody>
      </p:sp>
      <p:sp>
        <p:nvSpPr>
          <p:cNvPr id="3" name="Rounded Rectangle 2"/>
          <p:cNvSpPr/>
          <p:nvPr/>
        </p:nvSpPr>
        <p:spPr>
          <a:xfrm>
            <a:off x="548640" y="932688"/>
            <a:ext cx="658368" cy="73152"/>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4415" cy="457200"/>
          </a:xfrm>
          <a:prstGeom prst="rect">
            <a:avLst/>
          </a:prstGeom>
          <a:noFill/>
        </p:spPr>
        <p:txBody>
          <a:bodyPr wrap="square" lIns="0" rIns="0" tIns="0" bIns="0">
            <a:spAutoFit/>
          </a:bodyPr>
          <a:lstStyle/>
          <a:p>
            <a:pPr>
              <a:lnSpc>
                <a:spcPct val="105000"/>
              </a:lnSpc>
              <a:spcAft>
                <a:spcPts val="0"/>
              </a:spcAft>
            </a:pPr>
            <a:r>
              <a:rPr sz="1500" b="0" i="0">
                <a:solidFill>
                  <a:srgbClr val="5A6B76"/>
                </a:solidFill>
                <a:latin typeface="Nunito"/>
              </a:rPr>
              <a:t>Open protocol standardizing how AI agents safely interact with databases — a "USB-C port" for AI applications.</a:t>
            </a:r>
          </a:p>
        </p:txBody>
      </p:sp>
      <p:sp>
        <p:nvSpPr>
          <p:cNvPr id="5" name="Rounded Rectangle 4"/>
          <p:cNvSpPr/>
          <p:nvPr/>
        </p:nvSpPr>
        <p:spPr>
          <a:xfrm>
            <a:off x="548640" y="1609344"/>
            <a:ext cx="3200400" cy="12344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609344"/>
            <a:ext cx="2907792"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92224"/>
            <a:ext cx="2761488" cy="868680"/>
          </a:xfrm>
          <a:prstGeom prst="rect">
            <a:avLst/>
          </a:prstGeom>
          <a:noFill/>
        </p:spPr>
        <p:txBody>
          <a:bodyPr wrap="square" lIns="0" rIns="0" tIns="0" bIns="0">
            <a:spAutoFit/>
          </a:bodyPr>
          <a:lstStyle/>
          <a:p>
            <a:pPr>
              <a:lnSpc>
                <a:spcPct val="105000"/>
              </a:lnSpc>
              <a:spcAft>
                <a:spcPts val="300"/>
              </a:spcAft>
            </a:pPr>
            <a:r>
              <a:rPr sz="1600" b="1" i="0">
                <a:solidFill>
                  <a:srgbClr val="1F2A33"/>
                </a:solidFill>
                <a:latin typeface="Bricolage Grotesque"/>
              </a:rPr>
              <a:t>AI Client</a:t>
            </a:r>
          </a:p>
          <a:p>
            <a:pPr>
              <a:lnSpc>
                <a:spcPct val="108000"/>
              </a:lnSpc>
              <a:spcAft>
                <a:spcPts val="0"/>
              </a:spcAft>
            </a:pPr>
            <a:r>
              <a:rPr sz="1200" b="0" i="0">
                <a:solidFill>
                  <a:srgbClr val="5A6B76"/>
                </a:solidFill>
                <a:latin typeface="Nunito"/>
              </a:rPr>
              <a:t>VS Code, Claude,</a:t>
            </a:r>
          </a:p>
          <a:p>
            <a:pPr>
              <a:lnSpc>
                <a:spcPct val="108000"/>
              </a:lnSpc>
              <a:spcAft>
                <a:spcPts val="0"/>
              </a:spcAft>
            </a:pPr>
            <a:r>
              <a:rPr sz="1200" b="0" i="0">
                <a:solidFill>
                  <a:srgbClr val="5A6B76"/>
                </a:solidFill>
                <a:latin typeface="Nunito"/>
              </a:rPr>
              <a:t>ChatGPT, Copilot</a:t>
            </a:r>
          </a:p>
        </p:txBody>
      </p:sp>
      <p:sp>
        <p:nvSpPr>
          <p:cNvPr id="8" name="TextBox 7"/>
          <p:cNvSpPr txBox="1"/>
          <p:nvPr/>
        </p:nvSpPr>
        <p:spPr>
          <a:xfrm>
            <a:off x="3822192" y="1956816"/>
            <a:ext cx="600303" cy="502920"/>
          </a:xfrm>
          <a:prstGeom prst="rect">
            <a:avLst/>
          </a:prstGeom>
          <a:noFill/>
        </p:spPr>
        <p:txBody>
          <a:bodyPr wrap="square" lIns="0" rIns="0" tIns="0" bIns="0">
            <a:spAutoFit/>
          </a:bodyPr>
          <a:lstStyle/>
          <a:p>
            <a:pPr algn="ctr">
              <a:lnSpc>
                <a:spcPct val="105000"/>
              </a:lnSpc>
              <a:spcAft>
                <a:spcPts val="0"/>
              </a:spcAft>
            </a:pPr>
            <a:r>
              <a:rPr sz="2400" b="1" i="0">
                <a:solidFill>
                  <a:srgbClr val="5A6B76"/>
                </a:solidFill>
                <a:latin typeface="Nunito"/>
              </a:rPr>
              <a:t>→</a:t>
            </a:r>
          </a:p>
        </p:txBody>
      </p:sp>
      <p:sp>
        <p:nvSpPr>
          <p:cNvPr id="9" name="Rounded Rectangle 8"/>
          <p:cNvSpPr/>
          <p:nvPr/>
        </p:nvSpPr>
        <p:spPr>
          <a:xfrm>
            <a:off x="4495647" y="1609344"/>
            <a:ext cx="3200400" cy="12344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41951" y="1609344"/>
            <a:ext cx="2907792"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5103" y="1792224"/>
            <a:ext cx="2761488" cy="868680"/>
          </a:xfrm>
          <a:prstGeom prst="rect">
            <a:avLst/>
          </a:prstGeom>
          <a:noFill/>
        </p:spPr>
        <p:txBody>
          <a:bodyPr wrap="square" lIns="0" rIns="0" tIns="0" bIns="0">
            <a:spAutoFit/>
          </a:bodyPr>
          <a:lstStyle/>
          <a:p>
            <a:pPr>
              <a:lnSpc>
                <a:spcPct val="105000"/>
              </a:lnSpc>
              <a:spcAft>
                <a:spcPts val="300"/>
              </a:spcAft>
            </a:pPr>
            <a:r>
              <a:rPr sz="1600" b="1" i="0">
                <a:solidFill>
                  <a:srgbClr val="1F2A33"/>
                </a:solidFill>
                <a:latin typeface="Bricolage Grotesque"/>
              </a:rPr>
              <a:t>MCP Server</a:t>
            </a:r>
          </a:p>
          <a:p>
            <a:pPr>
              <a:lnSpc>
                <a:spcPct val="108000"/>
              </a:lnSpc>
              <a:spcAft>
                <a:spcPts val="0"/>
              </a:spcAft>
            </a:pPr>
            <a:r>
              <a:rPr sz="1200" b="0" i="0">
                <a:solidFill>
                  <a:srgbClr val="5A6B76"/>
                </a:solidFill>
                <a:latin typeface="Nunito"/>
              </a:rPr>
              <a:t>SQL MCP Server</a:t>
            </a:r>
          </a:p>
          <a:p>
            <a:pPr>
              <a:lnSpc>
                <a:spcPct val="108000"/>
              </a:lnSpc>
              <a:spcAft>
                <a:spcPts val="0"/>
              </a:spcAft>
            </a:pPr>
            <a:r>
              <a:rPr sz="1200" b="0" i="0">
                <a:solidFill>
                  <a:srgbClr val="5A6B76"/>
                </a:solidFill>
                <a:latin typeface="Nunito"/>
              </a:rPr>
              <a:t>(Data API Builder)</a:t>
            </a:r>
          </a:p>
        </p:txBody>
      </p:sp>
      <p:sp>
        <p:nvSpPr>
          <p:cNvPr id="12" name="TextBox 11"/>
          <p:cNvSpPr txBox="1"/>
          <p:nvPr/>
        </p:nvSpPr>
        <p:spPr>
          <a:xfrm>
            <a:off x="7769199" y="1956816"/>
            <a:ext cx="600303" cy="502920"/>
          </a:xfrm>
          <a:prstGeom prst="rect">
            <a:avLst/>
          </a:prstGeom>
          <a:noFill/>
        </p:spPr>
        <p:txBody>
          <a:bodyPr wrap="square" lIns="0" rIns="0" tIns="0" bIns="0">
            <a:spAutoFit/>
          </a:bodyPr>
          <a:lstStyle/>
          <a:p>
            <a:pPr algn="ctr">
              <a:lnSpc>
                <a:spcPct val="105000"/>
              </a:lnSpc>
              <a:spcAft>
                <a:spcPts val="0"/>
              </a:spcAft>
            </a:pPr>
            <a:r>
              <a:rPr sz="2400" b="1" i="0">
                <a:solidFill>
                  <a:srgbClr val="5A6B76"/>
                </a:solidFill>
                <a:latin typeface="Nunito"/>
              </a:rPr>
              <a:t>→</a:t>
            </a:r>
          </a:p>
        </p:txBody>
      </p:sp>
      <p:sp>
        <p:nvSpPr>
          <p:cNvPr id="13" name="Rounded Rectangle 12"/>
          <p:cNvSpPr/>
          <p:nvPr/>
        </p:nvSpPr>
        <p:spPr>
          <a:xfrm>
            <a:off x="8442655" y="1609344"/>
            <a:ext cx="3200400" cy="12344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588959" y="1609344"/>
            <a:ext cx="2907792"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62111" y="1792224"/>
            <a:ext cx="2761488" cy="868680"/>
          </a:xfrm>
          <a:prstGeom prst="rect">
            <a:avLst/>
          </a:prstGeom>
          <a:noFill/>
        </p:spPr>
        <p:txBody>
          <a:bodyPr wrap="square" lIns="0" rIns="0" tIns="0" bIns="0">
            <a:spAutoFit/>
          </a:bodyPr>
          <a:lstStyle/>
          <a:p>
            <a:pPr>
              <a:lnSpc>
                <a:spcPct val="105000"/>
              </a:lnSpc>
              <a:spcAft>
                <a:spcPts val="300"/>
              </a:spcAft>
            </a:pPr>
            <a:r>
              <a:rPr sz="1600" b="1" i="0">
                <a:solidFill>
                  <a:srgbClr val="1F2A33"/>
                </a:solidFill>
                <a:latin typeface="Bricolage Grotesque"/>
              </a:rPr>
              <a:t>SQL Server</a:t>
            </a:r>
          </a:p>
          <a:p>
            <a:pPr>
              <a:lnSpc>
                <a:spcPct val="108000"/>
              </a:lnSpc>
              <a:spcAft>
                <a:spcPts val="0"/>
              </a:spcAft>
            </a:pPr>
            <a:r>
              <a:rPr sz="1200" b="0" i="0">
                <a:solidFill>
                  <a:srgbClr val="5A6B76"/>
                </a:solidFill>
                <a:latin typeface="Nunito"/>
              </a:rPr>
              <a:t>On-prem, Azure SQL,</a:t>
            </a:r>
          </a:p>
          <a:p>
            <a:pPr>
              <a:lnSpc>
                <a:spcPct val="108000"/>
              </a:lnSpc>
              <a:spcAft>
                <a:spcPts val="0"/>
              </a:spcAft>
            </a:pPr>
            <a:r>
              <a:rPr sz="1200" b="0" i="0">
                <a:solidFill>
                  <a:srgbClr val="5A6B76"/>
                </a:solidFill>
                <a:latin typeface="Nunito"/>
              </a:rPr>
              <a:t>Fabric, Docker</a:t>
            </a:r>
          </a:p>
        </p:txBody>
      </p:sp>
      <p:sp>
        <p:nvSpPr>
          <p:cNvPr id="16" name="Rounded Rectangle 15"/>
          <p:cNvSpPr/>
          <p:nvPr/>
        </p:nvSpPr>
        <p:spPr>
          <a:xfrm>
            <a:off x="548640" y="3063240"/>
            <a:ext cx="5364327" cy="35204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4944" y="3063240"/>
            <a:ext cx="5071719"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246120"/>
            <a:ext cx="4925415" cy="3154680"/>
          </a:xfrm>
          <a:prstGeom prst="rect">
            <a:avLst/>
          </a:prstGeom>
          <a:noFill/>
        </p:spPr>
        <p:txBody>
          <a:bodyPr wrap="square" lIns="0" rIns="0" tIns="0" bIns="0">
            <a:spAutoFit/>
          </a:bodyPr>
          <a:lstStyle/>
          <a:p>
            <a:pPr>
              <a:lnSpc>
                <a:spcPct val="105000"/>
              </a:lnSpc>
              <a:spcAft>
                <a:spcPts val="700"/>
              </a:spcAft>
            </a:pPr>
            <a:r>
              <a:rPr sz="1600" b="1" i="0">
                <a:solidFill>
                  <a:srgbClr val="1F2A33"/>
                </a:solidFill>
                <a:latin typeface="Bricolage Grotesque"/>
              </a:rPr>
              <a:t>SQL MCP Server Tools</a:t>
            </a:r>
          </a:p>
          <a:p>
            <a:pPr marL="182880" indent="-182880">
              <a:lnSpc>
                <a:spcPct val="105000"/>
              </a:lnSpc>
              <a:spcAft>
                <a:spcPts val="600"/>
              </a:spcAft>
              <a:buFont typeface="Nunito"/>
              <a:buChar char="•"/>
            </a:pPr>
            <a:r>
              <a:rPr sz="1200" b="0" i="0">
                <a:solidFill>
                  <a:srgbClr val="1F2A33"/>
                </a:solidFill>
                <a:latin typeface="Nunito"/>
              </a:rPr>
              <a:t>ListTables — discover available tables and schemas</a:t>
            </a:r>
          </a:p>
          <a:p>
            <a:pPr marL="182880" indent="-182880">
              <a:lnSpc>
                <a:spcPct val="105000"/>
              </a:lnSpc>
              <a:spcAft>
                <a:spcPts val="600"/>
              </a:spcAft>
              <a:buFont typeface="Nunito"/>
              <a:buChar char="•"/>
            </a:pPr>
            <a:r>
              <a:rPr sz="1200" b="0" i="0">
                <a:solidFill>
                  <a:srgbClr val="1F2A33"/>
                </a:solidFill>
                <a:latin typeface="Nunito"/>
              </a:rPr>
              <a:t>ReadData — query rows with filters and pagination</a:t>
            </a:r>
          </a:p>
          <a:p>
            <a:pPr marL="182880" indent="-182880">
              <a:lnSpc>
                <a:spcPct val="105000"/>
              </a:lnSpc>
              <a:spcAft>
                <a:spcPts val="600"/>
              </a:spcAft>
              <a:buFont typeface="Nunito"/>
              <a:buChar char="•"/>
            </a:pPr>
            <a:r>
              <a:rPr sz="1200" b="0" i="0">
                <a:solidFill>
                  <a:srgbClr val="1F2A33"/>
                </a:solidFill>
                <a:latin typeface="Nunito"/>
              </a:rPr>
              <a:t>CreateItem — insert new rows with typed values</a:t>
            </a:r>
          </a:p>
          <a:p>
            <a:pPr marL="182880" indent="-182880">
              <a:lnSpc>
                <a:spcPct val="105000"/>
              </a:lnSpc>
              <a:spcAft>
                <a:spcPts val="600"/>
              </a:spcAft>
              <a:buFont typeface="Nunito"/>
              <a:buChar char="•"/>
            </a:pPr>
            <a:r>
              <a:rPr sz="1200" b="0" i="0">
                <a:solidFill>
                  <a:srgbClr val="1F2A33"/>
                </a:solidFill>
                <a:latin typeface="Nunito"/>
              </a:rPr>
              <a:t>UpdateItem — modify existing rows by key</a:t>
            </a:r>
          </a:p>
          <a:p>
            <a:pPr marL="182880" indent="-182880">
              <a:lnSpc>
                <a:spcPct val="105000"/>
              </a:lnSpc>
              <a:spcAft>
                <a:spcPts val="600"/>
              </a:spcAft>
              <a:buFont typeface="Nunito"/>
              <a:buChar char="•"/>
            </a:pPr>
            <a:r>
              <a:rPr sz="1200" b="0" i="0">
                <a:solidFill>
                  <a:srgbClr val="1F2A33"/>
                </a:solidFill>
                <a:latin typeface="Nunito"/>
              </a:rPr>
              <a:t>DeleteItem — remove rows with key-based targeting</a:t>
            </a:r>
          </a:p>
          <a:p>
            <a:pPr marL="182880" indent="-182880">
              <a:lnSpc>
                <a:spcPct val="105000"/>
              </a:lnSpc>
              <a:spcAft>
                <a:spcPts val="600"/>
              </a:spcAft>
              <a:buFont typeface="Nunito"/>
              <a:buChar char="•"/>
            </a:pPr>
            <a:r>
              <a:rPr sz="1200" b="0" i="0">
                <a:solidFill>
                  <a:srgbClr val="1F2A33"/>
                </a:solidFill>
                <a:latin typeface="Nunito"/>
              </a:rPr>
              <a:t>ExecuteQuery — run custom T-SQL with RBAC controls</a:t>
            </a:r>
          </a:p>
        </p:txBody>
      </p:sp>
      <p:sp>
        <p:nvSpPr>
          <p:cNvPr id="19" name="Rounded Rectangle 18"/>
          <p:cNvSpPr/>
          <p:nvPr/>
        </p:nvSpPr>
        <p:spPr>
          <a:xfrm>
            <a:off x="6278727" y="3063240"/>
            <a:ext cx="5364327" cy="352044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25031" y="3063240"/>
            <a:ext cx="5071719"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8183" y="3246120"/>
            <a:ext cx="4925415" cy="3154680"/>
          </a:xfrm>
          <a:prstGeom prst="rect">
            <a:avLst/>
          </a:prstGeom>
          <a:noFill/>
        </p:spPr>
        <p:txBody>
          <a:bodyPr wrap="square" lIns="0" rIns="0" tIns="0" bIns="0">
            <a:spAutoFit/>
          </a:bodyPr>
          <a:lstStyle/>
          <a:p>
            <a:pPr>
              <a:lnSpc>
                <a:spcPct val="105000"/>
              </a:lnSpc>
              <a:spcAft>
                <a:spcPts val="700"/>
              </a:spcAft>
            </a:pPr>
            <a:r>
              <a:rPr sz="1600" b="1" i="0">
                <a:solidFill>
                  <a:srgbClr val="1F2A33"/>
                </a:solidFill>
                <a:latin typeface="Bricolage Grotesque"/>
              </a:rPr>
              <a:t>Security &amp; Architecture</a:t>
            </a:r>
          </a:p>
          <a:p>
            <a:pPr marL="182880" indent="-182880">
              <a:lnSpc>
                <a:spcPct val="105000"/>
              </a:lnSpc>
              <a:spcAft>
                <a:spcPts val="600"/>
              </a:spcAft>
              <a:buFont typeface="Nunito"/>
              <a:buChar char="•"/>
            </a:pPr>
            <a:r>
              <a:rPr sz="1200" b="0" i="0">
                <a:solidFill>
                  <a:srgbClr val="1F2A33"/>
                </a:solidFill>
                <a:latin typeface="Nunito"/>
              </a:rPr>
              <a:t>Built on Data API Builder — proven RBAC and telemetry</a:t>
            </a:r>
          </a:p>
          <a:p>
            <a:pPr marL="182880" indent="-182880">
              <a:lnSpc>
                <a:spcPct val="105000"/>
              </a:lnSpc>
              <a:spcAft>
                <a:spcPts val="600"/>
              </a:spcAft>
              <a:buFont typeface="Nunito"/>
              <a:buChar char="•"/>
            </a:pPr>
            <a:r>
              <a:rPr sz="1200" b="0" i="0">
                <a:solidFill>
                  <a:srgbClr val="1F2A33"/>
                </a:solidFill>
                <a:latin typeface="Nunito"/>
              </a:rPr>
              <a:t>Role-based access control for each entity and operation</a:t>
            </a:r>
          </a:p>
          <a:p>
            <a:pPr marL="182880" indent="-182880">
              <a:lnSpc>
                <a:spcPct val="105000"/>
              </a:lnSpc>
              <a:spcAft>
                <a:spcPts val="600"/>
              </a:spcAft>
              <a:buFont typeface="Nunito"/>
              <a:buChar char="•"/>
            </a:pPr>
            <a:r>
              <a:rPr sz="1200" b="0" i="0">
                <a:solidFill>
                  <a:srgbClr val="1F2A33"/>
                </a:solidFill>
                <a:latin typeface="Nunito"/>
              </a:rPr>
              <a:t>Deploy locally (stdio transport) or to Azure Container Apps</a:t>
            </a:r>
          </a:p>
          <a:p>
            <a:pPr marL="182880" indent="-182880">
              <a:lnSpc>
                <a:spcPct val="105000"/>
              </a:lnSpc>
              <a:spcAft>
                <a:spcPts val="600"/>
              </a:spcAft>
              <a:buFont typeface="Nunito"/>
              <a:buChar char="•"/>
            </a:pPr>
            <a:r>
              <a:rPr sz="1200" b="0" i="0">
                <a:solidFill>
                  <a:srgbClr val="1F2A33"/>
                </a:solidFill>
                <a:latin typeface="Nunito"/>
              </a:rPr>
              <a:t>Supports SQL Server, Azure SQL, Fabric SQL databases</a:t>
            </a:r>
          </a:p>
          <a:p>
            <a:pPr marL="182880" indent="-182880">
              <a:lnSpc>
                <a:spcPct val="105000"/>
              </a:lnSpc>
              <a:spcAft>
                <a:spcPts val="600"/>
              </a:spcAft>
              <a:buFont typeface="Nunito"/>
              <a:buChar char="•"/>
            </a:pPr>
            <a:r>
              <a:rPr sz="1200" b="0" i="0">
                <a:solidFill>
                  <a:srgbClr val="1F2A33"/>
                </a:solidFill>
                <a:latin typeface="Nunito"/>
              </a:rPr>
              <a:t>Entity descriptions enrich AI context for better queries</a:t>
            </a:r>
          </a:p>
          <a:p>
            <a:pPr marL="182880" indent="-182880">
              <a:lnSpc>
                <a:spcPct val="105000"/>
              </a:lnSpc>
              <a:spcAft>
                <a:spcPts val="600"/>
              </a:spcAft>
              <a:buFont typeface="Nunito"/>
              <a:buChar char="•"/>
            </a:pPr>
            <a:r>
              <a:rPr sz="1200" b="0" i="0">
                <a:solidFill>
                  <a:srgbClr val="1F2A33"/>
                </a:solidFill>
                <a:latin typeface="Nunito"/>
              </a:rPr>
              <a:t>No data leaves your environment — runs alongside your database</a:t>
            </a:r>
          </a:p>
        </p:txBody>
      </p:sp>
      <p:sp>
        <p:nvSpPr>
          <p:cNvPr id="22" name="TextBox 21"/>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4</a:t>
            </a:r>
          </a:p>
        </p:txBody>
      </p:sp>
      <p:sp>
        <p:nvSpPr>
          <p:cNvPr id="23" name="TextBox 2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AI Workflow Integration</a:t>
            </a:r>
          </a:p>
        </p:txBody>
      </p:sp>
      <p:sp>
        <p:nvSpPr>
          <p:cNvPr id="3" name="Rounded Rectangle 2"/>
          <p:cNvSpPr/>
          <p:nvPr/>
        </p:nvSpPr>
        <p:spPr>
          <a:xfrm>
            <a:off x="548640" y="932688"/>
            <a:ext cx="658368" cy="73152"/>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4415" cy="457200"/>
          </a:xfrm>
          <a:prstGeom prst="rect">
            <a:avLst/>
          </a:prstGeom>
          <a:noFill/>
        </p:spPr>
        <p:txBody>
          <a:bodyPr wrap="square" lIns="0" rIns="0" tIns="0" bIns="0">
            <a:spAutoFit/>
          </a:bodyPr>
          <a:lstStyle/>
          <a:p>
            <a:pPr>
              <a:lnSpc>
                <a:spcPct val="105000"/>
              </a:lnSpc>
              <a:spcAft>
                <a:spcPts val="0"/>
              </a:spcAft>
            </a:pPr>
            <a:r>
              <a:rPr sz="1500" b="0" i="0">
                <a:solidFill>
                  <a:srgbClr val="5A6B76"/>
                </a:solidFill>
                <a:latin typeface="Nunito"/>
              </a:rPr>
              <a:t>Combining tools: Copilot for authoring, MCP for live data access, Fabric for unified analytics.</a:t>
            </a:r>
          </a:p>
        </p:txBody>
      </p:sp>
      <p:sp>
        <p:nvSpPr>
          <p:cNvPr id="5" name="Rounded Rectangle 4"/>
          <p:cNvSpPr/>
          <p:nvPr/>
        </p:nvSpPr>
        <p:spPr>
          <a:xfrm>
            <a:off x="548640" y="1609344"/>
            <a:ext cx="2602153" cy="411480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609344"/>
            <a:ext cx="2309545" cy="68580"/>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92224"/>
            <a:ext cx="2163241" cy="3749040"/>
          </a:xfrm>
          <a:prstGeom prst="rect">
            <a:avLst/>
          </a:prstGeom>
          <a:noFill/>
        </p:spPr>
        <p:txBody>
          <a:bodyPr wrap="square" lIns="0" rIns="0" tIns="0" bIns="0">
            <a:spAutoFit/>
          </a:bodyPr>
          <a:lstStyle/>
          <a:p>
            <a:pPr>
              <a:lnSpc>
                <a:spcPct val="105000"/>
              </a:lnSpc>
              <a:spcAft>
                <a:spcPts val="800"/>
              </a:spcAft>
            </a:pPr>
            <a:r>
              <a:rPr sz="1800" b="1" i="0">
                <a:solidFill>
                  <a:srgbClr val="1F2A33"/>
                </a:solidFill>
                <a:latin typeface="Bricolage Grotesque"/>
              </a:rPr>
              <a:t>Author</a:t>
            </a:r>
          </a:p>
          <a:p>
            <a:pPr>
              <a:lnSpc>
                <a:spcPct val="105000"/>
              </a:lnSpc>
              <a:spcAft>
                <a:spcPts val="0"/>
              </a:spcAft>
            </a:pPr>
            <a:r>
              <a:rPr sz="1250" b="0" i="0">
                <a:solidFill>
                  <a:srgbClr val="1F2A33"/>
                </a:solidFill>
                <a:latin typeface="Nunito"/>
              </a:rPr>
              <a:t>Use GitHub Copilot in SSMS/VS Code to write and optimize T-SQL. Schema-aware suggestions accelerate development.</a:t>
            </a:r>
          </a:p>
        </p:txBody>
      </p:sp>
      <p:sp>
        <p:nvSpPr>
          <p:cNvPr id="8" name="Rounded Rectangle 7"/>
          <p:cNvSpPr/>
          <p:nvPr/>
        </p:nvSpPr>
        <p:spPr>
          <a:xfrm>
            <a:off x="3379393" y="1609344"/>
            <a:ext cx="2602153" cy="411480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25697" y="1609344"/>
            <a:ext cx="2309545" cy="68580"/>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8849" y="1792224"/>
            <a:ext cx="2163241" cy="3749040"/>
          </a:xfrm>
          <a:prstGeom prst="rect">
            <a:avLst/>
          </a:prstGeom>
          <a:noFill/>
        </p:spPr>
        <p:txBody>
          <a:bodyPr wrap="square" lIns="0" rIns="0" tIns="0" bIns="0">
            <a:spAutoFit/>
          </a:bodyPr>
          <a:lstStyle/>
          <a:p>
            <a:pPr>
              <a:lnSpc>
                <a:spcPct val="105000"/>
              </a:lnSpc>
              <a:spcAft>
                <a:spcPts val="800"/>
              </a:spcAft>
            </a:pPr>
            <a:r>
              <a:rPr sz="1800" b="1" i="0">
                <a:solidFill>
                  <a:srgbClr val="1F2A33"/>
                </a:solidFill>
                <a:latin typeface="Bricolage Grotesque"/>
              </a:rPr>
              <a:t>Connect</a:t>
            </a:r>
          </a:p>
          <a:p>
            <a:pPr>
              <a:lnSpc>
                <a:spcPct val="105000"/>
              </a:lnSpc>
              <a:spcAft>
                <a:spcPts val="0"/>
              </a:spcAft>
            </a:pPr>
            <a:r>
              <a:rPr sz="1250" b="0" i="0">
                <a:solidFill>
                  <a:srgbClr val="1F2A33"/>
                </a:solidFill>
                <a:latin typeface="Nunito"/>
              </a:rPr>
              <a:t>SQL MCP Server bridges AI agents to your database. Agents discover schemas and run queries through standard protocol.</a:t>
            </a:r>
          </a:p>
        </p:txBody>
      </p:sp>
      <p:sp>
        <p:nvSpPr>
          <p:cNvPr id="11" name="Rounded Rectangle 10"/>
          <p:cNvSpPr/>
          <p:nvPr/>
        </p:nvSpPr>
        <p:spPr>
          <a:xfrm>
            <a:off x="6210147" y="1609344"/>
            <a:ext cx="2602153" cy="411480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6451" y="1609344"/>
            <a:ext cx="2309545" cy="68580"/>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9603" y="1792224"/>
            <a:ext cx="2163241" cy="3749040"/>
          </a:xfrm>
          <a:prstGeom prst="rect">
            <a:avLst/>
          </a:prstGeom>
          <a:noFill/>
        </p:spPr>
        <p:txBody>
          <a:bodyPr wrap="square" lIns="0" rIns="0" tIns="0" bIns="0">
            <a:spAutoFit/>
          </a:bodyPr>
          <a:lstStyle/>
          <a:p>
            <a:pPr>
              <a:lnSpc>
                <a:spcPct val="105000"/>
              </a:lnSpc>
              <a:spcAft>
                <a:spcPts val="800"/>
              </a:spcAft>
            </a:pPr>
            <a:r>
              <a:rPr sz="1800" b="1" i="0">
                <a:solidFill>
                  <a:srgbClr val="1F2A33"/>
                </a:solidFill>
                <a:latin typeface="Bricolage Grotesque"/>
              </a:rPr>
              <a:t>Analyze</a:t>
            </a:r>
          </a:p>
          <a:p>
            <a:pPr>
              <a:lnSpc>
                <a:spcPct val="105000"/>
              </a:lnSpc>
              <a:spcAft>
                <a:spcPts val="0"/>
              </a:spcAft>
            </a:pPr>
            <a:r>
              <a:rPr sz="1250" b="0" i="0">
                <a:solidFill>
                  <a:srgbClr val="1F2A33"/>
                </a:solidFill>
                <a:latin typeface="Nunito"/>
              </a:rPr>
              <a:t>Fabric Copilot enables natural language exploration in the portal. Quick actions fix errors and explain complex logic.</a:t>
            </a:r>
          </a:p>
        </p:txBody>
      </p:sp>
      <p:sp>
        <p:nvSpPr>
          <p:cNvPr id="14" name="Rounded Rectangle 13"/>
          <p:cNvSpPr/>
          <p:nvPr/>
        </p:nvSpPr>
        <p:spPr>
          <a:xfrm>
            <a:off x="9040901" y="1609344"/>
            <a:ext cx="2602153" cy="4114800"/>
          </a:xfrm>
          <a:prstGeom prst="roundRect">
            <a:avLst>
              <a:gd name="adj" fmla="val 5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87205" y="1609344"/>
            <a:ext cx="2309545" cy="68580"/>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60357" y="1792224"/>
            <a:ext cx="2163241" cy="3749040"/>
          </a:xfrm>
          <a:prstGeom prst="rect">
            <a:avLst/>
          </a:prstGeom>
          <a:noFill/>
        </p:spPr>
        <p:txBody>
          <a:bodyPr wrap="square" lIns="0" rIns="0" tIns="0" bIns="0">
            <a:spAutoFit/>
          </a:bodyPr>
          <a:lstStyle/>
          <a:p>
            <a:pPr>
              <a:lnSpc>
                <a:spcPct val="105000"/>
              </a:lnSpc>
              <a:spcAft>
                <a:spcPts val="800"/>
              </a:spcAft>
            </a:pPr>
            <a:r>
              <a:rPr sz="1800" b="1" i="0">
                <a:solidFill>
                  <a:srgbClr val="1F2A33"/>
                </a:solidFill>
                <a:latin typeface="Bricolage Grotesque"/>
              </a:rPr>
              <a:t>Govern</a:t>
            </a:r>
          </a:p>
          <a:p>
            <a:pPr>
              <a:lnSpc>
                <a:spcPct val="105000"/>
              </a:lnSpc>
              <a:spcAft>
                <a:spcPts val="0"/>
              </a:spcAft>
            </a:pPr>
            <a:r>
              <a:rPr sz="1250" b="0" i="0">
                <a:solidFill>
                  <a:srgbClr val="1F2A33"/>
                </a:solidFill>
                <a:latin typeface="Nunito"/>
              </a:rPr>
              <a:t>Copilot instruction files (.github/copilot-instructions.md) enforce coding standards. RBAC in MCP controls data access.</a:t>
            </a:r>
          </a:p>
        </p:txBody>
      </p:sp>
      <p:sp>
        <p:nvSpPr>
          <p:cNvPr id="17" name="Rounded Rectangle 16"/>
          <p:cNvSpPr/>
          <p:nvPr/>
        </p:nvSpPr>
        <p:spPr>
          <a:xfrm>
            <a:off x="548640" y="5961888"/>
            <a:ext cx="11094415" cy="530352"/>
          </a:xfrm>
          <a:prstGeom prst="roundRect">
            <a:avLst>
              <a:gd name="adj" fmla="val 35000"/>
            </a:avLst>
          </a:prstGeom>
          <a:solidFill>
            <a:srgbClr val="F7E7B9"/>
          </a:solidFill>
          <a:ln w="12700">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05000"/>
              </a:lnSpc>
              <a:spcAft>
                <a:spcPts val="0"/>
              </a:spcAft>
            </a:pPr>
            <a:r>
              <a:rPr sz="1200" b="0" i="0">
                <a:solidFill>
                  <a:srgbClr val="1F2A33"/>
                </a:solidFill>
                <a:latin typeface="Nunito"/>
              </a:rPr>
              <a:t>Best practice: Always review AI-generated SQL before production  •  Use EXPLAIN to validate query plans  •  Start with read-only access for AI agents</a:t>
            </a:r>
          </a:p>
        </p:txBody>
      </p:sp>
      <p:sp>
        <p:nvSpPr>
          <p:cNvPr id="18" name="TextBox 17"/>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4</a:t>
            </a:r>
          </a:p>
        </p:txBody>
      </p:sp>
      <p:sp>
        <p:nvSpPr>
          <p:cNvPr id="19" name="TextBox 18"/>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200" b="1" i="0">
                <a:solidFill>
                  <a:srgbClr val="1F2A33"/>
                </a:solidFill>
                <a:latin typeface="Bricolage Grotesque"/>
              </a:rPr>
              <a:t>When to Use What — Decision Guide</a:t>
            </a:r>
          </a:p>
        </p:txBody>
      </p:sp>
      <p:sp>
        <p:nvSpPr>
          <p:cNvPr id="3" name="Rounded Rectangle 2"/>
          <p:cNvSpPr/>
          <p:nvPr/>
        </p:nvSpPr>
        <p:spPr>
          <a:xfrm>
            <a:off x="548640" y="932688"/>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152144"/>
            <a:ext cx="11094415" cy="603504"/>
          </a:xfrm>
          <a:prstGeom prst="roundRect">
            <a:avLst>
              <a:gd name="adj" fmla="val 2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34440"/>
            <a:ext cx="68580" cy="43891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52144"/>
            <a:ext cx="5120640" cy="603504"/>
          </a:xfrm>
          <a:prstGeom prst="rect">
            <a:avLst/>
          </a:prstGeom>
          <a:noFill/>
        </p:spPr>
        <p:txBody>
          <a:bodyPr wrap="square" lIns="0" rIns="0" tIns="0" bIns="0" anchor="ctr">
            <a:spAutoFit/>
          </a:bodyPr>
          <a:lstStyle/>
          <a:p>
            <a:pPr>
              <a:lnSpc>
                <a:spcPct val="105000"/>
              </a:lnSpc>
              <a:spcAft>
                <a:spcPts val="0"/>
              </a:spcAft>
            </a:pPr>
            <a:r>
              <a:rPr sz="1300" b="0" i="0">
                <a:solidFill>
                  <a:srgbClr val="1F2A33"/>
                </a:solidFill>
                <a:latin typeface="Nunito"/>
              </a:rPr>
              <a:t>High-throughput OLTP with latch contention</a:t>
            </a:r>
          </a:p>
        </p:txBody>
      </p:sp>
      <p:sp>
        <p:nvSpPr>
          <p:cNvPr id="7" name="TextBox 6"/>
          <p:cNvSpPr txBox="1"/>
          <p:nvPr/>
        </p:nvSpPr>
        <p:spPr>
          <a:xfrm>
            <a:off x="6172200" y="1152144"/>
            <a:ext cx="5440680" cy="603504"/>
          </a:xfrm>
          <a:prstGeom prst="rect">
            <a:avLst/>
          </a:prstGeom>
          <a:noFill/>
        </p:spPr>
        <p:txBody>
          <a:bodyPr wrap="square" lIns="0" rIns="0" tIns="0" bIns="0" anchor="ctr">
            <a:spAutoFit/>
          </a:bodyPr>
          <a:lstStyle/>
          <a:p>
            <a:pPr>
              <a:lnSpc>
                <a:spcPct val="105000"/>
              </a:lnSpc>
              <a:spcAft>
                <a:spcPts val="0"/>
              </a:spcAft>
            </a:pPr>
            <a:r>
              <a:rPr sz="1300" b="1" i="0">
                <a:solidFill>
                  <a:srgbClr val="479EB6"/>
                </a:solidFill>
                <a:latin typeface="Nunito"/>
              </a:rPr>
              <a:t>In-memory OLTP tables + natively compiled SPs</a:t>
            </a:r>
          </a:p>
        </p:txBody>
      </p:sp>
      <p:sp>
        <p:nvSpPr>
          <p:cNvPr id="8" name="Rounded Rectangle 7"/>
          <p:cNvSpPr/>
          <p:nvPr/>
        </p:nvSpPr>
        <p:spPr>
          <a:xfrm>
            <a:off x="548640" y="1842516"/>
            <a:ext cx="11094415" cy="603504"/>
          </a:xfrm>
          <a:prstGeom prst="roundRect">
            <a:avLst>
              <a:gd name="adj" fmla="val 2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924812"/>
            <a:ext cx="68580" cy="438912"/>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42516"/>
            <a:ext cx="5120640" cy="603504"/>
          </a:xfrm>
          <a:prstGeom prst="rect">
            <a:avLst/>
          </a:prstGeom>
          <a:noFill/>
        </p:spPr>
        <p:txBody>
          <a:bodyPr wrap="square" lIns="0" rIns="0" tIns="0" bIns="0" anchor="ctr">
            <a:spAutoFit/>
          </a:bodyPr>
          <a:lstStyle/>
          <a:p>
            <a:pPr>
              <a:lnSpc>
                <a:spcPct val="105000"/>
              </a:lnSpc>
              <a:spcAft>
                <a:spcPts val="0"/>
              </a:spcAft>
            </a:pPr>
            <a:r>
              <a:rPr sz="1300" b="0" i="0">
                <a:solidFill>
                  <a:srgbClr val="1F2A33"/>
                </a:solidFill>
                <a:latin typeface="Nunito"/>
              </a:rPr>
              <a:t>Audit trail / data forensics / compliance</a:t>
            </a:r>
          </a:p>
        </p:txBody>
      </p:sp>
      <p:sp>
        <p:nvSpPr>
          <p:cNvPr id="11" name="TextBox 10"/>
          <p:cNvSpPr txBox="1"/>
          <p:nvPr/>
        </p:nvSpPr>
        <p:spPr>
          <a:xfrm>
            <a:off x="6172200" y="1842516"/>
            <a:ext cx="5440680" cy="603504"/>
          </a:xfrm>
          <a:prstGeom prst="rect">
            <a:avLst/>
          </a:prstGeom>
          <a:noFill/>
        </p:spPr>
        <p:txBody>
          <a:bodyPr wrap="square" lIns="0" rIns="0" tIns="0" bIns="0" anchor="ctr">
            <a:spAutoFit/>
          </a:bodyPr>
          <a:lstStyle/>
          <a:p>
            <a:pPr>
              <a:lnSpc>
                <a:spcPct val="105000"/>
              </a:lnSpc>
              <a:spcAft>
                <a:spcPts val="0"/>
              </a:spcAft>
            </a:pPr>
            <a:r>
              <a:rPr sz="1300" b="1" i="0">
                <a:solidFill>
                  <a:srgbClr val="D0760D"/>
                </a:solidFill>
                <a:latin typeface="Nunito"/>
              </a:rPr>
              <a:t>Ledger tables (updatable or append-only)</a:t>
            </a:r>
          </a:p>
        </p:txBody>
      </p:sp>
      <p:sp>
        <p:nvSpPr>
          <p:cNvPr id="12" name="Rounded Rectangle 11"/>
          <p:cNvSpPr/>
          <p:nvPr/>
        </p:nvSpPr>
        <p:spPr>
          <a:xfrm>
            <a:off x="548640" y="2532888"/>
            <a:ext cx="11094415" cy="603504"/>
          </a:xfrm>
          <a:prstGeom prst="roundRect">
            <a:avLst>
              <a:gd name="adj" fmla="val 2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2615184"/>
            <a:ext cx="68580" cy="438912"/>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532888"/>
            <a:ext cx="5120640" cy="603504"/>
          </a:xfrm>
          <a:prstGeom prst="rect">
            <a:avLst/>
          </a:prstGeom>
          <a:noFill/>
        </p:spPr>
        <p:txBody>
          <a:bodyPr wrap="square" lIns="0" rIns="0" tIns="0" bIns="0" anchor="ctr">
            <a:spAutoFit/>
          </a:bodyPr>
          <a:lstStyle/>
          <a:p>
            <a:pPr>
              <a:lnSpc>
                <a:spcPct val="105000"/>
              </a:lnSpc>
              <a:spcAft>
                <a:spcPts val="0"/>
              </a:spcAft>
            </a:pPr>
            <a:r>
              <a:rPr sz="1300" b="0" i="0">
                <a:solidFill>
                  <a:srgbClr val="1F2A33"/>
                </a:solidFill>
                <a:latin typeface="Nunito"/>
              </a:rPr>
              <a:t>Query external storage without import</a:t>
            </a:r>
          </a:p>
        </p:txBody>
      </p:sp>
      <p:sp>
        <p:nvSpPr>
          <p:cNvPr id="15" name="TextBox 14"/>
          <p:cNvSpPr txBox="1"/>
          <p:nvPr/>
        </p:nvSpPr>
        <p:spPr>
          <a:xfrm>
            <a:off x="6172200" y="2532888"/>
            <a:ext cx="5440680" cy="603504"/>
          </a:xfrm>
          <a:prstGeom prst="rect">
            <a:avLst/>
          </a:prstGeom>
          <a:noFill/>
        </p:spPr>
        <p:txBody>
          <a:bodyPr wrap="square" lIns="0" rIns="0" tIns="0" bIns="0" anchor="ctr">
            <a:spAutoFit/>
          </a:bodyPr>
          <a:lstStyle/>
          <a:p>
            <a:pPr>
              <a:lnSpc>
                <a:spcPct val="105000"/>
              </a:lnSpc>
              <a:spcAft>
                <a:spcPts val="0"/>
              </a:spcAft>
            </a:pPr>
            <a:r>
              <a:rPr sz="1300" b="1" i="0">
                <a:solidFill>
                  <a:srgbClr val="37677C"/>
                </a:solidFill>
                <a:latin typeface="Nunito"/>
              </a:rPr>
              <a:t>External tables with PolyBase / REST APIs</a:t>
            </a:r>
          </a:p>
        </p:txBody>
      </p:sp>
      <p:sp>
        <p:nvSpPr>
          <p:cNvPr id="16" name="Rounded Rectangle 15"/>
          <p:cNvSpPr/>
          <p:nvPr/>
        </p:nvSpPr>
        <p:spPr>
          <a:xfrm>
            <a:off x="548640" y="3223260"/>
            <a:ext cx="11094415" cy="603504"/>
          </a:xfrm>
          <a:prstGeom prst="roundRect">
            <a:avLst>
              <a:gd name="adj" fmla="val 2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305556"/>
            <a:ext cx="68580" cy="438912"/>
          </a:xfrm>
          <a:prstGeom prst="roundRect">
            <a:avLst>
              <a:gd name="adj" fmla="val 50000"/>
            </a:avLst>
          </a:prstGeom>
          <a:solidFill>
            <a:srgbClr val="E13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223260"/>
            <a:ext cx="5120640" cy="603504"/>
          </a:xfrm>
          <a:prstGeom prst="rect">
            <a:avLst/>
          </a:prstGeom>
          <a:noFill/>
        </p:spPr>
        <p:txBody>
          <a:bodyPr wrap="square" lIns="0" rIns="0" tIns="0" bIns="0" anchor="ctr">
            <a:spAutoFit/>
          </a:bodyPr>
          <a:lstStyle/>
          <a:p>
            <a:pPr>
              <a:lnSpc>
                <a:spcPct val="105000"/>
              </a:lnSpc>
              <a:spcAft>
                <a:spcPts val="0"/>
              </a:spcAft>
            </a:pPr>
            <a:r>
              <a:rPr sz="1300" b="0" i="0">
                <a:solidFill>
                  <a:srgbClr val="1F2A33"/>
                </a:solidFill>
                <a:latin typeface="Nunito"/>
              </a:rPr>
              <a:t>Complex relationships (social, fraud)</a:t>
            </a:r>
          </a:p>
        </p:txBody>
      </p:sp>
      <p:sp>
        <p:nvSpPr>
          <p:cNvPr id="19" name="TextBox 18"/>
          <p:cNvSpPr txBox="1"/>
          <p:nvPr/>
        </p:nvSpPr>
        <p:spPr>
          <a:xfrm>
            <a:off x="6172200" y="3223260"/>
            <a:ext cx="5440680" cy="603504"/>
          </a:xfrm>
          <a:prstGeom prst="rect">
            <a:avLst/>
          </a:prstGeom>
          <a:noFill/>
        </p:spPr>
        <p:txBody>
          <a:bodyPr wrap="square" lIns="0" rIns="0" tIns="0" bIns="0" anchor="ctr">
            <a:spAutoFit/>
          </a:bodyPr>
          <a:lstStyle/>
          <a:p>
            <a:pPr>
              <a:lnSpc>
                <a:spcPct val="105000"/>
              </a:lnSpc>
              <a:spcAft>
                <a:spcPts val="0"/>
              </a:spcAft>
            </a:pPr>
            <a:r>
              <a:rPr sz="1300" b="1" i="0">
                <a:solidFill>
                  <a:srgbClr val="BA322B"/>
                </a:solidFill>
                <a:latin typeface="Nunito"/>
              </a:rPr>
              <a:t>Graph tables + MATCH + SHORTEST_PATH</a:t>
            </a:r>
          </a:p>
        </p:txBody>
      </p:sp>
      <p:sp>
        <p:nvSpPr>
          <p:cNvPr id="20" name="Rounded Rectangle 19"/>
          <p:cNvSpPr/>
          <p:nvPr/>
        </p:nvSpPr>
        <p:spPr>
          <a:xfrm>
            <a:off x="548640" y="3913632"/>
            <a:ext cx="11094415" cy="603504"/>
          </a:xfrm>
          <a:prstGeom prst="roundRect">
            <a:avLst>
              <a:gd name="adj" fmla="val 2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3995928"/>
            <a:ext cx="68580" cy="438912"/>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913632"/>
            <a:ext cx="5120640" cy="603504"/>
          </a:xfrm>
          <a:prstGeom prst="rect">
            <a:avLst/>
          </a:prstGeom>
          <a:noFill/>
        </p:spPr>
        <p:txBody>
          <a:bodyPr wrap="square" lIns="0" rIns="0" tIns="0" bIns="0" anchor="ctr">
            <a:spAutoFit/>
          </a:bodyPr>
          <a:lstStyle/>
          <a:p>
            <a:pPr>
              <a:lnSpc>
                <a:spcPct val="105000"/>
              </a:lnSpc>
              <a:spcAft>
                <a:spcPts val="0"/>
              </a:spcAft>
            </a:pPr>
            <a:r>
              <a:rPr sz="1300" b="0" i="0">
                <a:solidFill>
                  <a:srgbClr val="1F2A33"/>
                </a:solidFill>
                <a:latin typeface="Nunito"/>
              </a:rPr>
              <a:t>Reusable read-only access layers</a:t>
            </a:r>
          </a:p>
        </p:txBody>
      </p:sp>
      <p:sp>
        <p:nvSpPr>
          <p:cNvPr id="23" name="TextBox 22"/>
          <p:cNvSpPr txBox="1"/>
          <p:nvPr/>
        </p:nvSpPr>
        <p:spPr>
          <a:xfrm>
            <a:off x="6172200" y="3913632"/>
            <a:ext cx="5440680" cy="603504"/>
          </a:xfrm>
          <a:prstGeom prst="rect">
            <a:avLst/>
          </a:prstGeom>
          <a:noFill/>
        </p:spPr>
        <p:txBody>
          <a:bodyPr wrap="square" lIns="0" rIns="0" tIns="0" bIns="0" anchor="ctr">
            <a:spAutoFit/>
          </a:bodyPr>
          <a:lstStyle/>
          <a:p>
            <a:pPr>
              <a:lnSpc>
                <a:spcPct val="105000"/>
              </a:lnSpc>
              <a:spcAft>
                <a:spcPts val="0"/>
              </a:spcAft>
            </a:pPr>
            <a:r>
              <a:rPr sz="1300" b="1" i="0">
                <a:solidFill>
                  <a:srgbClr val="359773"/>
                </a:solidFill>
                <a:latin typeface="Nunito"/>
              </a:rPr>
              <a:t>Views (standard or indexed for aggregation)</a:t>
            </a:r>
          </a:p>
        </p:txBody>
      </p:sp>
      <p:sp>
        <p:nvSpPr>
          <p:cNvPr id="24" name="Rounded Rectangle 23"/>
          <p:cNvSpPr/>
          <p:nvPr/>
        </p:nvSpPr>
        <p:spPr>
          <a:xfrm>
            <a:off x="548640" y="4604004"/>
            <a:ext cx="11094415" cy="603504"/>
          </a:xfrm>
          <a:prstGeom prst="roundRect">
            <a:avLst>
              <a:gd name="adj" fmla="val 2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4686300"/>
            <a:ext cx="68580" cy="438912"/>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04004"/>
            <a:ext cx="5120640" cy="603504"/>
          </a:xfrm>
          <a:prstGeom prst="rect">
            <a:avLst/>
          </a:prstGeom>
          <a:noFill/>
        </p:spPr>
        <p:txBody>
          <a:bodyPr wrap="square" lIns="0" rIns="0" tIns="0" bIns="0" anchor="ctr">
            <a:spAutoFit/>
          </a:bodyPr>
          <a:lstStyle/>
          <a:p>
            <a:pPr>
              <a:lnSpc>
                <a:spcPct val="105000"/>
              </a:lnSpc>
              <a:spcAft>
                <a:spcPts val="0"/>
              </a:spcAft>
            </a:pPr>
            <a:r>
              <a:rPr sz="1300" b="0" i="0">
                <a:solidFill>
                  <a:srgbClr val="1F2A33"/>
                </a:solidFill>
                <a:latin typeface="Nunito"/>
              </a:rPr>
              <a:t>Complex pattern matching / text parsing</a:t>
            </a:r>
          </a:p>
        </p:txBody>
      </p:sp>
      <p:sp>
        <p:nvSpPr>
          <p:cNvPr id="27" name="TextBox 26"/>
          <p:cNvSpPr txBox="1"/>
          <p:nvPr/>
        </p:nvSpPr>
        <p:spPr>
          <a:xfrm>
            <a:off x="6172200" y="4604004"/>
            <a:ext cx="5440680" cy="603504"/>
          </a:xfrm>
          <a:prstGeom prst="rect">
            <a:avLst/>
          </a:prstGeom>
          <a:noFill/>
        </p:spPr>
        <p:txBody>
          <a:bodyPr wrap="square" lIns="0" rIns="0" tIns="0" bIns="0" anchor="ctr">
            <a:spAutoFit/>
          </a:bodyPr>
          <a:lstStyle/>
          <a:p>
            <a:pPr>
              <a:lnSpc>
                <a:spcPct val="105000"/>
              </a:lnSpc>
              <a:spcAft>
                <a:spcPts val="0"/>
              </a:spcAft>
            </a:pPr>
            <a:r>
              <a:rPr sz="1300" b="1" i="0">
                <a:solidFill>
                  <a:srgbClr val="B75355"/>
                </a:solidFill>
                <a:latin typeface="Nunito"/>
              </a:rPr>
              <a:t>Regex functions (SQL 2025) + full-text index</a:t>
            </a:r>
          </a:p>
        </p:txBody>
      </p:sp>
      <p:sp>
        <p:nvSpPr>
          <p:cNvPr id="28" name="Rounded Rectangle 27"/>
          <p:cNvSpPr/>
          <p:nvPr/>
        </p:nvSpPr>
        <p:spPr>
          <a:xfrm>
            <a:off x="548640" y="5294376"/>
            <a:ext cx="11094415" cy="603504"/>
          </a:xfrm>
          <a:prstGeom prst="roundRect">
            <a:avLst>
              <a:gd name="adj" fmla="val 2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5376672"/>
            <a:ext cx="68580" cy="43891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94376"/>
            <a:ext cx="5120640" cy="603504"/>
          </a:xfrm>
          <a:prstGeom prst="rect">
            <a:avLst/>
          </a:prstGeom>
          <a:noFill/>
        </p:spPr>
        <p:txBody>
          <a:bodyPr wrap="square" lIns="0" rIns="0" tIns="0" bIns="0" anchor="ctr">
            <a:spAutoFit/>
          </a:bodyPr>
          <a:lstStyle/>
          <a:p>
            <a:pPr>
              <a:lnSpc>
                <a:spcPct val="105000"/>
              </a:lnSpc>
              <a:spcAft>
                <a:spcPts val="0"/>
              </a:spcAft>
            </a:pPr>
            <a:r>
              <a:rPr sz="1300" b="0" i="0">
                <a:solidFill>
                  <a:srgbClr val="1F2A33"/>
                </a:solidFill>
                <a:latin typeface="Nunito"/>
              </a:rPr>
              <a:t>AI-powered query authoring</a:t>
            </a:r>
          </a:p>
        </p:txBody>
      </p:sp>
      <p:sp>
        <p:nvSpPr>
          <p:cNvPr id="31" name="TextBox 30"/>
          <p:cNvSpPr txBox="1"/>
          <p:nvPr/>
        </p:nvSpPr>
        <p:spPr>
          <a:xfrm>
            <a:off x="6172200" y="5294376"/>
            <a:ext cx="5440680" cy="603504"/>
          </a:xfrm>
          <a:prstGeom prst="rect">
            <a:avLst/>
          </a:prstGeom>
          <a:noFill/>
        </p:spPr>
        <p:txBody>
          <a:bodyPr wrap="square" lIns="0" rIns="0" tIns="0" bIns="0" anchor="ctr">
            <a:spAutoFit/>
          </a:bodyPr>
          <a:lstStyle/>
          <a:p>
            <a:pPr>
              <a:lnSpc>
                <a:spcPct val="105000"/>
              </a:lnSpc>
              <a:spcAft>
                <a:spcPts val="0"/>
              </a:spcAft>
            </a:pPr>
            <a:r>
              <a:rPr sz="1300" b="1" i="0">
                <a:solidFill>
                  <a:srgbClr val="479EB6"/>
                </a:solidFill>
                <a:latin typeface="Nunito"/>
              </a:rPr>
              <a:t>GitHub Copilot in SSMS 22 / VS Code</a:t>
            </a:r>
          </a:p>
        </p:txBody>
      </p:sp>
      <p:sp>
        <p:nvSpPr>
          <p:cNvPr id="32" name="Rounded Rectangle 31"/>
          <p:cNvSpPr/>
          <p:nvPr/>
        </p:nvSpPr>
        <p:spPr>
          <a:xfrm>
            <a:off x="548640" y="5984748"/>
            <a:ext cx="11094415" cy="603504"/>
          </a:xfrm>
          <a:prstGeom prst="roundRect">
            <a:avLst>
              <a:gd name="adj" fmla="val 22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48640" y="6067044"/>
            <a:ext cx="68580" cy="438912"/>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984748"/>
            <a:ext cx="5120640" cy="603504"/>
          </a:xfrm>
          <a:prstGeom prst="rect">
            <a:avLst/>
          </a:prstGeom>
          <a:noFill/>
        </p:spPr>
        <p:txBody>
          <a:bodyPr wrap="square" lIns="0" rIns="0" tIns="0" bIns="0" anchor="ctr">
            <a:spAutoFit/>
          </a:bodyPr>
          <a:lstStyle/>
          <a:p>
            <a:pPr>
              <a:lnSpc>
                <a:spcPct val="105000"/>
              </a:lnSpc>
              <a:spcAft>
                <a:spcPts val="0"/>
              </a:spcAft>
            </a:pPr>
            <a:r>
              <a:rPr sz="1300" b="0" i="0">
                <a:solidFill>
                  <a:srgbClr val="1F2A33"/>
                </a:solidFill>
                <a:latin typeface="Nunito"/>
              </a:rPr>
              <a:t>AI agent database operations</a:t>
            </a:r>
          </a:p>
        </p:txBody>
      </p:sp>
      <p:sp>
        <p:nvSpPr>
          <p:cNvPr id="35" name="TextBox 34"/>
          <p:cNvSpPr txBox="1"/>
          <p:nvPr/>
        </p:nvSpPr>
        <p:spPr>
          <a:xfrm>
            <a:off x="6172200" y="5984748"/>
            <a:ext cx="5440680" cy="603504"/>
          </a:xfrm>
          <a:prstGeom prst="rect">
            <a:avLst/>
          </a:prstGeom>
          <a:noFill/>
        </p:spPr>
        <p:txBody>
          <a:bodyPr wrap="square" lIns="0" rIns="0" tIns="0" bIns="0" anchor="ctr">
            <a:spAutoFit/>
          </a:bodyPr>
          <a:lstStyle/>
          <a:p>
            <a:pPr>
              <a:lnSpc>
                <a:spcPct val="105000"/>
              </a:lnSpc>
              <a:spcAft>
                <a:spcPts val="0"/>
              </a:spcAft>
            </a:pPr>
            <a:r>
              <a:rPr sz="1300" b="1" i="0">
                <a:solidFill>
                  <a:srgbClr val="D0760D"/>
                </a:solidFill>
                <a:latin typeface="Nunito"/>
              </a:rPr>
              <a:t>SQL MCP Server + Data API Builder + RBAC</a:t>
            </a:r>
          </a:p>
        </p:txBody>
      </p:sp>
      <p:sp>
        <p:nvSpPr>
          <p:cNvPr id="36" name="TextBox 35"/>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4</a:t>
            </a:r>
          </a:p>
        </p:txBody>
      </p:sp>
      <p:sp>
        <p:nvSpPr>
          <p:cNvPr id="37" name="TextBox 36"/>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4415" cy="658368"/>
          </a:xfrm>
          <a:prstGeom prst="rect">
            <a:avLst/>
          </a:prstGeom>
          <a:noFill/>
        </p:spPr>
        <p:txBody>
          <a:bodyPr wrap="square" lIns="0" rIns="0" tIns="0" bIns="0">
            <a:spAutoFit/>
          </a:bodyPr>
          <a:lstStyle/>
          <a:p>
            <a:pPr>
              <a:lnSpc>
                <a:spcPct val="105000"/>
              </a:lnSpc>
              <a:spcAft>
                <a:spcPts val="0"/>
              </a:spcAft>
            </a:pPr>
            <a:r>
              <a:rPr sz="3600" b="1" i="0">
                <a:solidFill>
                  <a:srgbClr val="1F2A33"/>
                </a:solidFill>
                <a:latin typeface="Bricolage Grotesque"/>
              </a:rPr>
              <a:t>Key Takeaways</a:t>
            </a:r>
          </a:p>
        </p:txBody>
      </p:sp>
      <p:sp>
        <p:nvSpPr>
          <p:cNvPr id="3" name="Rounded Rectangle 2"/>
          <p:cNvSpPr/>
          <p:nvPr/>
        </p:nvSpPr>
        <p:spPr>
          <a:xfrm>
            <a:off x="548640" y="932688"/>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r.png"/>
          <p:cNvPicPr>
            <a:picLocks noChangeAspect="1"/>
          </p:cNvPicPr>
          <p:nvPr/>
        </p:nvPicPr>
        <p:blipFill>
          <a:blip r:embed="rId2"/>
          <a:stretch>
            <a:fillRect/>
          </a:stretch>
        </p:blipFill>
        <p:spPr>
          <a:xfrm>
            <a:off x="640080" y="1298448"/>
            <a:ext cx="329184" cy="329184"/>
          </a:xfrm>
          <a:prstGeom prst="rect">
            <a:avLst/>
          </a:prstGeom>
        </p:spPr>
      </p:pic>
      <p:sp>
        <p:nvSpPr>
          <p:cNvPr id="5" name="TextBox 4"/>
          <p:cNvSpPr txBox="1"/>
          <p:nvPr/>
        </p:nvSpPr>
        <p:spPr>
          <a:xfrm>
            <a:off x="1188720" y="1243584"/>
            <a:ext cx="10332720" cy="566928"/>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SQL Server runs everywhere — on-premises, Docker, Azure PaaS, and Fabric</a:t>
            </a:r>
          </a:p>
        </p:txBody>
      </p:sp>
      <p:pic>
        <p:nvPicPr>
          <p:cNvPr id="6" name="Picture 5" descr="star.png"/>
          <p:cNvPicPr>
            <a:picLocks noChangeAspect="1"/>
          </p:cNvPicPr>
          <p:nvPr/>
        </p:nvPicPr>
        <p:blipFill>
          <a:blip r:embed="rId2"/>
          <a:stretch>
            <a:fillRect/>
          </a:stretch>
        </p:blipFill>
        <p:spPr>
          <a:xfrm>
            <a:off x="640080" y="1956815"/>
            <a:ext cx="329184" cy="329184"/>
          </a:xfrm>
          <a:prstGeom prst="rect">
            <a:avLst/>
          </a:prstGeom>
        </p:spPr>
      </p:pic>
      <p:sp>
        <p:nvSpPr>
          <p:cNvPr id="7" name="TextBox 6"/>
          <p:cNvSpPr txBox="1"/>
          <p:nvPr/>
        </p:nvSpPr>
        <p:spPr>
          <a:xfrm>
            <a:off x="1188720" y="1901951"/>
            <a:ext cx="10332720" cy="566928"/>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Match table types to workloads: temporal for audit, ledger for compliance, graph for relationships</a:t>
            </a:r>
          </a:p>
        </p:txBody>
      </p:sp>
      <p:pic>
        <p:nvPicPr>
          <p:cNvPr id="8" name="Picture 7" descr="star.png"/>
          <p:cNvPicPr>
            <a:picLocks noChangeAspect="1"/>
          </p:cNvPicPr>
          <p:nvPr/>
        </p:nvPicPr>
        <p:blipFill>
          <a:blip r:embed="rId2"/>
          <a:stretch>
            <a:fillRect/>
          </a:stretch>
        </p:blipFill>
        <p:spPr>
          <a:xfrm>
            <a:off x="640080" y="2615183"/>
            <a:ext cx="329184" cy="329184"/>
          </a:xfrm>
          <a:prstGeom prst="rect">
            <a:avLst/>
          </a:prstGeom>
        </p:spPr>
      </p:pic>
      <p:sp>
        <p:nvSpPr>
          <p:cNvPr id="9" name="TextBox 8"/>
          <p:cNvSpPr txBox="1"/>
          <p:nvPr/>
        </p:nvSpPr>
        <p:spPr>
          <a:xfrm>
            <a:off x="1188720" y="2560319"/>
            <a:ext cx="10332720" cy="566928"/>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Choose the right index: clustered for OLTP, columnstore for analytics, JSON index for 2025+</a:t>
            </a:r>
          </a:p>
        </p:txBody>
      </p:sp>
      <p:pic>
        <p:nvPicPr>
          <p:cNvPr id="10" name="Picture 9" descr="star.png"/>
          <p:cNvPicPr>
            <a:picLocks noChangeAspect="1"/>
          </p:cNvPicPr>
          <p:nvPr/>
        </p:nvPicPr>
        <p:blipFill>
          <a:blip r:embed="rId2"/>
          <a:stretch>
            <a:fillRect/>
          </a:stretch>
        </p:blipFill>
        <p:spPr>
          <a:xfrm>
            <a:off x="640080" y="3273551"/>
            <a:ext cx="329184" cy="329184"/>
          </a:xfrm>
          <a:prstGeom prst="rect">
            <a:avLst/>
          </a:prstGeom>
        </p:spPr>
      </p:pic>
      <p:sp>
        <p:nvSpPr>
          <p:cNvPr id="11" name="TextBox 10"/>
          <p:cNvSpPr txBox="1"/>
          <p:nvPr/>
        </p:nvSpPr>
        <p:spPr>
          <a:xfrm>
            <a:off x="1188720" y="3218687"/>
            <a:ext cx="10332720" cy="566928"/>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Encapsulate logic in SPs and functions — use views for secure, reusable read access</a:t>
            </a:r>
          </a:p>
        </p:txBody>
      </p:sp>
      <p:pic>
        <p:nvPicPr>
          <p:cNvPr id="12" name="Picture 11" descr="star.png"/>
          <p:cNvPicPr>
            <a:picLocks noChangeAspect="1"/>
          </p:cNvPicPr>
          <p:nvPr/>
        </p:nvPicPr>
        <p:blipFill>
          <a:blip r:embed="rId2"/>
          <a:stretch>
            <a:fillRect/>
          </a:stretch>
        </p:blipFill>
        <p:spPr>
          <a:xfrm>
            <a:off x="640080" y="3931919"/>
            <a:ext cx="329184" cy="329184"/>
          </a:xfrm>
          <a:prstGeom prst="rect">
            <a:avLst/>
          </a:prstGeom>
        </p:spPr>
      </p:pic>
      <p:sp>
        <p:nvSpPr>
          <p:cNvPr id="13" name="TextBox 12"/>
          <p:cNvSpPr txBox="1"/>
          <p:nvPr/>
        </p:nvSpPr>
        <p:spPr>
          <a:xfrm>
            <a:off x="1188720" y="3877055"/>
            <a:ext cx="10332720" cy="566928"/>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Window functions and CTEs replace complex self-joins and correlated subqueries</a:t>
            </a:r>
          </a:p>
        </p:txBody>
      </p:sp>
      <p:pic>
        <p:nvPicPr>
          <p:cNvPr id="14" name="Picture 13" descr="star.png"/>
          <p:cNvPicPr>
            <a:picLocks noChangeAspect="1"/>
          </p:cNvPicPr>
          <p:nvPr/>
        </p:nvPicPr>
        <p:blipFill>
          <a:blip r:embed="rId2"/>
          <a:stretch>
            <a:fillRect/>
          </a:stretch>
        </p:blipFill>
        <p:spPr>
          <a:xfrm>
            <a:off x="640080" y="4590287"/>
            <a:ext cx="329184" cy="329184"/>
          </a:xfrm>
          <a:prstGeom prst="rect">
            <a:avLst/>
          </a:prstGeom>
        </p:spPr>
      </p:pic>
      <p:sp>
        <p:nvSpPr>
          <p:cNvPr id="15" name="TextBox 14"/>
          <p:cNvSpPr txBox="1"/>
          <p:nvPr/>
        </p:nvSpPr>
        <p:spPr>
          <a:xfrm>
            <a:off x="1188720" y="4535423"/>
            <a:ext cx="10332720" cy="566928"/>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SQL Server 2025 adds native regex, fuzzy matching, and JSON type improvements</a:t>
            </a:r>
          </a:p>
        </p:txBody>
      </p:sp>
      <p:pic>
        <p:nvPicPr>
          <p:cNvPr id="16" name="Picture 15" descr="star.png"/>
          <p:cNvPicPr>
            <a:picLocks noChangeAspect="1"/>
          </p:cNvPicPr>
          <p:nvPr/>
        </p:nvPicPr>
        <p:blipFill>
          <a:blip r:embed="rId2"/>
          <a:stretch>
            <a:fillRect/>
          </a:stretch>
        </p:blipFill>
        <p:spPr>
          <a:xfrm>
            <a:off x="640080" y="5248655"/>
            <a:ext cx="329184" cy="329184"/>
          </a:xfrm>
          <a:prstGeom prst="rect">
            <a:avLst/>
          </a:prstGeom>
        </p:spPr>
      </p:pic>
      <p:sp>
        <p:nvSpPr>
          <p:cNvPr id="17" name="TextBox 16"/>
          <p:cNvSpPr txBox="1"/>
          <p:nvPr/>
        </p:nvSpPr>
        <p:spPr>
          <a:xfrm>
            <a:off x="1188720" y="5193791"/>
            <a:ext cx="10332720" cy="566928"/>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GitHub Copilot + Fabric Copilot accelerate SQL authoring with schema-aware AI</a:t>
            </a:r>
          </a:p>
        </p:txBody>
      </p:sp>
      <p:pic>
        <p:nvPicPr>
          <p:cNvPr id="18" name="Picture 17" descr="star.png"/>
          <p:cNvPicPr>
            <a:picLocks noChangeAspect="1"/>
          </p:cNvPicPr>
          <p:nvPr/>
        </p:nvPicPr>
        <p:blipFill>
          <a:blip r:embed="rId2"/>
          <a:stretch>
            <a:fillRect/>
          </a:stretch>
        </p:blipFill>
        <p:spPr>
          <a:xfrm>
            <a:off x="640080" y="5907023"/>
            <a:ext cx="329184" cy="329184"/>
          </a:xfrm>
          <a:prstGeom prst="rect">
            <a:avLst/>
          </a:prstGeom>
        </p:spPr>
      </p:pic>
      <p:sp>
        <p:nvSpPr>
          <p:cNvPr id="19" name="TextBox 18"/>
          <p:cNvSpPr txBox="1"/>
          <p:nvPr/>
        </p:nvSpPr>
        <p:spPr>
          <a:xfrm>
            <a:off x="1188720" y="5852159"/>
            <a:ext cx="10332720" cy="566928"/>
          </a:xfrm>
          <a:prstGeom prst="rect">
            <a:avLst/>
          </a:prstGeom>
          <a:noFill/>
        </p:spPr>
        <p:txBody>
          <a:bodyPr wrap="square" lIns="0" rIns="0" tIns="0" bIns="0">
            <a:spAutoFit/>
          </a:bodyPr>
          <a:lstStyle/>
          <a:p>
            <a:pPr>
              <a:lnSpc>
                <a:spcPct val="105000"/>
              </a:lnSpc>
              <a:spcAft>
                <a:spcPts val="0"/>
              </a:spcAft>
            </a:pPr>
            <a:r>
              <a:rPr sz="1500" b="0" i="0">
                <a:solidFill>
                  <a:srgbClr val="1F2A33"/>
                </a:solidFill>
                <a:latin typeface="Nunito"/>
              </a:rPr>
              <a:t>MCP connects AI agents to databases safely with RBAC and standard protocols</a:t>
            </a:r>
          </a:p>
        </p:txBody>
      </p:sp>
      <p:pic>
        <p:nvPicPr>
          <p:cNvPr id="20" name="Picture 19" descr="captain-corgi-avatar.png"/>
          <p:cNvPicPr>
            <a:picLocks noChangeAspect="1"/>
          </p:cNvPicPr>
          <p:nvPr/>
        </p:nvPicPr>
        <p:blipFill>
          <a:blip r:embed="rId3"/>
          <a:stretch>
            <a:fillRect/>
          </a:stretch>
        </p:blipFill>
        <p:spPr>
          <a:xfrm>
            <a:off x="10317176" y="5074920"/>
            <a:ext cx="1325880" cy="1325880"/>
          </a:xfrm>
          <a:prstGeom prst="rect">
            <a:avLst/>
          </a:prstGeom>
        </p:spPr>
      </p:pic>
      <p:sp>
        <p:nvSpPr>
          <p:cNvPr id="21" name="TextBox 20"/>
          <p:cNvSpPr txBox="1"/>
          <p:nvPr/>
        </p:nvSpPr>
        <p:spPr>
          <a:xfrm>
            <a:off x="502920" y="6519672"/>
            <a:ext cx="61976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DESIGN AND DEVELOP SQL · MODULE 4</a:t>
            </a:r>
          </a:p>
        </p:txBody>
      </p:sp>
      <p:sp>
        <p:nvSpPr>
          <p:cNvPr id="22" name="TextBox 21"/>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457200"/>
            <a:ext cx="6000000" cy="658368"/>
          </a:xfrm>
          <a:prstGeom prst="rect">
            <a:avLst/>
          </a:prstGeom>
          <a:noFill/>
        </p:spPr>
        <p:txBody>
          <a:bodyPr wrap="square" lIns="0" rIns="0" tIns="0" bIns="0" anchor="t">
            <a:spAutoFit/>
          </a:bodyPr>
          <a:lstStyle/>
          <a:p>
            <a:pPr algn="l">
              <a:lnSpc>
                <a:spcPct val="100000"/>
              </a:lnSpc>
              <a:spcBef>
                <a:spcPts val="0"/>
              </a:spcBef>
              <a:spcAft>
                <a:spcPts val="0"/>
              </a:spcAft>
            </a:pPr>
            <a:r>
              <a:rPr sz="3600" b="1" i="0">
                <a:solidFill>
                  <a:srgbClr val="1F2A33"/>
                </a:solidFill>
                <a:latin typeface="Bricolage Grotesque"/>
              </a:rPr>
              <a:t>References</a:t>
            </a:r>
          </a:p>
        </p:txBody>
      </p:sp>
      <p:sp>
        <p:nvSpPr>
          <p:cNvPr id="3" name="Rounded Rectangle 2"/>
          <p:cNvSpPr/>
          <p:nvPr/>
        </p:nvSpPr>
        <p:spPr>
          <a:xfrm>
            <a:off x="548640" y="1165560"/>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8712"/>
            <a:ext cx="11094415" cy="400000"/>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5A6B76"/>
                </a:solidFill>
                <a:latin typeface="Nunito"/>
              </a:rPr>
              <a:t>Bookmark these — they cover the official exam page and the full video series.</a:t>
            </a:r>
          </a:p>
        </p:txBody>
      </p:sp>
      <p:sp>
        <p:nvSpPr>
          <p:cNvPr id="5" name="Rounded Rectangle 4"/>
          <p:cNvSpPr/>
          <p:nvPr/>
        </p:nvSpPr>
        <p:spPr>
          <a:xfrm>
            <a:off x="548640" y="1968712"/>
            <a:ext cx="11094415" cy="140000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394392"/>
            <a:ext cx="548640" cy="548640"/>
          </a:xfrm>
          <a:prstGeom prst="ellipse">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94392"/>
            <a:ext cx="548640" cy="548640"/>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F6F2EA"/>
                </a:solidFill>
                <a:latin typeface="Nunito"/>
              </a:rPr>
              <a:t>01</a:t>
            </a:r>
          </a:p>
        </p:txBody>
      </p:sp>
      <p:sp>
        <p:nvSpPr>
          <p:cNvPr id="8" name="TextBox 7"/>
          <p:cNvSpPr txBox="1"/>
          <p:nvPr/>
        </p:nvSpPr>
        <p:spPr>
          <a:xfrm>
            <a:off x="1508760" y="2188168"/>
            <a:ext cx="9905695" cy="320040"/>
          </a:xfrm>
          <a:prstGeom prst="rect">
            <a:avLst/>
          </a:prstGeom>
          <a:noFill/>
        </p:spPr>
        <p:txBody>
          <a:bodyPr wrap="square" lIns="0" rIns="0" tIns="0" bIns="0" anchor="t">
            <a:spAutoFit/>
          </a:bodyPr>
          <a:lstStyle/>
          <a:p>
            <a:pPr algn="l">
              <a:lnSpc>
                <a:spcPct val="100000"/>
              </a:lnSpc>
              <a:spcBef>
                <a:spcPts val="0"/>
              </a:spcBef>
              <a:spcAft>
                <a:spcPts val="0"/>
              </a:spcAft>
            </a:pPr>
            <a:r>
              <a:rPr sz="1400" b="1" i="0">
                <a:solidFill>
                  <a:srgbClr val="1F2A33"/>
                </a:solidFill>
                <a:latin typeface="Nunito"/>
              </a:rPr>
              <a:t>Official DP-800 certification page</a:t>
            </a:r>
          </a:p>
        </p:txBody>
      </p:sp>
      <p:sp>
        <p:nvSpPr>
          <p:cNvPr id="9" name="TextBox 8"/>
          <p:cNvSpPr txBox="1"/>
          <p:nvPr/>
        </p:nvSpPr>
        <p:spPr>
          <a:xfrm>
            <a:off x="1508760" y="2571580"/>
            <a:ext cx="9905695" cy="700000"/>
          </a:xfrm>
          <a:prstGeom prst="rect">
            <a:avLst/>
          </a:prstGeom>
          <a:noFill/>
        </p:spPr>
        <p:txBody>
          <a:bodyPr wrap="square" lIns="0" rIns="0" tIns="0" bIns="0" anchor="t">
            <a:spAutoFit/>
          </a:bodyPr>
          <a:lstStyle/>
          <a:p>
            <a:pPr algn="l">
              <a:lnSpc>
                <a:spcPct val="100000"/>
              </a:lnSpc>
              <a:spcBef>
                <a:spcPts val="0"/>
              </a:spcBef>
              <a:spcAft>
                <a:spcPts val="0"/>
              </a:spcAft>
            </a:pPr>
            <a:r>
              <a:rPr sz="1100" b="0" i="0" spc="10">
                <a:solidFill>
                  <a:srgbClr val="2E9CBA"/>
                </a:solidFill>
                <a:latin typeface="JetBrains Mono"/>
              </a:rPr>
              <a:t>https://learn.microsoft.com/en-us/credentials/certifications/developing-ai-enabled-database-solutions/?practice-assessment-type=certification</a:t>
            </a:r>
          </a:p>
        </p:txBody>
      </p:sp>
      <p:sp>
        <p:nvSpPr>
          <p:cNvPr id="10" name="Rounded Rectangle 9"/>
          <p:cNvSpPr/>
          <p:nvPr/>
        </p:nvSpPr>
        <p:spPr>
          <a:xfrm>
            <a:off x="548640" y="3618712"/>
            <a:ext cx="11094415" cy="140000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4044392"/>
            <a:ext cx="548640" cy="548640"/>
          </a:xfrm>
          <a:prstGeom prst="ellipse">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44392"/>
            <a:ext cx="548640" cy="548640"/>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F6F2EA"/>
                </a:solidFill>
                <a:latin typeface="Nunito"/>
              </a:rPr>
              <a:t>02</a:t>
            </a:r>
          </a:p>
        </p:txBody>
      </p:sp>
      <p:sp>
        <p:nvSpPr>
          <p:cNvPr id="13" name="TextBox 12"/>
          <p:cNvSpPr txBox="1"/>
          <p:nvPr/>
        </p:nvSpPr>
        <p:spPr>
          <a:xfrm>
            <a:off x="1508760" y="3838168"/>
            <a:ext cx="9905695" cy="320040"/>
          </a:xfrm>
          <a:prstGeom prst="rect">
            <a:avLst/>
          </a:prstGeom>
          <a:noFill/>
        </p:spPr>
        <p:txBody>
          <a:bodyPr wrap="square" lIns="0" rIns="0" tIns="0" bIns="0" anchor="t">
            <a:spAutoFit/>
          </a:bodyPr>
          <a:lstStyle/>
          <a:p>
            <a:pPr algn="l">
              <a:lnSpc>
                <a:spcPct val="100000"/>
              </a:lnSpc>
              <a:spcBef>
                <a:spcPts val="0"/>
              </a:spcBef>
              <a:spcAft>
                <a:spcPts val="0"/>
              </a:spcAft>
            </a:pPr>
            <a:r>
              <a:rPr sz="1400" b="1" i="0">
                <a:solidFill>
                  <a:srgbClr val="1F2A33"/>
                </a:solidFill>
                <a:latin typeface="Nunito"/>
              </a:rPr>
              <a:t>Community series — Microsoft Reactor (Data Days: The SQL AI Series)</a:t>
            </a:r>
          </a:p>
        </p:txBody>
      </p:sp>
      <p:sp>
        <p:nvSpPr>
          <p:cNvPr id="14" name="TextBox 13"/>
          <p:cNvSpPr txBox="1"/>
          <p:nvPr/>
        </p:nvSpPr>
        <p:spPr>
          <a:xfrm>
            <a:off x="1508760" y="4221580"/>
            <a:ext cx="9905695" cy="700000"/>
          </a:xfrm>
          <a:prstGeom prst="rect">
            <a:avLst/>
          </a:prstGeom>
          <a:noFill/>
        </p:spPr>
        <p:txBody>
          <a:bodyPr wrap="square" lIns="0" rIns="0" tIns="0" bIns="0" anchor="t">
            <a:spAutoFit/>
          </a:bodyPr>
          <a:lstStyle/>
          <a:p>
            <a:pPr algn="l">
              <a:lnSpc>
                <a:spcPct val="100000"/>
              </a:lnSpc>
              <a:spcBef>
                <a:spcPts val="0"/>
              </a:spcBef>
              <a:spcAft>
                <a:spcPts val="0"/>
              </a:spcAft>
            </a:pPr>
            <a:r>
              <a:rPr sz="1100" b="0" i="0" spc="10">
                <a:solidFill>
                  <a:srgbClr val="2E9CBA"/>
                </a:solidFill>
                <a:latin typeface="JetBrains Mono"/>
              </a:rPr>
              <a:t>https://developer.microsoft.com/en-us/reactor/series/S-1683/?wt.mc_id=datadayslive_S-1683_email_reactor</a:t>
            </a:r>
          </a:p>
        </p:txBody>
      </p:sp>
      <p:pic>
        <p:nvPicPr>
          <p:cNvPr id="15" name="Picture 14" descr="captain-corgi-avatar.png"/>
          <p:cNvPicPr>
            <a:picLocks noChangeAspect="1"/>
          </p:cNvPicPr>
          <p:nvPr/>
        </p:nvPicPr>
        <p:blipFill>
          <a:blip r:embed="rId2"/>
          <a:srcRect/>
          <a:stretch>
            <a:fillRect/>
          </a:stretch>
        </p:blipFill>
        <p:spPr>
          <a:xfrm>
            <a:off x="10443055" y="5109360"/>
            <a:ext cx="1200000" cy="1200000"/>
          </a:xfrm>
          <a:prstGeom prst="ellipse">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3D768E"/>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2C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2C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rcRect/>
          <a:stretch>
            <a:fillRect/>
          </a:stretch>
        </p:blipFill>
        <p:spPr>
          <a:xfrm>
            <a:off x="5181447" y="457200"/>
            <a:ext cx="1828800" cy="1828800"/>
          </a:xfrm>
          <a:prstGeom prst="ellipse">
            <a:avLst/>
          </a:prstGeom>
        </p:spPr>
      </p:pic>
      <p:sp>
        <p:nvSpPr>
          <p:cNvPr id="5" name="TextBox 4"/>
          <p:cNvSpPr txBox="1"/>
          <p:nvPr/>
        </p:nvSpPr>
        <p:spPr>
          <a:xfrm>
            <a:off x="1523847" y="2505456"/>
            <a:ext cx="9144000" cy="1645920"/>
          </a:xfrm>
          <a:prstGeom prst="rect">
            <a:avLst/>
          </a:prstGeom>
          <a:noFill/>
        </p:spPr>
        <p:txBody>
          <a:bodyPr wrap="square" lIns="0" rIns="0" tIns="0" bIns="0" anchor="t">
            <a:spAutoFit/>
          </a:bodyPr>
          <a:lstStyle/>
          <a:p>
            <a:pPr algn="ctr">
              <a:lnSpc>
                <a:spcPct val="103000"/>
              </a:lnSpc>
              <a:spcBef>
                <a:spcPts val="0"/>
              </a:spcBef>
              <a:spcAft>
                <a:spcPts val="0"/>
              </a:spcAft>
            </a:pPr>
            <a:r>
              <a:rPr sz="5400" b="1" i="0">
                <a:solidFill>
                  <a:srgbClr val="F6F2EA"/>
                </a:solidFill>
                <a:latin typeface="Bricolage Grotesque"/>
              </a:rPr>
              <a:t>Thank you,</a:t>
            </a:r>
          </a:p>
          <a:p>
            <a:pPr algn="ctr">
              <a:lnSpc>
                <a:spcPct val="103000"/>
              </a:lnSpc>
              <a:spcBef>
                <a:spcPts val="0"/>
              </a:spcBef>
              <a:spcAft>
                <a:spcPts val="0"/>
              </a:spcAft>
            </a:pPr>
            <a:r>
              <a:rPr sz="5400" b="1" i="0">
                <a:solidFill>
                  <a:srgbClr val="FBC00A"/>
                </a:solidFill>
                <a:latin typeface="Bricolage Grotesque"/>
              </a:rPr>
              <a:t>crew!</a:t>
            </a:r>
          </a:p>
        </p:txBody>
      </p:sp>
      <p:sp>
        <p:nvSpPr>
          <p:cNvPr id="6" name="Rounded Rectangle 5"/>
          <p:cNvSpPr/>
          <p:nvPr/>
        </p:nvSpPr>
        <p:spPr>
          <a:xfrm>
            <a:off x="5766663" y="4251376"/>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81047" y="4507408"/>
            <a:ext cx="8229600" cy="700000"/>
          </a:xfrm>
          <a:prstGeom prst="rect">
            <a:avLst/>
          </a:prstGeom>
          <a:noFill/>
        </p:spPr>
        <p:txBody>
          <a:bodyPr wrap="square" lIns="0" rIns="0" tIns="0" bIns="0" anchor="t">
            <a:spAutoFit/>
          </a:bodyPr>
          <a:lstStyle/>
          <a:p>
            <a:pPr algn="ctr">
              <a:lnSpc>
                <a:spcPct val="125000"/>
              </a:lnSpc>
              <a:spcBef>
                <a:spcPts val="0"/>
              </a:spcBef>
              <a:spcAft>
                <a:spcPts val="0"/>
              </a:spcAft>
            </a:pPr>
            <a:r>
              <a:rPr sz="1600" b="0" i="0">
                <a:solidFill>
                  <a:srgbClr val="F0ECE4"/>
                </a:solidFill>
                <a:latin typeface="Nunito"/>
              </a:rPr>
              <a:t>You've got the skills to design robust database objects and write advanced, maintainable T-SQL — now go build something great.</a:t>
            </a:r>
          </a:p>
        </p:txBody>
      </p:sp>
      <p:sp>
        <p:nvSpPr>
          <p:cNvPr id="8" name="TextBox 7"/>
          <p:cNvSpPr txBox="1"/>
          <p:nvPr/>
        </p:nvSpPr>
        <p:spPr>
          <a:xfrm>
            <a:off x="1523847" y="6446520"/>
            <a:ext cx="9144000" cy="320040"/>
          </a:xfrm>
          <a:prstGeom prst="rect">
            <a:avLst/>
          </a:prstGeom>
          <a:noFill/>
        </p:spPr>
        <p:txBody>
          <a:bodyPr wrap="square" lIns="0" rIns="0" tIns="0" bIns="0" anchor="t">
            <a:spAutoFit/>
          </a:bodyPr>
          <a:lstStyle/>
          <a:p>
            <a:pPr algn="ctr">
              <a:lnSpc>
                <a:spcPct val="100000"/>
              </a:lnSpc>
              <a:spcBef>
                <a:spcPts val="0"/>
              </a:spcBef>
              <a:spcAft>
                <a:spcPts val="0"/>
              </a:spcAft>
            </a:pPr>
            <a:r>
              <a:rPr sz="1000" b="0" i="0" spc="60">
                <a:solidFill>
                  <a:srgbClr val="9FC3D1"/>
                </a:solidFill>
                <a:latin typeface="JetBrains Mono"/>
              </a:rPr>
              <a:t>captain-corgi-hub · set sail on better software</a:t>
            </a:r>
          </a:p>
        </p:txBody>
      </p:sp>
    </p:spTree>
  </p:cSld>
  <p:clrMapOvr>
    <a:masterClrMapping/>
  </p:clrMapOvr>
</p:sld>
</file>

<file path=ppt/theme/theme1.xml><?xml version="1.0" encoding="utf-8"?>
<a:theme xmlns:a="http://schemas.openxmlformats.org/drawingml/2006/main" name="Office Theme">
  <a:themeElements>
    <a:clrScheme name="Captain Corgi Hub">
      <a:dk1>
        <a:srgbClr val="1F2A33"/>
      </a:dk1>
      <a:lt1>
        <a:srgbClr val="F6F2EA"/>
      </a:lt1>
      <a:dk2>
        <a:srgbClr val="3D768E"/>
      </a:dk2>
      <a:lt2>
        <a:srgbClr val="EFE9DC"/>
      </a:lt2>
      <a:accent1>
        <a:srgbClr val="FC8903"/>
      </a:accent1>
      <a:accent2>
        <a:srgbClr val="E13429"/>
      </a:accent2>
      <a:accent3>
        <a:srgbClr val="FBC00A"/>
      </a:accent3>
      <a:accent4>
        <a:srgbClr val="51BBD7"/>
      </a:accent4>
      <a:accent5>
        <a:srgbClr val="3BB283"/>
      </a:accent5>
      <a:accent6>
        <a:srgbClr val="DD5D5D"/>
      </a:accent6>
      <a:hlink>
        <a:srgbClr val="2E9CBA"/>
      </a:hlink>
      <a:folHlink>
        <a:srgbClr val="E13429"/>
      </a:folHlink>
    </a:clrScheme>
    <a:fontScheme name="Office">
      <a:majorFont>
        <a:latin typeface="Bricolage Grotesqu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uni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